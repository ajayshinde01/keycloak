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0058400" cy="77724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3" d="100"/>
          <a:sy n="73" d="100"/>
        </p:scale>
        <p:origin x="153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46709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9.png"/><Relationship Id="rId4" Type="http://schemas.openxmlformats.org/officeDocument/2006/relationships/image" Target="../media/image7.png"/><Relationship Id="rId9" Type="http://schemas.openxmlformats.org/officeDocument/2006/relationships/image" Target="../media/image20.png"/></Relationships>
</file>

<file path=ppt/slides/_rels/slide7.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png"/><Relationship Id="rId17" Type="http://schemas.openxmlformats.org/officeDocument/2006/relationships/image" Target="../media/image34.png"/><Relationship Id="rId2" Type="http://schemas.openxmlformats.org/officeDocument/2006/relationships/notesSlide" Target="../notesSlides/notesSlide7.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5" Type="http://schemas.openxmlformats.org/officeDocument/2006/relationships/image" Target="../media/image3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 Id="rId14" Type="http://schemas.openxmlformats.org/officeDocument/2006/relationships/image" Target="../media/image32.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14.png"/><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058400" cy="3456432"/>
          </a:xfrm>
          <a:prstGeom prst="rect">
            <a:avLst/>
          </a:prstGeom>
          <a:solidFill>
            <a:srgbClr val="0078D4"/>
          </a:solidFill>
          <a:ln/>
        </p:spPr>
      </p:sp>
      <p:sp>
        <p:nvSpPr>
          <p:cNvPr id="3" name="Text 1"/>
          <p:cNvSpPr txBox="1"/>
          <p:nvPr/>
        </p:nvSpPr>
        <p:spPr>
          <a:xfrm>
            <a:off x="320040" y="329184"/>
            <a:ext cx="5029200" cy="228600"/>
          </a:xfrm>
          <a:prstGeom prst="rect">
            <a:avLst/>
          </a:prstGeom>
          <a:noFill/>
          <a:ln/>
        </p:spPr>
        <p:txBody>
          <a:bodyPr wrap="square" lIns="0" tIns="0" rIns="0" bIns="0" rtlCol="0" anchor="t"/>
          <a:lstStyle/>
          <a:p>
            <a:pPr marL="0" indent="0">
              <a:buNone/>
            </a:pPr>
            <a:r>
              <a:rPr lang="en-US" sz="1000" kern="0" spc="100" dirty="0">
                <a:solidFill>
                  <a:srgbClr val="FFFFFF"/>
                </a:solidFill>
                <a:latin typeface="Segoe UI Semibold" pitchFamily="34" charset="0"/>
                <a:ea typeface="Segoe UI Semibold" pitchFamily="34" charset="-122"/>
                <a:cs typeface="Segoe UI Semibold" pitchFamily="34" charset="-120"/>
              </a:rPr>
              <a:t>IAM</a:t>
            </a:r>
            <a:endParaRPr lang="en-US" sz="1000" dirty="0"/>
          </a:p>
        </p:txBody>
      </p:sp>
      <p:sp>
        <p:nvSpPr>
          <p:cNvPr id="4" name="Text 2"/>
          <p:cNvSpPr txBox="1"/>
          <p:nvPr/>
        </p:nvSpPr>
        <p:spPr>
          <a:xfrm>
            <a:off x="320040" y="749808"/>
            <a:ext cx="5669280" cy="1371600"/>
          </a:xfrm>
          <a:prstGeom prst="rect">
            <a:avLst/>
          </a:prstGeom>
          <a:noFill/>
          <a:ln/>
        </p:spPr>
        <p:txBody>
          <a:bodyPr wrap="square" lIns="0" tIns="0" rIns="0" bIns="0" rtlCol="0" anchor="t"/>
          <a:lstStyle/>
          <a:p>
            <a:pPr marL="0" indent="0">
              <a:lnSpc>
                <a:spcPct val="90000"/>
              </a:lnSpc>
              <a:buNone/>
            </a:pPr>
            <a:r>
              <a:rPr lang="en-US" sz="4800" kern="0" spc="-80" dirty="0">
                <a:solidFill>
                  <a:srgbClr val="FFFFFF"/>
                </a:solidFill>
                <a:latin typeface="Segoe UI Semibold" pitchFamily="34" charset="0"/>
                <a:ea typeface="Segoe UI Semibold" pitchFamily="34" charset="-122"/>
                <a:cs typeface="Segoe UI Semibold" pitchFamily="34" charset="-120"/>
              </a:rPr>
              <a:t>Why IAM Matters</a:t>
            </a:r>
            <a:endParaRPr lang="en-US" sz="4800" dirty="0"/>
          </a:p>
          <a:p>
            <a:pPr marL="0" indent="0">
              <a:lnSpc>
                <a:spcPct val="90000"/>
              </a:lnSpc>
              <a:buNone/>
            </a:pPr>
            <a:r>
              <a:rPr lang="en-US" sz="4800" kern="0" spc="-80" dirty="0">
                <a:solidFill>
                  <a:srgbClr val="FFFFFF"/>
                </a:solidFill>
                <a:latin typeface="Segoe UI Semibold" pitchFamily="34" charset="0"/>
                <a:ea typeface="Segoe UI Semibold" pitchFamily="34" charset="-122"/>
                <a:cs typeface="Segoe UI Semibold" pitchFamily="34" charset="-120"/>
              </a:rPr>
              <a:t>in Modern Apps</a:t>
            </a:r>
            <a:endParaRPr lang="en-US" sz="4800" dirty="0"/>
          </a:p>
        </p:txBody>
      </p:sp>
      <p:sp>
        <p:nvSpPr>
          <p:cNvPr id="5" name="Text 3"/>
          <p:cNvSpPr txBox="1"/>
          <p:nvPr/>
        </p:nvSpPr>
        <p:spPr>
          <a:xfrm>
            <a:off x="320040" y="2212848"/>
            <a:ext cx="6318504" cy="914400"/>
          </a:xfrm>
          <a:prstGeom prst="rect">
            <a:avLst/>
          </a:prstGeom>
          <a:noFill/>
          <a:ln/>
        </p:spPr>
        <p:txBody>
          <a:bodyPr wrap="square" lIns="0" tIns="0" rIns="0" bIns="0" rtlCol="0" anchor="t"/>
          <a:lstStyle/>
          <a:p>
            <a:pPr marL="0" indent="0">
              <a:lnSpc>
                <a:spcPts val="2000"/>
              </a:lnSpc>
              <a:buNone/>
            </a:pPr>
            <a:r>
              <a:rPr lang="en-US" sz="1400" dirty="0">
                <a:solidFill>
                  <a:srgbClr val="FFFFFF"/>
                </a:solidFill>
                <a:latin typeface="Segoe UI" pitchFamily="34" charset="0"/>
                <a:ea typeface="Segoe UI" pitchFamily="34" charset="-122"/>
                <a:cs typeface="Segoe UI" pitchFamily="34" charset="-120"/>
              </a:rPr>
              <a:t>Every app has to answer two questions: who are you, and what are you allowed to do? IAM answers them once, for every app. Here is what it is, the problem it solves and the features it gives you.</a:t>
            </a:r>
            <a:endParaRPr lang="en-US" sz="1400" dirty="0"/>
          </a:p>
        </p:txBody>
      </p:sp>
      <p:sp>
        <p:nvSpPr>
          <p:cNvPr id="6" name="Shape 4"/>
          <p:cNvSpPr/>
          <p:nvPr/>
        </p:nvSpPr>
        <p:spPr>
          <a:xfrm>
            <a:off x="6949440" y="411480"/>
            <a:ext cx="2651760" cy="2651760"/>
          </a:xfrm>
          <a:prstGeom prst="ellipse">
            <a:avLst/>
          </a:prstGeom>
          <a:ln w="38100">
            <a:solidFill>
              <a:srgbClr val="FFFFFF"/>
            </a:solidFill>
            <a:prstDash val="solid"/>
          </a:ln>
        </p:spPr>
      </p:sp>
      <p:sp>
        <p:nvSpPr>
          <p:cNvPr id="7" name="Shape 5"/>
          <p:cNvSpPr/>
          <p:nvPr/>
        </p:nvSpPr>
        <p:spPr>
          <a:xfrm>
            <a:off x="7269480" y="731520"/>
            <a:ext cx="2011680" cy="2011680"/>
          </a:xfrm>
          <a:prstGeom prst="ellipse">
            <a:avLst/>
          </a:prstGeom>
          <a:ln w="12700">
            <a:solidFill>
              <a:srgbClr val="FFFFFF"/>
            </a:solidFill>
            <a:prstDash val="dash"/>
          </a:ln>
        </p:spPr>
      </p:sp>
      <p:pic>
        <p:nvPicPr>
          <p:cNvPr id="8" name="Image 0" descr="preencoded.png"/>
          <p:cNvPicPr>
            <a:picLocks noChangeAspect="1"/>
          </p:cNvPicPr>
          <p:nvPr/>
        </p:nvPicPr>
        <p:blipFill>
          <a:blip r:embed="rId3"/>
          <a:stretch>
            <a:fillRect/>
          </a:stretch>
        </p:blipFill>
        <p:spPr>
          <a:xfrm>
            <a:off x="7589520" y="1051560"/>
            <a:ext cx="1371600" cy="1371600"/>
          </a:xfrm>
          <a:prstGeom prst="rect">
            <a:avLst/>
          </a:prstGeom>
        </p:spPr>
      </p:pic>
      <p:sp>
        <p:nvSpPr>
          <p:cNvPr id="9" name="Text 6"/>
          <p:cNvSpPr txBox="1"/>
          <p:nvPr/>
        </p:nvSpPr>
        <p:spPr>
          <a:xfrm>
            <a:off x="320040" y="3685032"/>
            <a:ext cx="5522976" cy="576072"/>
          </a:xfrm>
          <a:prstGeom prst="rect">
            <a:avLst/>
          </a:prstGeom>
          <a:noFill/>
          <a:ln/>
        </p:spPr>
        <p:txBody>
          <a:bodyPr wrap="square" lIns="0" tIns="0" rIns="0" bIns="0" rtlCol="0" anchor="ctr"/>
          <a:lstStyle/>
          <a:p>
            <a:pPr marL="0" indent="0">
              <a:buNone/>
            </a:pPr>
            <a:r>
              <a:rPr lang="en-US" sz="2400" b="1" dirty="0">
                <a:solidFill>
                  <a:srgbClr val="000000"/>
                </a:solidFill>
                <a:latin typeface="Segoe UI" pitchFamily="34" charset="0"/>
                <a:ea typeface="Segoe UI" pitchFamily="34" charset="-122"/>
                <a:cs typeface="Segoe UI" pitchFamily="34" charset="-120"/>
              </a:rPr>
              <a:t>1. What is IAM?</a:t>
            </a:r>
            <a:endParaRPr lang="en-US" sz="2400" dirty="0"/>
          </a:p>
        </p:txBody>
      </p:sp>
      <p:sp>
        <p:nvSpPr>
          <p:cNvPr id="10" name="Text 7"/>
          <p:cNvSpPr txBox="1"/>
          <p:nvPr/>
        </p:nvSpPr>
        <p:spPr>
          <a:xfrm>
            <a:off x="374904" y="4398264"/>
            <a:ext cx="777240" cy="329184"/>
          </a:xfrm>
          <a:prstGeom prst="rect">
            <a:avLst/>
          </a:prstGeom>
          <a:noFill/>
          <a:ln/>
        </p:spPr>
        <p:txBody>
          <a:bodyPr wrap="square" lIns="0" tIns="0" rIns="0" bIns="0" rtlCol="0" anchor="ctr"/>
          <a:lstStyle/>
          <a:p>
            <a:pPr marL="0" indent="0" algn="ctr">
              <a:buNone/>
            </a:pPr>
            <a:r>
              <a:rPr lang="en-US" sz="1800" dirty="0">
                <a:solidFill>
                  <a:srgbClr val="0078D4"/>
                </a:solidFill>
                <a:latin typeface="Segoe UI Semibold" pitchFamily="34" charset="0"/>
                <a:ea typeface="Segoe UI Semibold" pitchFamily="34" charset="-122"/>
                <a:cs typeface="Segoe UI Semibold" pitchFamily="34" charset="-120"/>
              </a:rPr>
              <a:t>I</a:t>
            </a:r>
            <a:endParaRPr lang="en-US" sz="1800" dirty="0"/>
          </a:p>
        </p:txBody>
      </p:sp>
      <p:sp>
        <p:nvSpPr>
          <p:cNvPr id="11" name="Shape 8"/>
          <p:cNvSpPr/>
          <p:nvPr/>
        </p:nvSpPr>
        <p:spPr>
          <a:xfrm>
            <a:off x="548640" y="4745736"/>
            <a:ext cx="411480" cy="411480"/>
          </a:xfrm>
          <a:prstGeom prst="ellipse">
            <a:avLst/>
          </a:prstGeom>
          <a:solidFill>
            <a:srgbClr val="D2D2D2"/>
          </a:solidFill>
          <a:ln/>
        </p:spPr>
      </p:sp>
      <p:pic>
        <p:nvPicPr>
          <p:cNvPr id="12" name="Image 1" descr="preencoded.png"/>
          <p:cNvPicPr>
            <a:picLocks noChangeAspect="1"/>
          </p:cNvPicPr>
          <p:nvPr/>
        </p:nvPicPr>
        <p:blipFill>
          <a:blip r:embed="rId4"/>
          <a:stretch>
            <a:fillRect/>
          </a:stretch>
        </p:blipFill>
        <p:spPr>
          <a:xfrm>
            <a:off x="641223" y="4838319"/>
            <a:ext cx="226314" cy="226314"/>
          </a:xfrm>
          <a:prstGeom prst="rect">
            <a:avLst/>
          </a:prstGeom>
        </p:spPr>
      </p:pic>
      <p:sp>
        <p:nvSpPr>
          <p:cNvPr id="13" name="Text 9"/>
          <p:cNvSpPr txBox="1"/>
          <p:nvPr/>
        </p:nvSpPr>
        <p:spPr>
          <a:xfrm>
            <a:off x="1307592" y="4544568"/>
            <a:ext cx="4297680" cy="859536"/>
          </a:xfrm>
          <a:prstGeom prst="rect">
            <a:avLst/>
          </a:prstGeom>
          <a:noFill/>
          <a:ln/>
        </p:spPr>
        <p:txBody>
          <a:bodyPr wrap="square" lIns="0" tIns="0" rIns="0" bIns="0" rtlCol="0" anchor="t"/>
          <a:lstStyle/>
          <a:p>
            <a:pPr marL="0" indent="0">
              <a:lnSpc>
                <a:spcPts val="2000"/>
              </a:lnSpc>
              <a:buNone/>
            </a:pPr>
            <a:r>
              <a:rPr lang="en-US" sz="1400" b="1" dirty="0">
                <a:solidFill>
                  <a:srgbClr val="000000"/>
                </a:solidFill>
                <a:latin typeface="Segoe UI" pitchFamily="34" charset="0"/>
                <a:ea typeface="Segoe UI" pitchFamily="34" charset="-122"/>
                <a:cs typeface="Segoe UI" pitchFamily="34" charset="-120"/>
              </a:rPr>
              <a:t>Identity:</a:t>
            </a:r>
            <a:r>
              <a:rPr lang="en-US" sz="1400" dirty="0">
                <a:solidFill>
                  <a:srgbClr val="000000"/>
                </a:solidFill>
                <a:latin typeface="Segoe UI" pitchFamily="34" charset="0"/>
                <a:ea typeface="Segoe UI" pitchFamily="34" charset="-122"/>
                <a:cs typeface="Segoe UI" pitchFamily="34" charset="-120"/>
              </a:rPr>
              <a:t> who someone is. A customer, a bank employee, or even a service like Payment.</a:t>
            </a:r>
            <a:endParaRPr lang="en-US" sz="1400" dirty="0"/>
          </a:p>
        </p:txBody>
      </p:sp>
      <p:sp>
        <p:nvSpPr>
          <p:cNvPr id="14" name="Text 10"/>
          <p:cNvSpPr txBox="1"/>
          <p:nvPr/>
        </p:nvSpPr>
        <p:spPr>
          <a:xfrm>
            <a:off x="374904" y="5358384"/>
            <a:ext cx="777240" cy="329184"/>
          </a:xfrm>
          <a:prstGeom prst="rect">
            <a:avLst/>
          </a:prstGeom>
          <a:noFill/>
          <a:ln/>
        </p:spPr>
        <p:txBody>
          <a:bodyPr wrap="square" lIns="0" tIns="0" rIns="0" bIns="0" rtlCol="0" anchor="ctr"/>
          <a:lstStyle/>
          <a:p>
            <a:pPr marL="0" indent="0" algn="ctr">
              <a:buNone/>
            </a:pPr>
            <a:r>
              <a:rPr lang="en-US" sz="1800" dirty="0">
                <a:solidFill>
                  <a:srgbClr val="0078D4"/>
                </a:solidFill>
                <a:latin typeface="Segoe UI Semibold" pitchFamily="34" charset="0"/>
                <a:ea typeface="Segoe UI Semibold" pitchFamily="34" charset="-122"/>
                <a:cs typeface="Segoe UI Semibold" pitchFamily="34" charset="-120"/>
              </a:rPr>
              <a:t>A</a:t>
            </a:r>
            <a:endParaRPr lang="en-US" sz="1800" dirty="0"/>
          </a:p>
        </p:txBody>
      </p:sp>
      <p:sp>
        <p:nvSpPr>
          <p:cNvPr id="15" name="Shape 11"/>
          <p:cNvSpPr/>
          <p:nvPr/>
        </p:nvSpPr>
        <p:spPr>
          <a:xfrm>
            <a:off x="548640" y="5705856"/>
            <a:ext cx="411480" cy="411480"/>
          </a:xfrm>
          <a:prstGeom prst="ellipse">
            <a:avLst/>
          </a:prstGeom>
          <a:solidFill>
            <a:srgbClr val="D2D2D2"/>
          </a:solidFill>
          <a:ln/>
        </p:spPr>
      </p:sp>
      <p:pic>
        <p:nvPicPr>
          <p:cNvPr id="16" name="Image 2" descr="preencoded.png"/>
          <p:cNvPicPr>
            <a:picLocks noChangeAspect="1"/>
          </p:cNvPicPr>
          <p:nvPr/>
        </p:nvPicPr>
        <p:blipFill>
          <a:blip r:embed="rId5"/>
          <a:stretch>
            <a:fillRect/>
          </a:stretch>
        </p:blipFill>
        <p:spPr>
          <a:xfrm>
            <a:off x="641223" y="5798439"/>
            <a:ext cx="226314" cy="226314"/>
          </a:xfrm>
          <a:prstGeom prst="rect">
            <a:avLst/>
          </a:prstGeom>
        </p:spPr>
      </p:pic>
      <p:sp>
        <p:nvSpPr>
          <p:cNvPr id="17" name="Text 12"/>
          <p:cNvSpPr txBox="1"/>
          <p:nvPr/>
        </p:nvSpPr>
        <p:spPr>
          <a:xfrm>
            <a:off x="1307592" y="5504688"/>
            <a:ext cx="4297680" cy="859536"/>
          </a:xfrm>
          <a:prstGeom prst="rect">
            <a:avLst/>
          </a:prstGeom>
          <a:noFill/>
          <a:ln/>
        </p:spPr>
        <p:txBody>
          <a:bodyPr wrap="square" lIns="0" tIns="0" rIns="0" bIns="0" rtlCol="0" anchor="t"/>
          <a:lstStyle/>
          <a:p>
            <a:pPr marL="0" indent="0">
              <a:lnSpc>
                <a:spcPts val="2000"/>
              </a:lnSpc>
              <a:buNone/>
            </a:pPr>
            <a:r>
              <a:rPr lang="en-US" sz="1400" b="1" dirty="0">
                <a:solidFill>
                  <a:srgbClr val="000000"/>
                </a:solidFill>
                <a:latin typeface="Segoe UI" pitchFamily="34" charset="0"/>
                <a:ea typeface="Segoe UI" pitchFamily="34" charset="-122"/>
                <a:cs typeface="Segoe UI" pitchFamily="34" charset="-120"/>
              </a:rPr>
              <a:t>Access:</a:t>
            </a:r>
            <a:r>
              <a:rPr lang="en-US" sz="1400" dirty="0">
                <a:solidFill>
                  <a:srgbClr val="000000"/>
                </a:solidFill>
                <a:latin typeface="Segoe UI" pitchFamily="34" charset="0"/>
                <a:ea typeface="Segoe UI" pitchFamily="34" charset="-122"/>
                <a:cs typeface="Segoe UI" pitchFamily="34" charset="-120"/>
              </a:rPr>
              <a:t> what that identity may do, such as view a balance or approve a payment.</a:t>
            </a:r>
            <a:endParaRPr lang="en-US" sz="1400" dirty="0"/>
          </a:p>
        </p:txBody>
      </p:sp>
      <p:sp>
        <p:nvSpPr>
          <p:cNvPr id="18" name="Text 13"/>
          <p:cNvSpPr txBox="1"/>
          <p:nvPr/>
        </p:nvSpPr>
        <p:spPr>
          <a:xfrm>
            <a:off x="374904" y="6318504"/>
            <a:ext cx="777240" cy="329184"/>
          </a:xfrm>
          <a:prstGeom prst="rect">
            <a:avLst/>
          </a:prstGeom>
          <a:noFill/>
          <a:ln/>
        </p:spPr>
        <p:txBody>
          <a:bodyPr wrap="square" lIns="0" tIns="0" rIns="0" bIns="0" rtlCol="0" anchor="ctr"/>
          <a:lstStyle/>
          <a:p>
            <a:pPr marL="0" indent="0" algn="ctr">
              <a:buNone/>
            </a:pPr>
            <a:r>
              <a:rPr lang="en-US" sz="1800" dirty="0">
                <a:solidFill>
                  <a:srgbClr val="0078D4"/>
                </a:solidFill>
                <a:latin typeface="Segoe UI Semibold" pitchFamily="34" charset="0"/>
                <a:ea typeface="Segoe UI Semibold" pitchFamily="34" charset="-122"/>
                <a:cs typeface="Segoe UI Semibold" pitchFamily="34" charset="-120"/>
              </a:rPr>
              <a:t>M</a:t>
            </a:r>
            <a:endParaRPr lang="en-US" sz="1800" dirty="0"/>
          </a:p>
        </p:txBody>
      </p:sp>
      <p:sp>
        <p:nvSpPr>
          <p:cNvPr id="19" name="Shape 14"/>
          <p:cNvSpPr/>
          <p:nvPr/>
        </p:nvSpPr>
        <p:spPr>
          <a:xfrm>
            <a:off x="548640" y="6665976"/>
            <a:ext cx="411480" cy="411480"/>
          </a:xfrm>
          <a:prstGeom prst="ellipse">
            <a:avLst/>
          </a:prstGeom>
          <a:solidFill>
            <a:srgbClr val="D2D2D2"/>
          </a:solidFill>
          <a:ln/>
        </p:spPr>
      </p:sp>
      <p:pic>
        <p:nvPicPr>
          <p:cNvPr id="20" name="Image 3" descr="preencoded.png"/>
          <p:cNvPicPr>
            <a:picLocks noChangeAspect="1"/>
          </p:cNvPicPr>
          <p:nvPr/>
        </p:nvPicPr>
        <p:blipFill>
          <a:blip r:embed="rId6"/>
          <a:stretch>
            <a:fillRect/>
          </a:stretch>
        </p:blipFill>
        <p:spPr>
          <a:xfrm>
            <a:off x="641223" y="6758559"/>
            <a:ext cx="226314" cy="226314"/>
          </a:xfrm>
          <a:prstGeom prst="rect">
            <a:avLst/>
          </a:prstGeom>
        </p:spPr>
      </p:pic>
      <p:sp>
        <p:nvSpPr>
          <p:cNvPr id="21" name="Text 15"/>
          <p:cNvSpPr txBox="1"/>
          <p:nvPr/>
        </p:nvSpPr>
        <p:spPr>
          <a:xfrm>
            <a:off x="1307592" y="6464808"/>
            <a:ext cx="4297680" cy="859536"/>
          </a:xfrm>
          <a:prstGeom prst="rect">
            <a:avLst/>
          </a:prstGeom>
          <a:noFill/>
          <a:ln/>
        </p:spPr>
        <p:txBody>
          <a:bodyPr wrap="square" lIns="0" tIns="0" rIns="0" bIns="0" rtlCol="0" anchor="t"/>
          <a:lstStyle/>
          <a:p>
            <a:pPr marL="0" indent="0">
              <a:lnSpc>
                <a:spcPts val="2000"/>
              </a:lnSpc>
              <a:buNone/>
            </a:pPr>
            <a:r>
              <a:rPr lang="en-US" sz="1400" b="1" dirty="0">
                <a:solidFill>
                  <a:srgbClr val="000000"/>
                </a:solidFill>
                <a:latin typeface="Segoe UI" pitchFamily="34" charset="0"/>
                <a:ea typeface="Segoe UI" pitchFamily="34" charset="-122"/>
                <a:cs typeface="Segoe UI" pitchFamily="34" charset="-120"/>
              </a:rPr>
              <a:t>Management:</a:t>
            </a:r>
            <a:r>
              <a:rPr lang="en-US" sz="1400" dirty="0">
                <a:solidFill>
                  <a:srgbClr val="000000"/>
                </a:solidFill>
                <a:latin typeface="Segoe UI" pitchFamily="34" charset="0"/>
                <a:ea typeface="Segoe UI" pitchFamily="34" charset="-122"/>
                <a:cs typeface="Segoe UI" pitchFamily="34" charset="-120"/>
              </a:rPr>
              <a:t> creating, changing and removing identities and access, all in one place.</a:t>
            </a:r>
            <a:endParaRPr lang="en-US" sz="1400" dirty="0"/>
          </a:p>
        </p:txBody>
      </p:sp>
      <p:sp>
        <p:nvSpPr>
          <p:cNvPr id="22" name="Shape 16"/>
          <p:cNvSpPr/>
          <p:nvPr/>
        </p:nvSpPr>
        <p:spPr>
          <a:xfrm>
            <a:off x="5824728" y="4526280"/>
            <a:ext cx="3776472" cy="2670048"/>
          </a:xfrm>
          <a:prstGeom prst="rect">
            <a:avLst/>
          </a:prstGeom>
          <a:solidFill>
            <a:srgbClr val="FFFFFF"/>
          </a:solidFill>
          <a:ln w="9525">
            <a:solidFill>
              <a:srgbClr val="E1E1E1"/>
            </a:solidFill>
            <a:prstDash val="solid"/>
          </a:ln>
          <a:effectLst>
            <a:outerShdw blurRad="50800" dist="38100" dir="2700000" algn="bl" rotWithShape="0">
              <a:srgbClr val="000000">
                <a:alpha val="40000"/>
              </a:srgbClr>
            </a:outerShdw>
          </a:effectLst>
        </p:spPr>
      </p:sp>
      <p:sp>
        <p:nvSpPr>
          <p:cNvPr id="23" name="Text 17"/>
          <p:cNvSpPr txBox="1"/>
          <p:nvPr/>
        </p:nvSpPr>
        <p:spPr>
          <a:xfrm>
            <a:off x="6053328" y="4645152"/>
            <a:ext cx="3383280" cy="292608"/>
          </a:xfrm>
          <a:prstGeom prst="rect">
            <a:avLst/>
          </a:prstGeom>
          <a:noFill/>
          <a:ln/>
        </p:spPr>
        <p:txBody>
          <a:bodyPr wrap="square" lIns="0" tIns="0" rIns="0" bIns="0" rtlCol="0" anchor="ctr"/>
          <a:lstStyle/>
          <a:p>
            <a:pPr marL="0" indent="0">
              <a:buNone/>
            </a:pPr>
            <a:r>
              <a:rPr lang="en-US" sz="1200" dirty="0">
                <a:solidFill>
                  <a:srgbClr val="5A5A5A"/>
                </a:solidFill>
                <a:latin typeface="Segoe UI Semibold" pitchFamily="34" charset="0"/>
                <a:ea typeface="Segoe UI Semibold" pitchFamily="34" charset="-122"/>
                <a:cs typeface="Segoe UI Semibold" pitchFamily="34" charset="-120"/>
              </a:rPr>
              <a:t>Three questions IAM answers</a:t>
            </a:r>
            <a:endParaRPr lang="en-US" sz="1200" dirty="0"/>
          </a:p>
        </p:txBody>
      </p:sp>
      <p:sp>
        <p:nvSpPr>
          <p:cNvPr id="24" name="Shape 18"/>
          <p:cNvSpPr/>
          <p:nvPr/>
        </p:nvSpPr>
        <p:spPr>
          <a:xfrm>
            <a:off x="6053328" y="5029200"/>
            <a:ext cx="475488" cy="475488"/>
          </a:xfrm>
          <a:prstGeom prst="ellipse">
            <a:avLst/>
          </a:prstGeom>
          <a:solidFill>
            <a:srgbClr val="D2D2D2"/>
          </a:solidFill>
          <a:ln/>
        </p:spPr>
      </p:sp>
      <p:pic>
        <p:nvPicPr>
          <p:cNvPr id="25" name="Image 4" descr="preencoded.png"/>
          <p:cNvPicPr>
            <a:picLocks noChangeAspect="1"/>
          </p:cNvPicPr>
          <p:nvPr/>
        </p:nvPicPr>
        <p:blipFill>
          <a:blip r:embed="rId7"/>
          <a:stretch>
            <a:fillRect/>
          </a:stretch>
        </p:blipFill>
        <p:spPr>
          <a:xfrm>
            <a:off x="6172200" y="5148072"/>
            <a:ext cx="237744" cy="237744"/>
          </a:xfrm>
          <a:prstGeom prst="rect">
            <a:avLst/>
          </a:prstGeom>
        </p:spPr>
      </p:pic>
      <p:sp>
        <p:nvSpPr>
          <p:cNvPr id="26" name="Text 19"/>
          <p:cNvSpPr txBox="1"/>
          <p:nvPr/>
        </p:nvSpPr>
        <p:spPr>
          <a:xfrm>
            <a:off x="6720840" y="5010912"/>
            <a:ext cx="2651760" cy="274320"/>
          </a:xfrm>
          <a:prstGeom prst="rect">
            <a:avLst/>
          </a:prstGeom>
          <a:noFill/>
          <a:ln/>
        </p:spPr>
        <p:txBody>
          <a:bodyPr wrap="square" lIns="0" tIns="0" rIns="0" bIns="0" rtlCol="0" anchor="t"/>
          <a:lstStyle/>
          <a:p>
            <a:pPr marL="0" indent="0">
              <a:buNone/>
            </a:pPr>
            <a:r>
              <a:rPr lang="en-US" sz="1400" dirty="0">
                <a:solidFill>
                  <a:srgbClr val="000000"/>
                </a:solidFill>
                <a:latin typeface="Segoe UI Semibold" pitchFamily="34" charset="0"/>
                <a:ea typeface="Segoe UI Semibold" pitchFamily="34" charset="-122"/>
                <a:cs typeface="Segoe UI Semibold" pitchFamily="34" charset="-120"/>
              </a:rPr>
              <a:t>Who are you?</a:t>
            </a:r>
            <a:endParaRPr lang="en-US" sz="1400" dirty="0"/>
          </a:p>
        </p:txBody>
      </p:sp>
      <p:sp>
        <p:nvSpPr>
          <p:cNvPr id="27" name="Text 20"/>
          <p:cNvSpPr txBox="1"/>
          <p:nvPr/>
        </p:nvSpPr>
        <p:spPr>
          <a:xfrm>
            <a:off x="6720840" y="5276088"/>
            <a:ext cx="2651760" cy="237744"/>
          </a:xfrm>
          <a:prstGeom prst="rect">
            <a:avLst/>
          </a:prstGeom>
          <a:noFill/>
          <a:ln/>
        </p:spPr>
        <p:txBody>
          <a:bodyPr wrap="square" lIns="0" tIns="0" rIns="0" bIns="0" rtlCol="0" anchor="t"/>
          <a:lstStyle/>
          <a:p>
            <a:pPr marL="0" indent="0">
              <a:buNone/>
            </a:pPr>
            <a:r>
              <a:rPr lang="en-US" sz="1100" dirty="0">
                <a:solidFill>
                  <a:srgbClr val="0078D4"/>
                </a:solidFill>
                <a:latin typeface="Segoe UI" pitchFamily="34" charset="0"/>
                <a:ea typeface="Segoe UI" pitchFamily="34" charset="-122"/>
                <a:cs typeface="Segoe UI" pitchFamily="34" charset="-120"/>
              </a:rPr>
              <a:t>Authentication</a:t>
            </a:r>
            <a:endParaRPr lang="en-US" sz="1100" dirty="0"/>
          </a:p>
        </p:txBody>
      </p:sp>
      <p:sp>
        <p:nvSpPr>
          <p:cNvPr id="28" name="Shape 21"/>
          <p:cNvSpPr/>
          <p:nvPr/>
        </p:nvSpPr>
        <p:spPr>
          <a:xfrm>
            <a:off x="6291072" y="5522976"/>
            <a:ext cx="9144" cy="201168"/>
          </a:xfrm>
          <a:prstGeom prst="line">
            <a:avLst/>
          </a:prstGeom>
          <a:noFill/>
          <a:ln w="12700">
            <a:solidFill>
              <a:srgbClr val="8A8A8A"/>
            </a:solidFill>
            <a:prstDash val="solid"/>
            <a:tailEnd type="triangle"/>
          </a:ln>
        </p:spPr>
      </p:sp>
      <p:sp>
        <p:nvSpPr>
          <p:cNvPr id="29" name="Shape 22"/>
          <p:cNvSpPr/>
          <p:nvPr/>
        </p:nvSpPr>
        <p:spPr>
          <a:xfrm>
            <a:off x="6053328" y="5742432"/>
            <a:ext cx="475488" cy="475488"/>
          </a:xfrm>
          <a:prstGeom prst="ellipse">
            <a:avLst/>
          </a:prstGeom>
          <a:solidFill>
            <a:srgbClr val="D2D2D2"/>
          </a:solidFill>
          <a:ln/>
        </p:spPr>
      </p:sp>
      <p:pic>
        <p:nvPicPr>
          <p:cNvPr id="30" name="Image 5" descr="preencoded.png"/>
          <p:cNvPicPr>
            <a:picLocks noChangeAspect="1"/>
          </p:cNvPicPr>
          <p:nvPr/>
        </p:nvPicPr>
        <p:blipFill>
          <a:blip r:embed="rId5"/>
          <a:stretch>
            <a:fillRect/>
          </a:stretch>
        </p:blipFill>
        <p:spPr>
          <a:xfrm>
            <a:off x="6172200" y="5861304"/>
            <a:ext cx="237744" cy="237744"/>
          </a:xfrm>
          <a:prstGeom prst="rect">
            <a:avLst/>
          </a:prstGeom>
        </p:spPr>
      </p:pic>
      <p:sp>
        <p:nvSpPr>
          <p:cNvPr id="31" name="Text 23"/>
          <p:cNvSpPr txBox="1"/>
          <p:nvPr/>
        </p:nvSpPr>
        <p:spPr>
          <a:xfrm>
            <a:off x="6720840" y="5724144"/>
            <a:ext cx="2651760" cy="274320"/>
          </a:xfrm>
          <a:prstGeom prst="rect">
            <a:avLst/>
          </a:prstGeom>
          <a:noFill/>
          <a:ln/>
        </p:spPr>
        <p:txBody>
          <a:bodyPr wrap="square" lIns="0" tIns="0" rIns="0" bIns="0" rtlCol="0" anchor="t"/>
          <a:lstStyle/>
          <a:p>
            <a:pPr marL="0" indent="0">
              <a:buNone/>
            </a:pPr>
            <a:r>
              <a:rPr lang="en-US" sz="1400" dirty="0">
                <a:solidFill>
                  <a:srgbClr val="000000"/>
                </a:solidFill>
                <a:latin typeface="Segoe UI Semibold" pitchFamily="34" charset="0"/>
                <a:ea typeface="Segoe UI Semibold" pitchFamily="34" charset="-122"/>
                <a:cs typeface="Segoe UI Semibold" pitchFamily="34" charset="-120"/>
              </a:rPr>
              <a:t>What can you do?</a:t>
            </a:r>
            <a:endParaRPr lang="en-US" sz="1400" dirty="0"/>
          </a:p>
        </p:txBody>
      </p:sp>
      <p:sp>
        <p:nvSpPr>
          <p:cNvPr id="32" name="Text 24"/>
          <p:cNvSpPr txBox="1"/>
          <p:nvPr/>
        </p:nvSpPr>
        <p:spPr>
          <a:xfrm>
            <a:off x="6720840" y="5989320"/>
            <a:ext cx="2651760" cy="237744"/>
          </a:xfrm>
          <a:prstGeom prst="rect">
            <a:avLst/>
          </a:prstGeom>
          <a:noFill/>
          <a:ln/>
        </p:spPr>
        <p:txBody>
          <a:bodyPr wrap="square" lIns="0" tIns="0" rIns="0" bIns="0" rtlCol="0" anchor="t"/>
          <a:lstStyle/>
          <a:p>
            <a:pPr marL="0" indent="0">
              <a:buNone/>
            </a:pPr>
            <a:r>
              <a:rPr lang="en-US" sz="1100" dirty="0">
                <a:solidFill>
                  <a:srgbClr val="0078D4"/>
                </a:solidFill>
                <a:latin typeface="Segoe UI" pitchFamily="34" charset="0"/>
                <a:ea typeface="Segoe UI" pitchFamily="34" charset="-122"/>
                <a:cs typeface="Segoe UI" pitchFamily="34" charset="-120"/>
              </a:rPr>
              <a:t>Authorization</a:t>
            </a:r>
            <a:endParaRPr lang="en-US" sz="1100" dirty="0"/>
          </a:p>
        </p:txBody>
      </p:sp>
      <p:sp>
        <p:nvSpPr>
          <p:cNvPr id="33" name="Shape 25"/>
          <p:cNvSpPr/>
          <p:nvPr/>
        </p:nvSpPr>
        <p:spPr>
          <a:xfrm>
            <a:off x="6291072" y="6236208"/>
            <a:ext cx="9144" cy="201168"/>
          </a:xfrm>
          <a:prstGeom prst="line">
            <a:avLst/>
          </a:prstGeom>
          <a:noFill/>
          <a:ln w="12700">
            <a:solidFill>
              <a:srgbClr val="8A8A8A"/>
            </a:solidFill>
            <a:prstDash val="solid"/>
            <a:tailEnd type="triangle"/>
          </a:ln>
        </p:spPr>
      </p:sp>
      <p:sp>
        <p:nvSpPr>
          <p:cNvPr id="34" name="Shape 26"/>
          <p:cNvSpPr/>
          <p:nvPr/>
        </p:nvSpPr>
        <p:spPr>
          <a:xfrm>
            <a:off x="6053328" y="6455664"/>
            <a:ext cx="475488" cy="475488"/>
          </a:xfrm>
          <a:prstGeom prst="ellipse">
            <a:avLst/>
          </a:prstGeom>
          <a:solidFill>
            <a:srgbClr val="D2D2D2"/>
          </a:solidFill>
          <a:ln/>
        </p:spPr>
      </p:sp>
      <p:pic>
        <p:nvPicPr>
          <p:cNvPr id="35" name="Image 6" descr="preencoded.png"/>
          <p:cNvPicPr>
            <a:picLocks noChangeAspect="1"/>
          </p:cNvPicPr>
          <p:nvPr/>
        </p:nvPicPr>
        <p:blipFill>
          <a:blip r:embed="rId8"/>
          <a:stretch>
            <a:fillRect/>
          </a:stretch>
        </p:blipFill>
        <p:spPr>
          <a:xfrm>
            <a:off x="6172200" y="6574536"/>
            <a:ext cx="237744" cy="237744"/>
          </a:xfrm>
          <a:prstGeom prst="rect">
            <a:avLst/>
          </a:prstGeom>
        </p:spPr>
      </p:pic>
      <p:sp>
        <p:nvSpPr>
          <p:cNvPr id="36" name="Text 27"/>
          <p:cNvSpPr txBox="1"/>
          <p:nvPr/>
        </p:nvSpPr>
        <p:spPr>
          <a:xfrm>
            <a:off x="6720840" y="6437376"/>
            <a:ext cx="2651760" cy="274320"/>
          </a:xfrm>
          <a:prstGeom prst="rect">
            <a:avLst/>
          </a:prstGeom>
          <a:noFill/>
          <a:ln/>
        </p:spPr>
        <p:txBody>
          <a:bodyPr wrap="square" lIns="0" tIns="0" rIns="0" bIns="0" rtlCol="0" anchor="t"/>
          <a:lstStyle/>
          <a:p>
            <a:pPr marL="0" indent="0">
              <a:buNone/>
            </a:pPr>
            <a:r>
              <a:rPr lang="en-US" sz="1400" dirty="0">
                <a:solidFill>
                  <a:srgbClr val="000000"/>
                </a:solidFill>
                <a:latin typeface="Segoe UI Semibold" pitchFamily="34" charset="0"/>
                <a:ea typeface="Segoe UI Semibold" pitchFamily="34" charset="-122"/>
                <a:cs typeface="Segoe UI Semibold" pitchFamily="34" charset="-120"/>
              </a:rPr>
              <a:t>Who did what, when?</a:t>
            </a:r>
            <a:endParaRPr lang="en-US" sz="1400" dirty="0"/>
          </a:p>
        </p:txBody>
      </p:sp>
      <p:sp>
        <p:nvSpPr>
          <p:cNvPr id="37" name="Text 28"/>
          <p:cNvSpPr txBox="1"/>
          <p:nvPr/>
        </p:nvSpPr>
        <p:spPr>
          <a:xfrm>
            <a:off x="6720840" y="6702552"/>
            <a:ext cx="2651760" cy="237744"/>
          </a:xfrm>
          <a:prstGeom prst="rect">
            <a:avLst/>
          </a:prstGeom>
          <a:noFill/>
          <a:ln/>
        </p:spPr>
        <p:txBody>
          <a:bodyPr wrap="square" lIns="0" tIns="0" rIns="0" bIns="0" rtlCol="0" anchor="t"/>
          <a:lstStyle/>
          <a:p>
            <a:pPr marL="0" indent="0">
              <a:buNone/>
            </a:pPr>
            <a:r>
              <a:rPr lang="en-US" sz="1100" dirty="0">
                <a:solidFill>
                  <a:srgbClr val="0078D4"/>
                </a:solidFill>
                <a:latin typeface="Segoe UI" pitchFamily="34" charset="0"/>
                <a:ea typeface="Segoe UI" pitchFamily="34" charset="-122"/>
                <a:cs typeface="Segoe UI" pitchFamily="34" charset="-120"/>
              </a:rPr>
              <a:t>Audit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74904" y="475488"/>
            <a:ext cx="9308592" cy="576072"/>
          </a:xfrm>
          <a:prstGeom prst="rect">
            <a:avLst/>
          </a:prstGeom>
          <a:noFill/>
          <a:ln/>
        </p:spPr>
        <p:txBody>
          <a:bodyPr wrap="square" lIns="0" tIns="0" rIns="0" bIns="0" rtlCol="0" anchor="ctr"/>
          <a:lstStyle/>
          <a:p>
            <a:pPr marL="0" indent="0">
              <a:buNone/>
            </a:pPr>
            <a:r>
              <a:rPr lang="en-US" sz="2400" b="1" dirty="0">
                <a:solidFill>
                  <a:srgbClr val="000000"/>
                </a:solidFill>
                <a:latin typeface="Segoe UI" pitchFamily="34" charset="0"/>
                <a:ea typeface="Segoe UI" pitchFamily="34" charset="-122"/>
                <a:cs typeface="Segoe UI" pitchFamily="34" charset="-120"/>
              </a:rPr>
              <a:t>2. The problem: too many front doors</a:t>
            </a:r>
            <a:endParaRPr lang="en-US" sz="2400" dirty="0"/>
          </a:p>
        </p:txBody>
      </p:sp>
      <p:sp>
        <p:nvSpPr>
          <p:cNvPr id="3" name="Text 1"/>
          <p:cNvSpPr txBox="1"/>
          <p:nvPr/>
        </p:nvSpPr>
        <p:spPr>
          <a:xfrm>
            <a:off x="374904" y="1234440"/>
            <a:ext cx="9308592" cy="521208"/>
          </a:xfrm>
          <a:prstGeom prst="rect">
            <a:avLst/>
          </a:prstGeom>
          <a:noFill/>
          <a:ln/>
        </p:spPr>
        <p:txBody>
          <a:bodyPr wrap="square" lIns="0" tIns="0" rIns="0" bIns="0" rtlCol="0" anchor="t"/>
          <a:lstStyle/>
          <a:p>
            <a:pPr marL="0" indent="0">
              <a:buNone/>
            </a:pPr>
            <a:r>
              <a:rPr lang="en-US" sz="1400" dirty="0">
                <a:solidFill>
                  <a:srgbClr val="000000"/>
                </a:solidFill>
                <a:latin typeface="Segoe UI" pitchFamily="34" charset="0"/>
                <a:ea typeface="Segoe UI" pitchFamily="34" charset="-122"/>
                <a:cs typeface="Segoe UI" pitchFamily="34" charset="-120"/>
              </a:rPr>
              <a:t>Without IAM, every module builds its own front door: its own login page, its own password rules and its own user table.</a:t>
            </a:r>
            <a:endParaRPr lang="en-US" sz="1400" dirty="0"/>
          </a:p>
        </p:txBody>
      </p:sp>
      <p:sp>
        <p:nvSpPr>
          <p:cNvPr id="4" name="Shape 2"/>
          <p:cNvSpPr/>
          <p:nvPr/>
        </p:nvSpPr>
        <p:spPr>
          <a:xfrm>
            <a:off x="374904" y="2011680"/>
            <a:ext cx="9308592" cy="3840480"/>
          </a:xfrm>
          <a:prstGeom prst="rect">
            <a:avLst/>
          </a:prstGeom>
          <a:solidFill>
            <a:srgbClr val="FFFFFF"/>
          </a:solidFill>
          <a:ln w="9525">
            <a:solidFill>
              <a:srgbClr val="E1E1E1"/>
            </a:solidFill>
            <a:prstDash val="solid"/>
          </a:ln>
          <a:effectLst>
            <a:outerShdw blurRad="50800" dist="38100" dir="2700000" algn="bl" rotWithShape="0">
              <a:srgbClr val="000000">
                <a:alpha val="40000"/>
              </a:srgbClr>
            </a:outerShdw>
          </a:effectLst>
        </p:spPr>
      </p:sp>
      <p:sp>
        <p:nvSpPr>
          <p:cNvPr id="5" name="Text 3"/>
          <p:cNvSpPr txBox="1"/>
          <p:nvPr/>
        </p:nvSpPr>
        <p:spPr>
          <a:xfrm>
            <a:off x="2514600" y="2148840"/>
            <a:ext cx="1828800" cy="274320"/>
          </a:xfrm>
          <a:prstGeom prst="rect">
            <a:avLst/>
          </a:prstGeom>
          <a:noFill/>
          <a:ln/>
        </p:spPr>
        <p:txBody>
          <a:bodyPr wrap="square" lIns="0" tIns="0" rIns="0" bIns="0" rtlCol="0" anchor="ctr"/>
          <a:lstStyle/>
          <a:p>
            <a:pPr marL="0" indent="0">
              <a:buNone/>
            </a:pPr>
            <a:r>
              <a:rPr lang="en-US" sz="1100" dirty="0">
                <a:solidFill>
                  <a:srgbClr val="5A5A5A"/>
                </a:solidFill>
                <a:latin typeface="Segoe UI Semibold" pitchFamily="34" charset="0"/>
                <a:ea typeface="Segoe UI Semibold" pitchFamily="34" charset="-122"/>
                <a:cs typeface="Segoe UI Semibold" pitchFamily="34" charset="-120"/>
              </a:rPr>
              <a:t>Own login page</a:t>
            </a:r>
            <a:endParaRPr lang="en-US" sz="1100" dirty="0"/>
          </a:p>
        </p:txBody>
      </p:sp>
      <p:sp>
        <p:nvSpPr>
          <p:cNvPr id="6" name="Text 4"/>
          <p:cNvSpPr txBox="1"/>
          <p:nvPr/>
        </p:nvSpPr>
        <p:spPr>
          <a:xfrm>
            <a:off x="4892040" y="2148840"/>
            <a:ext cx="1737360" cy="274320"/>
          </a:xfrm>
          <a:prstGeom prst="rect">
            <a:avLst/>
          </a:prstGeom>
          <a:noFill/>
          <a:ln/>
        </p:spPr>
        <p:txBody>
          <a:bodyPr wrap="square" lIns="0" tIns="0" rIns="0" bIns="0" rtlCol="0" anchor="ctr"/>
          <a:lstStyle/>
          <a:p>
            <a:pPr marL="0" indent="0">
              <a:buNone/>
            </a:pPr>
            <a:r>
              <a:rPr lang="en-US" sz="1100" dirty="0">
                <a:solidFill>
                  <a:srgbClr val="5A5A5A"/>
                </a:solidFill>
                <a:latin typeface="Segoe UI Semibold" pitchFamily="34" charset="0"/>
                <a:ea typeface="Segoe UI Semibold" pitchFamily="34" charset="-122"/>
                <a:cs typeface="Segoe UI Semibold" pitchFamily="34" charset="-120"/>
              </a:rPr>
              <a:t>Own password rules</a:t>
            </a:r>
            <a:endParaRPr lang="en-US" sz="1100" dirty="0"/>
          </a:p>
        </p:txBody>
      </p:sp>
      <p:sp>
        <p:nvSpPr>
          <p:cNvPr id="7" name="Text 5"/>
          <p:cNvSpPr txBox="1"/>
          <p:nvPr/>
        </p:nvSpPr>
        <p:spPr>
          <a:xfrm>
            <a:off x="7086600" y="2148840"/>
            <a:ext cx="1737360" cy="274320"/>
          </a:xfrm>
          <a:prstGeom prst="rect">
            <a:avLst/>
          </a:prstGeom>
          <a:noFill/>
          <a:ln/>
        </p:spPr>
        <p:txBody>
          <a:bodyPr wrap="square" lIns="0" tIns="0" rIns="0" bIns="0" rtlCol="0" anchor="ctr"/>
          <a:lstStyle/>
          <a:p>
            <a:pPr marL="0" indent="0">
              <a:buNone/>
            </a:pPr>
            <a:r>
              <a:rPr lang="en-US" sz="1100" dirty="0">
                <a:solidFill>
                  <a:srgbClr val="5A5A5A"/>
                </a:solidFill>
                <a:latin typeface="Segoe UI Semibold" pitchFamily="34" charset="0"/>
                <a:ea typeface="Segoe UI Semibold" pitchFamily="34" charset="-122"/>
                <a:cs typeface="Segoe UI Semibold" pitchFamily="34" charset="-120"/>
              </a:rPr>
              <a:t>Own user table</a:t>
            </a:r>
            <a:endParaRPr lang="en-US" sz="1100" dirty="0"/>
          </a:p>
        </p:txBody>
      </p:sp>
      <p:sp>
        <p:nvSpPr>
          <p:cNvPr id="8" name="Shape 6"/>
          <p:cNvSpPr/>
          <p:nvPr/>
        </p:nvSpPr>
        <p:spPr>
          <a:xfrm>
            <a:off x="6446520" y="2139696"/>
            <a:ext cx="292608" cy="292608"/>
          </a:xfrm>
          <a:prstGeom prst="ellipse">
            <a:avLst/>
          </a:prstGeom>
          <a:solidFill>
            <a:srgbClr val="0078D4"/>
          </a:solidFill>
          <a:ln w="19050">
            <a:solidFill>
              <a:srgbClr val="FFFFFF"/>
            </a:solidFill>
            <a:prstDash val="solid"/>
          </a:ln>
        </p:spPr>
      </p:sp>
      <p:sp>
        <p:nvSpPr>
          <p:cNvPr id="9" name="Text 7"/>
          <p:cNvSpPr txBox="1"/>
          <p:nvPr/>
        </p:nvSpPr>
        <p:spPr>
          <a:xfrm>
            <a:off x="6446520" y="2139696"/>
            <a:ext cx="292608" cy="292608"/>
          </a:xfrm>
          <a:prstGeom prst="rect">
            <a:avLst/>
          </a:prstGeom>
          <a:noFill/>
          <a:ln/>
        </p:spPr>
        <p:txBody>
          <a:bodyPr wrap="square" lIns="0" tIns="0" rIns="0" bIns="0" rtlCol="0" anchor="ctr"/>
          <a:lstStyle/>
          <a:p>
            <a:pPr marL="0" indent="0" algn="ctr">
              <a:buNone/>
            </a:pPr>
            <a:r>
              <a:rPr lang="en-US" sz="1100" dirty="0">
                <a:solidFill>
                  <a:srgbClr val="FFFFFF"/>
                </a:solidFill>
                <a:latin typeface="Segoe UI Semibold" pitchFamily="34" charset="0"/>
                <a:ea typeface="Segoe UI Semibold" pitchFamily="34" charset="-122"/>
                <a:cs typeface="Segoe UI Semibold" pitchFamily="34" charset="-120"/>
              </a:rPr>
              <a:t>2</a:t>
            </a:r>
            <a:endParaRPr lang="en-US" sz="1100" dirty="0"/>
          </a:p>
        </p:txBody>
      </p:sp>
      <p:sp>
        <p:nvSpPr>
          <p:cNvPr id="10" name="Shape 8"/>
          <p:cNvSpPr/>
          <p:nvPr/>
        </p:nvSpPr>
        <p:spPr>
          <a:xfrm>
            <a:off x="8412480" y="2139696"/>
            <a:ext cx="292608" cy="292608"/>
          </a:xfrm>
          <a:prstGeom prst="ellipse">
            <a:avLst/>
          </a:prstGeom>
          <a:solidFill>
            <a:srgbClr val="0078D4"/>
          </a:solidFill>
          <a:ln w="19050">
            <a:solidFill>
              <a:srgbClr val="FFFFFF"/>
            </a:solidFill>
            <a:prstDash val="solid"/>
          </a:ln>
        </p:spPr>
      </p:sp>
      <p:sp>
        <p:nvSpPr>
          <p:cNvPr id="11" name="Text 9"/>
          <p:cNvSpPr txBox="1"/>
          <p:nvPr/>
        </p:nvSpPr>
        <p:spPr>
          <a:xfrm>
            <a:off x="8412480" y="2139696"/>
            <a:ext cx="292608" cy="292608"/>
          </a:xfrm>
          <a:prstGeom prst="rect">
            <a:avLst/>
          </a:prstGeom>
          <a:noFill/>
          <a:ln/>
        </p:spPr>
        <p:txBody>
          <a:bodyPr wrap="square" lIns="0" tIns="0" rIns="0" bIns="0" rtlCol="0" anchor="ctr"/>
          <a:lstStyle/>
          <a:p>
            <a:pPr marL="0" indent="0" algn="ctr">
              <a:buNone/>
            </a:pPr>
            <a:r>
              <a:rPr lang="en-US" sz="1100" dirty="0">
                <a:solidFill>
                  <a:srgbClr val="FFFFFF"/>
                </a:solidFill>
                <a:latin typeface="Segoe UI Semibold" pitchFamily="34" charset="0"/>
                <a:ea typeface="Segoe UI Semibold" pitchFamily="34" charset="-122"/>
                <a:cs typeface="Segoe UI Semibold" pitchFamily="34" charset="-120"/>
              </a:rPr>
              <a:t>3</a:t>
            </a:r>
            <a:endParaRPr lang="en-US" sz="1100" dirty="0"/>
          </a:p>
        </p:txBody>
      </p:sp>
      <p:sp>
        <p:nvSpPr>
          <p:cNvPr id="12" name="Shape 10"/>
          <p:cNvSpPr/>
          <p:nvPr/>
        </p:nvSpPr>
        <p:spPr>
          <a:xfrm>
            <a:off x="777240" y="3520440"/>
            <a:ext cx="822960" cy="822960"/>
          </a:xfrm>
          <a:prstGeom prst="ellipse">
            <a:avLst/>
          </a:prstGeom>
          <a:solidFill>
            <a:srgbClr val="D2D2D2"/>
          </a:solidFill>
          <a:ln/>
        </p:spPr>
      </p:sp>
      <p:pic>
        <p:nvPicPr>
          <p:cNvPr id="13" name="Image 0" descr="preencoded.png"/>
          <p:cNvPicPr>
            <a:picLocks noChangeAspect="1"/>
          </p:cNvPicPr>
          <p:nvPr/>
        </p:nvPicPr>
        <p:blipFill>
          <a:blip r:embed="rId3"/>
          <a:stretch>
            <a:fillRect/>
          </a:stretch>
        </p:blipFill>
        <p:spPr>
          <a:xfrm>
            <a:off x="982980" y="3726180"/>
            <a:ext cx="411480" cy="411480"/>
          </a:xfrm>
          <a:prstGeom prst="rect">
            <a:avLst/>
          </a:prstGeom>
        </p:spPr>
      </p:pic>
      <p:sp>
        <p:nvSpPr>
          <p:cNvPr id="14" name="Shape 11"/>
          <p:cNvSpPr/>
          <p:nvPr/>
        </p:nvSpPr>
        <p:spPr>
          <a:xfrm>
            <a:off x="1417320" y="3401568"/>
            <a:ext cx="292608" cy="292608"/>
          </a:xfrm>
          <a:prstGeom prst="ellipse">
            <a:avLst/>
          </a:prstGeom>
          <a:solidFill>
            <a:srgbClr val="0078D4"/>
          </a:solidFill>
          <a:ln w="19050">
            <a:solidFill>
              <a:srgbClr val="FFFFFF"/>
            </a:solidFill>
            <a:prstDash val="solid"/>
          </a:ln>
        </p:spPr>
      </p:sp>
      <p:sp>
        <p:nvSpPr>
          <p:cNvPr id="15" name="Text 12"/>
          <p:cNvSpPr txBox="1"/>
          <p:nvPr/>
        </p:nvSpPr>
        <p:spPr>
          <a:xfrm>
            <a:off x="1417320" y="3401568"/>
            <a:ext cx="292608" cy="292608"/>
          </a:xfrm>
          <a:prstGeom prst="rect">
            <a:avLst/>
          </a:prstGeom>
          <a:noFill/>
          <a:ln/>
        </p:spPr>
        <p:txBody>
          <a:bodyPr wrap="square" lIns="0" tIns="0" rIns="0" bIns="0" rtlCol="0" anchor="ctr"/>
          <a:lstStyle/>
          <a:p>
            <a:pPr marL="0" indent="0" algn="ctr">
              <a:buNone/>
            </a:pPr>
            <a:r>
              <a:rPr lang="en-US" sz="1100" dirty="0">
                <a:solidFill>
                  <a:srgbClr val="FFFFFF"/>
                </a:solidFill>
                <a:latin typeface="Segoe UI Semibold" pitchFamily="34" charset="0"/>
                <a:ea typeface="Segoe UI Semibold" pitchFamily="34" charset="-122"/>
                <a:cs typeface="Segoe UI Semibold" pitchFamily="34" charset="-120"/>
              </a:rPr>
              <a:t>1</a:t>
            </a:r>
            <a:endParaRPr lang="en-US" sz="1100" dirty="0"/>
          </a:p>
        </p:txBody>
      </p:sp>
      <p:sp>
        <p:nvSpPr>
          <p:cNvPr id="16" name="Text 13"/>
          <p:cNvSpPr txBox="1"/>
          <p:nvPr/>
        </p:nvSpPr>
        <p:spPr>
          <a:xfrm>
            <a:off x="502920" y="4407408"/>
            <a:ext cx="1371600" cy="274320"/>
          </a:xfrm>
          <a:prstGeom prst="rect">
            <a:avLst/>
          </a:prstGeom>
          <a:noFill/>
          <a:ln/>
        </p:spPr>
        <p:txBody>
          <a:bodyPr wrap="square" lIns="0" tIns="0" rIns="0" bIns="0" rtlCol="0" anchor="t"/>
          <a:lstStyle/>
          <a:p>
            <a:pPr marL="0" indent="0" algn="ctr">
              <a:buNone/>
            </a:pPr>
            <a:r>
              <a:rPr lang="en-US" sz="1200" dirty="0">
                <a:solidFill>
                  <a:srgbClr val="000000"/>
                </a:solidFill>
                <a:latin typeface="Segoe UI Semibold" pitchFamily="34" charset="0"/>
                <a:ea typeface="Segoe UI Semibold" pitchFamily="34" charset="-122"/>
                <a:cs typeface="Segoe UI Semibold" pitchFamily="34" charset="-120"/>
              </a:rPr>
              <a:t>Customer</a:t>
            </a:r>
            <a:endParaRPr lang="en-US" sz="1200" dirty="0"/>
          </a:p>
        </p:txBody>
      </p:sp>
      <p:sp>
        <p:nvSpPr>
          <p:cNvPr id="17" name="Text 14"/>
          <p:cNvSpPr txBox="1"/>
          <p:nvPr/>
        </p:nvSpPr>
        <p:spPr>
          <a:xfrm>
            <a:off x="502920" y="4681728"/>
            <a:ext cx="1371600" cy="457200"/>
          </a:xfrm>
          <a:prstGeom prst="rect">
            <a:avLst/>
          </a:prstGeom>
          <a:noFill/>
          <a:ln/>
        </p:spPr>
        <p:txBody>
          <a:bodyPr wrap="square" lIns="0" tIns="0" rIns="0" bIns="0" rtlCol="0" anchor="t"/>
          <a:lstStyle/>
          <a:p>
            <a:pPr marL="0" indent="0" algn="ctr">
              <a:buNone/>
            </a:pPr>
            <a:r>
              <a:rPr lang="en-US" sz="1000" dirty="0">
                <a:solidFill>
                  <a:srgbClr val="5A5A5A"/>
                </a:solidFill>
                <a:latin typeface="Segoe UI" pitchFamily="34" charset="0"/>
                <a:ea typeface="Segoe UI" pitchFamily="34" charset="-122"/>
                <a:cs typeface="Segoe UI" pitchFamily="34" charset="-120"/>
              </a:rPr>
              <a:t>4 usernames</a:t>
            </a:r>
            <a:endParaRPr lang="en-US" sz="1000" dirty="0"/>
          </a:p>
          <a:p>
            <a:pPr marL="0" indent="0" algn="ctr">
              <a:buNone/>
            </a:pPr>
            <a:r>
              <a:rPr lang="en-US" sz="1000" dirty="0">
                <a:solidFill>
                  <a:srgbClr val="5A5A5A"/>
                </a:solidFill>
                <a:latin typeface="Segoe UI" pitchFamily="34" charset="0"/>
                <a:ea typeface="Segoe UI" pitchFamily="34" charset="-122"/>
                <a:cs typeface="Segoe UI" pitchFamily="34" charset="-120"/>
              </a:rPr>
              <a:t>4 passwords</a:t>
            </a:r>
            <a:endParaRPr lang="en-US" sz="1000" dirty="0"/>
          </a:p>
        </p:txBody>
      </p:sp>
      <p:sp>
        <p:nvSpPr>
          <p:cNvPr id="18" name="Shape 15"/>
          <p:cNvSpPr/>
          <p:nvPr/>
        </p:nvSpPr>
        <p:spPr>
          <a:xfrm flipV="1">
            <a:off x="1645920" y="2880360"/>
            <a:ext cx="822960" cy="1051560"/>
          </a:xfrm>
          <a:prstGeom prst="line">
            <a:avLst/>
          </a:prstGeom>
          <a:noFill/>
          <a:ln w="12700">
            <a:solidFill>
              <a:srgbClr val="8A8A8A"/>
            </a:solidFill>
            <a:prstDash val="solid"/>
            <a:tailEnd type="triangle"/>
          </a:ln>
        </p:spPr>
      </p:sp>
      <p:sp>
        <p:nvSpPr>
          <p:cNvPr id="19" name="Shape 16"/>
          <p:cNvSpPr/>
          <p:nvPr/>
        </p:nvSpPr>
        <p:spPr>
          <a:xfrm>
            <a:off x="2514600" y="2560320"/>
            <a:ext cx="2103120" cy="640080"/>
          </a:xfrm>
          <a:prstGeom prst="rect">
            <a:avLst/>
          </a:prstGeom>
          <a:solidFill>
            <a:srgbClr val="F3F3F3"/>
          </a:solidFill>
          <a:ln/>
        </p:spPr>
      </p:sp>
      <p:pic>
        <p:nvPicPr>
          <p:cNvPr id="20" name="Image 1" descr="preencoded.png"/>
          <p:cNvPicPr>
            <a:picLocks noChangeAspect="1"/>
          </p:cNvPicPr>
          <p:nvPr/>
        </p:nvPicPr>
        <p:blipFill>
          <a:blip r:embed="rId4"/>
          <a:stretch>
            <a:fillRect/>
          </a:stretch>
        </p:blipFill>
        <p:spPr>
          <a:xfrm>
            <a:off x="2633472" y="2734056"/>
            <a:ext cx="292608" cy="292608"/>
          </a:xfrm>
          <a:prstGeom prst="rect">
            <a:avLst/>
          </a:prstGeom>
        </p:spPr>
      </p:pic>
      <p:sp>
        <p:nvSpPr>
          <p:cNvPr id="21" name="Text 17"/>
          <p:cNvSpPr txBox="1"/>
          <p:nvPr/>
        </p:nvSpPr>
        <p:spPr>
          <a:xfrm>
            <a:off x="3017520" y="2633472"/>
            <a:ext cx="1600200" cy="274320"/>
          </a:xfrm>
          <a:prstGeom prst="rect">
            <a:avLst/>
          </a:prstGeom>
          <a:noFill/>
          <a:ln/>
        </p:spPr>
        <p:txBody>
          <a:bodyPr wrap="square" lIns="0" tIns="0" rIns="0" bIns="0" rtlCol="0" anchor="ctr"/>
          <a:lstStyle/>
          <a:p>
            <a:pPr marL="0" indent="0">
              <a:buNone/>
            </a:pPr>
            <a:r>
              <a:rPr lang="en-US" sz="1100" dirty="0">
                <a:solidFill>
                  <a:srgbClr val="000000"/>
                </a:solidFill>
                <a:latin typeface="Segoe UI Semibold" pitchFamily="34" charset="0"/>
                <a:ea typeface="Segoe UI Semibold" pitchFamily="34" charset="-122"/>
                <a:cs typeface="Segoe UI Semibold" pitchFamily="34" charset="-120"/>
              </a:rPr>
              <a:t>Account Module</a:t>
            </a:r>
            <a:endParaRPr lang="en-US" sz="1100" dirty="0"/>
          </a:p>
        </p:txBody>
      </p:sp>
      <p:sp>
        <p:nvSpPr>
          <p:cNvPr id="22" name="Shape 18"/>
          <p:cNvSpPr/>
          <p:nvPr/>
        </p:nvSpPr>
        <p:spPr>
          <a:xfrm>
            <a:off x="3017520" y="2962656"/>
            <a:ext cx="1005840" cy="91440"/>
          </a:xfrm>
          <a:prstGeom prst="rect">
            <a:avLst/>
          </a:prstGeom>
          <a:solidFill>
            <a:srgbClr val="D2D2D2"/>
          </a:solidFill>
          <a:ln/>
        </p:spPr>
      </p:sp>
      <p:sp>
        <p:nvSpPr>
          <p:cNvPr id="23" name="Shape 19"/>
          <p:cNvSpPr/>
          <p:nvPr/>
        </p:nvSpPr>
        <p:spPr>
          <a:xfrm>
            <a:off x="4617720" y="2880360"/>
            <a:ext cx="274320" cy="0"/>
          </a:xfrm>
          <a:prstGeom prst="line">
            <a:avLst/>
          </a:prstGeom>
          <a:noFill/>
          <a:ln w="12700">
            <a:solidFill>
              <a:srgbClr val="8A8A8A"/>
            </a:solidFill>
            <a:prstDash val="solid"/>
          </a:ln>
        </p:spPr>
      </p:sp>
      <p:sp>
        <p:nvSpPr>
          <p:cNvPr id="24" name="Shape 20"/>
          <p:cNvSpPr/>
          <p:nvPr/>
        </p:nvSpPr>
        <p:spPr>
          <a:xfrm>
            <a:off x="4892040" y="2560320"/>
            <a:ext cx="1920240" cy="640080"/>
          </a:xfrm>
          <a:prstGeom prst="rect">
            <a:avLst/>
          </a:prstGeom>
          <a:solidFill>
            <a:srgbClr val="FFFFFF"/>
          </a:solidFill>
          <a:ln w="9525">
            <a:solidFill>
              <a:srgbClr val="C8C8C8"/>
            </a:solidFill>
            <a:prstDash val="solid"/>
          </a:ln>
        </p:spPr>
      </p:sp>
      <p:sp>
        <p:nvSpPr>
          <p:cNvPr id="25" name="Text 21"/>
          <p:cNvSpPr txBox="1"/>
          <p:nvPr/>
        </p:nvSpPr>
        <p:spPr>
          <a:xfrm>
            <a:off x="4983480" y="2560320"/>
            <a:ext cx="1783080" cy="640080"/>
          </a:xfrm>
          <a:prstGeom prst="rect">
            <a:avLst/>
          </a:prstGeom>
          <a:noFill/>
          <a:ln/>
        </p:spPr>
        <p:txBody>
          <a:bodyPr wrap="square" lIns="0" tIns="0" rIns="0" bIns="0" rtlCol="0" anchor="ctr"/>
          <a:lstStyle/>
          <a:p>
            <a:pPr marL="0" indent="0" algn="ctr">
              <a:buNone/>
            </a:pPr>
            <a:r>
              <a:rPr lang="en-US" sz="1100" dirty="0">
                <a:solidFill>
                  <a:srgbClr val="000000"/>
                </a:solidFill>
                <a:latin typeface="Segoe UI" pitchFamily="34" charset="0"/>
                <a:ea typeface="Segoe UI" pitchFamily="34" charset="-122"/>
                <a:cs typeface="Segoe UI" pitchFamily="34" charset="-120"/>
              </a:rPr>
              <a:t>8+ chars · no MFA</a:t>
            </a:r>
            <a:endParaRPr lang="en-US" sz="1100" dirty="0"/>
          </a:p>
        </p:txBody>
      </p:sp>
      <p:sp>
        <p:nvSpPr>
          <p:cNvPr id="26" name="Shape 22"/>
          <p:cNvSpPr/>
          <p:nvPr/>
        </p:nvSpPr>
        <p:spPr>
          <a:xfrm>
            <a:off x="6812280" y="2880360"/>
            <a:ext cx="274320" cy="0"/>
          </a:xfrm>
          <a:prstGeom prst="line">
            <a:avLst/>
          </a:prstGeom>
          <a:noFill/>
          <a:ln w="12700">
            <a:solidFill>
              <a:srgbClr val="8A8A8A"/>
            </a:solidFill>
            <a:prstDash val="solid"/>
          </a:ln>
        </p:spPr>
      </p:sp>
      <p:sp>
        <p:nvSpPr>
          <p:cNvPr id="27" name="Shape 23"/>
          <p:cNvSpPr/>
          <p:nvPr/>
        </p:nvSpPr>
        <p:spPr>
          <a:xfrm>
            <a:off x="7086600" y="2596896"/>
            <a:ext cx="457200" cy="566928"/>
          </a:xfrm>
          <a:prstGeom prst="can">
            <a:avLst/>
          </a:prstGeom>
          <a:solidFill>
            <a:srgbClr val="D2D2D2"/>
          </a:solidFill>
          <a:ln w="9525">
            <a:solidFill>
              <a:srgbClr val="A8A8A8"/>
            </a:solidFill>
            <a:prstDash val="solid"/>
          </a:ln>
        </p:spPr>
      </p:sp>
      <p:sp>
        <p:nvSpPr>
          <p:cNvPr id="28" name="Text 24"/>
          <p:cNvSpPr txBox="1"/>
          <p:nvPr/>
        </p:nvSpPr>
        <p:spPr>
          <a:xfrm>
            <a:off x="7635240" y="2560320"/>
            <a:ext cx="1417320" cy="640080"/>
          </a:xfrm>
          <a:prstGeom prst="rect">
            <a:avLst/>
          </a:prstGeom>
          <a:noFill/>
          <a:ln/>
        </p:spPr>
        <p:txBody>
          <a:bodyPr wrap="square" lIns="0" tIns="0" rIns="0" bIns="0" rtlCol="0" anchor="ctr"/>
          <a:lstStyle/>
          <a:p>
            <a:pPr marL="0" indent="0">
              <a:buNone/>
            </a:pPr>
            <a:r>
              <a:rPr lang="en-US" sz="1000" dirty="0">
                <a:solidFill>
                  <a:srgbClr val="000000"/>
                </a:solidFill>
                <a:latin typeface="Consolas" pitchFamily="34" charset="0"/>
                <a:ea typeface="Consolas" pitchFamily="34" charset="-122"/>
                <a:cs typeface="Consolas" pitchFamily="34" charset="-120"/>
              </a:rPr>
              <a:t>account_users</a:t>
            </a:r>
            <a:endParaRPr lang="en-US" sz="1000" dirty="0"/>
          </a:p>
        </p:txBody>
      </p:sp>
      <p:sp>
        <p:nvSpPr>
          <p:cNvPr id="29" name="Shape 25"/>
          <p:cNvSpPr/>
          <p:nvPr/>
        </p:nvSpPr>
        <p:spPr>
          <a:xfrm flipV="1">
            <a:off x="1645920" y="3685032"/>
            <a:ext cx="822960" cy="246888"/>
          </a:xfrm>
          <a:prstGeom prst="line">
            <a:avLst/>
          </a:prstGeom>
          <a:noFill/>
          <a:ln w="12700">
            <a:solidFill>
              <a:srgbClr val="8A8A8A"/>
            </a:solidFill>
            <a:prstDash val="solid"/>
            <a:tailEnd type="triangle"/>
          </a:ln>
        </p:spPr>
      </p:sp>
      <p:sp>
        <p:nvSpPr>
          <p:cNvPr id="30" name="Shape 26"/>
          <p:cNvSpPr/>
          <p:nvPr/>
        </p:nvSpPr>
        <p:spPr>
          <a:xfrm>
            <a:off x="2514600" y="3364992"/>
            <a:ext cx="2103120" cy="640080"/>
          </a:xfrm>
          <a:prstGeom prst="rect">
            <a:avLst/>
          </a:prstGeom>
          <a:solidFill>
            <a:srgbClr val="F3F3F3"/>
          </a:solidFill>
          <a:ln/>
        </p:spPr>
      </p:sp>
      <p:pic>
        <p:nvPicPr>
          <p:cNvPr id="31" name="Image 2" descr="preencoded.png"/>
          <p:cNvPicPr>
            <a:picLocks noChangeAspect="1"/>
          </p:cNvPicPr>
          <p:nvPr/>
        </p:nvPicPr>
        <p:blipFill>
          <a:blip r:embed="rId5"/>
          <a:stretch>
            <a:fillRect/>
          </a:stretch>
        </p:blipFill>
        <p:spPr>
          <a:xfrm>
            <a:off x="2633472" y="3538728"/>
            <a:ext cx="292608" cy="292608"/>
          </a:xfrm>
          <a:prstGeom prst="rect">
            <a:avLst/>
          </a:prstGeom>
        </p:spPr>
      </p:pic>
      <p:sp>
        <p:nvSpPr>
          <p:cNvPr id="32" name="Text 27"/>
          <p:cNvSpPr txBox="1"/>
          <p:nvPr/>
        </p:nvSpPr>
        <p:spPr>
          <a:xfrm>
            <a:off x="3017520" y="3438144"/>
            <a:ext cx="1600200" cy="274320"/>
          </a:xfrm>
          <a:prstGeom prst="rect">
            <a:avLst/>
          </a:prstGeom>
          <a:noFill/>
          <a:ln/>
        </p:spPr>
        <p:txBody>
          <a:bodyPr wrap="square" lIns="0" tIns="0" rIns="0" bIns="0" rtlCol="0" anchor="ctr"/>
          <a:lstStyle/>
          <a:p>
            <a:pPr marL="0" indent="0">
              <a:buNone/>
            </a:pPr>
            <a:r>
              <a:rPr lang="en-US" sz="1100" dirty="0">
                <a:solidFill>
                  <a:srgbClr val="000000"/>
                </a:solidFill>
                <a:latin typeface="Segoe UI Semibold" pitchFamily="34" charset="0"/>
                <a:ea typeface="Segoe UI Semibold" pitchFamily="34" charset="-122"/>
                <a:cs typeface="Segoe UI Semibold" pitchFamily="34" charset="-120"/>
              </a:rPr>
              <a:t>Payment Module</a:t>
            </a:r>
            <a:endParaRPr lang="en-US" sz="1100" dirty="0"/>
          </a:p>
        </p:txBody>
      </p:sp>
      <p:sp>
        <p:nvSpPr>
          <p:cNvPr id="33" name="Shape 28"/>
          <p:cNvSpPr/>
          <p:nvPr/>
        </p:nvSpPr>
        <p:spPr>
          <a:xfrm>
            <a:off x="3017520" y="3767328"/>
            <a:ext cx="1005840" cy="91440"/>
          </a:xfrm>
          <a:prstGeom prst="rect">
            <a:avLst/>
          </a:prstGeom>
          <a:solidFill>
            <a:srgbClr val="D2D2D2"/>
          </a:solidFill>
          <a:ln/>
        </p:spPr>
      </p:sp>
      <p:sp>
        <p:nvSpPr>
          <p:cNvPr id="34" name="Shape 29"/>
          <p:cNvSpPr/>
          <p:nvPr/>
        </p:nvSpPr>
        <p:spPr>
          <a:xfrm>
            <a:off x="4617720" y="3685032"/>
            <a:ext cx="274320" cy="0"/>
          </a:xfrm>
          <a:prstGeom prst="line">
            <a:avLst/>
          </a:prstGeom>
          <a:noFill/>
          <a:ln w="12700">
            <a:solidFill>
              <a:srgbClr val="8A8A8A"/>
            </a:solidFill>
            <a:prstDash val="solid"/>
          </a:ln>
        </p:spPr>
      </p:sp>
      <p:sp>
        <p:nvSpPr>
          <p:cNvPr id="35" name="Shape 30"/>
          <p:cNvSpPr/>
          <p:nvPr/>
        </p:nvSpPr>
        <p:spPr>
          <a:xfrm>
            <a:off x="4892040" y="3364992"/>
            <a:ext cx="1920240" cy="640080"/>
          </a:xfrm>
          <a:prstGeom prst="rect">
            <a:avLst/>
          </a:prstGeom>
          <a:solidFill>
            <a:srgbClr val="FFFFFF"/>
          </a:solidFill>
          <a:ln w="9525">
            <a:solidFill>
              <a:srgbClr val="C8C8C8"/>
            </a:solidFill>
            <a:prstDash val="solid"/>
          </a:ln>
        </p:spPr>
      </p:sp>
      <p:sp>
        <p:nvSpPr>
          <p:cNvPr id="36" name="Text 31"/>
          <p:cNvSpPr txBox="1"/>
          <p:nvPr/>
        </p:nvSpPr>
        <p:spPr>
          <a:xfrm>
            <a:off x="4983480" y="3364992"/>
            <a:ext cx="1783080" cy="640080"/>
          </a:xfrm>
          <a:prstGeom prst="rect">
            <a:avLst/>
          </a:prstGeom>
          <a:noFill/>
          <a:ln/>
        </p:spPr>
        <p:txBody>
          <a:bodyPr wrap="square" lIns="0" tIns="0" rIns="0" bIns="0" rtlCol="0" anchor="ctr"/>
          <a:lstStyle/>
          <a:p>
            <a:pPr marL="0" indent="0" algn="ctr">
              <a:buNone/>
            </a:pPr>
            <a:r>
              <a:rPr lang="en-US" sz="1100" dirty="0">
                <a:solidFill>
                  <a:srgbClr val="000000"/>
                </a:solidFill>
                <a:latin typeface="Segoe UI" pitchFamily="34" charset="0"/>
                <a:ea typeface="Segoe UI" pitchFamily="34" charset="-122"/>
                <a:cs typeface="Segoe UI" pitchFamily="34" charset="-120"/>
              </a:rPr>
              <a:t>12+ chars · SMS OTP</a:t>
            </a:r>
            <a:endParaRPr lang="en-US" sz="1100" dirty="0"/>
          </a:p>
        </p:txBody>
      </p:sp>
      <p:sp>
        <p:nvSpPr>
          <p:cNvPr id="37" name="Shape 32"/>
          <p:cNvSpPr/>
          <p:nvPr/>
        </p:nvSpPr>
        <p:spPr>
          <a:xfrm>
            <a:off x="6812280" y="3685032"/>
            <a:ext cx="274320" cy="0"/>
          </a:xfrm>
          <a:prstGeom prst="line">
            <a:avLst/>
          </a:prstGeom>
          <a:noFill/>
          <a:ln w="12700">
            <a:solidFill>
              <a:srgbClr val="8A8A8A"/>
            </a:solidFill>
            <a:prstDash val="solid"/>
          </a:ln>
        </p:spPr>
      </p:sp>
      <p:sp>
        <p:nvSpPr>
          <p:cNvPr id="38" name="Shape 33"/>
          <p:cNvSpPr/>
          <p:nvPr/>
        </p:nvSpPr>
        <p:spPr>
          <a:xfrm>
            <a:off x="7086600" y="3401568"/>
            <a:ext cx="457200" cy="566928"/>
          </a:xfrm>
          <a:prstGeom prst="can">
            <a:avLst/>
          </a:prstGeom>
          <a:solidFill>
            <a:srgbClr val="D2D2D2"/>
          </a:solidFill>
          <a:ln w="9525">
            <a:solidFill>
              <a:srgbClr val="A8A8A8"/>
            </a:solidFill>
            <a:prstDash val="solid"/>
          </a:ln>
        </p:spPr>
      </p:sp>
      <p:sp>
        <p:nvSpPr>
          <p:cNvPr id="39" name="Text 34"/>
          <p:cNvSpPr txBox="1"/>
          <p:nvPr/>
        </p:nvSpPr>
        <p:spPr>
          <a:xfrm>
            <a:off x="7635240" y="3364992"/>
            <a:ext cx="1417320" cy="640080"/>
          </a:xfrm>
          <a:prstGeom prst="rect">
            <a:avLst/>
          </a:prstGeom>
          <a:noFill/>
          <a:ln/>
        </p:spPr>
        <p:txBody>
          <a:bodyPr wrap="square" lIns="0" tIns="0" rIns="0" bIns="0" rtlCol="0" anchor="ctr"/>
          <a:lstStyle/>
          <a:p>
            <a:pPr marL="0" indent="0">
              <a:buNone/>
            </a:pPr>
            <a:r>
              <a:rPr lang="en-US" sz="1000" dirty="0">
                <a:solidFill>
                  <a:srgbClr val="000000"/>
                </a:solidFill>
                <a:latin typeface="Consolas" pitchFamily="34" charset="0"/>
                <a:ea typeface="Consolas" pitchFamily="34" charset="-122"/>
                <a:cs typeface="Consolas" pitchFamily="34" charset="-120"/>
              </a:rPr>
              <a:t>payment_users</a:t>
            </a:r>
            <a:endParaRPr lang="en-US" sz="1000" dirty="0"/>
          </a:p>
        </p:txBody>
      </p:sp>
      <p:sp>
        <p:nvSpPr>
          <p:cNvPr id="40" name="Shape 35"/>
          <p:cNvSpPr/>
          <p:nvPr/>
        </p:nvSpPr>
        <p:spPr>
          <a:xfrm>
            <a:off x="1645920" y="3931920"/>
            <a:ext cx="822960" cy="557784"/>
          </a:xfrm>
          <a:prstGeom prst="line">
            <a:avLst/>
          </a:prstGeom>
          <a:noFill/>
          <a:ln w="12700">
            <a:solidFill>
              <a:srgbClr val="8A8A8A"/>
            </a:solidFill>
            <a:prstDash val="solid"/>
            <a:tailEnd type="triangle"/>
          </a:ln>
        </p:spPr>
      </p:sp>
      <p:sp>
        <p:nvSpPr>
          <p:cNvPr id="41" name="Shape 36"/>
          <p:cNvSpPr/>
          <p:nvPr/>
        </p:nvSpPr>
        <p:spPr>
          <a:xfrm>
            <a:off x="2514600" y="4169664"/>
            <a:ext cx="2103120" cy="640080"/>
          </a:xfrm>
          <a:prstGeom prst="rect">
            <a:avLst/>
          </a:prstGeom>
          <a:solidFill>
            <a:srgbClr val="F3F3F3"/>
          </a:solidFill>
          <a:ln/>
        </p:spPr>
      </p:sp>
      <p:pic>
        <p:nvPicPr>
          <p:cNvPr id="42" name="Image 3" descr="preencoded.png"/>
          <p:cNvPicPr>
            <a:picLocks noChangeAspect="1"/>
          </p:cNvPicPr>
          <p:nvPr/>
        </p:nvPicPr>
        <p:blipFill>
          <a:blip r:embed="rId6"/>
          <a:stretch>
            <a:fillRect/>
          </a:stretch>
        </p:blipFill>
        <p:spPr>
          <a:xfrm>
            <a:off x="2633472" y="4343400"/>
            <a:ext cx="292608" cy="292608"/>
          </a:xfrm>
          <a:prstGeom prst="rect">
            <a:avLst/>
          </a:prstGeom>
        </p:spPr>
      </p:pic>
      <p:sp>
        <p:nvSpPr>
          <p:cNvPr id="43" name="Text 37"/>
          <p:cNvSpPr txBox="1"/>
          <p:nvPr/>
        </p:nvSpPr>
        <p:spPr>
          <a:xfrm>
            <a:off x="3017520" y="4242816"/>
            <a:ext cx="1600200" cy="274320"/>
          </a:xfrm>
          <a:prstGeom prst="rect">
            <a:avLst/>
          </a:prstGeom>
          <a:noFill/>
          <a:ln/>
        </p:spPr>
        <p:txBody>
          <a:bodyPr wrap="square" lIns="0" tIns="0" rIns="0" bIns="0" rtlCol="0" anchor="ctr"/>
          <a:lstStyle/>
          <a:p>
            <a:pPr marL="0" indent="0">
              <a:buNone/>
            </a:pPr>
            <a:r>
              <a:rPr lang="en-US" sz="1100" dirty="0">
                <a:solidFill>
                  <a:srgbClr val="000000"/>
                </a:solidFill>
                <a:latin typeface="Segoe UI Semibold" pitchFamily="34" charset="0"/>
                <a:ea typeface="Segoe UI Semibold" pitchFamily="34" charset="-122"/>
                <a:cs typeface="Segoe UI Semibold" pitchFamily="34" charset="-120"/>
              </a:rPr>
              <a:t>Customer Module</a:t>
            </a:r>
            <a:endParaRPr lang="en-US" sz="1100" dirty="0"/>
          </a:p>
        </p:txBody>
      </p:sp>
      <p:sp>
        <p:nvSpPr>
          <p:cNvPr id="44" name="Shape 38"/>
          <p:cNvSpPr/>
          <p:nvPr/>
        </p:nvSpPr>
        <p:spPr>
          <a:xfrm>
            <a:off x="3017520" y="4572000"/>
            <a:ext cx="1005840" cy="91440"/>
          </a:xfrm>
          <a:prstGeom prst="rect">
            <a:avLst/>
          </a:prstGeom>
          <a:solidFill>
            <a:srgbClr val="D2D2D2"/>
          </a:solidFill>
          <a:ln/>
        </p:spPr>
      </p:sp>
      <p:sp>
        <p:nvSpPr>
          <p:cNvPr id="45" name="Shape 39"/>
          <p:cNvSpPr/>
          <p:nvPr/>
        </p:nvSpPr>
        <p:spPr>
          <a:xfrm>
            <a:off x="4617720" y="4489704"/>
            <a:ext cx="274320" cy="0"/>
          </a:xfrm>
          <a:prstGeom prst="line">
            <a:avLst/>
          </a:prstGeom>
          <a:noFill/>
          <a:ln w="12700">
            <a:solidFill>
              <a:srgbClr val="8A8A8A"/>
            </a:solidFill>
            <a:prstDash val="solid"/>
          </a:ln>
        </p:spPr>
      </p:sp>
      <p:sp>
        <p:nvSpPr>
          <p:cNvPr id="46" name="Shape 40"/>
          <p:cNvSpPr/>
          <p:nvPr/>
        </p:nvSpPr>
        <p:spPr>
          <a:xfrm>
            <a:off x="4892040" y="4169664"/>
            <a:ext cx="1920240" cy="640080"/>
          </a:xfrm>
          <a:prstGeom prst="rect">
            <a:avLst/>
          </a:prstGeom>
          <a:solidFill>
            <a:srgbClr val="FFFFFF"/>
          </a:solidFill>
          <a:ln w="9525">
            <a:solidFill>
              <a:srgbClr val="C8C8C8"/>
            </a:solidFill>
            <a:prstDash val="solid"/>
          </a:ln>
        </p:spPr>
      </p:sp>
      <p:sp>
        <p:nvSpPr>
          <p:cNvPr id="47" name="Text 41"/>
          <p:cNvSpPr txBox="1"/>
          <p:nvPr/>
        </p:nvSpPr>
        <p:spPr>
          <a:xfrm>
            <a:off x="4983480" y="4169664"/>
            <a:ext cx="1783080" cy="640080"/>
          </a:xfrm>
          <a:prstGeom prst="rect">
            <a:avLst/>
          </a:prstGeom>
          <a:noFill/>
          <a:ln/>
        </p:spPr>
        <p:txBody>
          <a:bodyPr wrap="square" lIns="0" tIns="0" rIns="0" bIns="0" rtlCol="0" anchor="ctr"/>
          <a:lstStyle/>
          <a:p>
            <a:pPr marL="0" indent="0" algn="ctr">
              <a:buNone/>
            </a:pPr>
            <a:r>
              <a:rPr lang="en-US" sz="1100" dirty="0">
                <a:solidFill>
                  <a:srgbClr val="000000"/>
                </a:solidFill>
                <a:latin typeface="Segoe UI" pitchFamily="34" charset="0"/>
                <a:ea typeface="Segoe UI" pitchFamily="34" charset="-122"/>
                <a:cs typeface="Segoe UI" pitchFamily="34" charset="-120"/>
              </a:rPr>
              <a:t>6-digit PIN</a:t>
            </a:r>
            <a:endParaRPr lang="en-US" sz="1100" dirty="0"/>
          </a:p>
        </p:txBody>
      </p:sp>
      <p:sp>
        <p:nvSpPr>
          <p:cNvPr id="48" name="Shape 42"/>
          <p:cNvSpPr/>
          <p:nvPr/>
        </p:nvSpPr>
        <p:spPr>
          <a:xfrm>
            <a:off x="6812280" y="4489704"/>
            <a:ext cx="274320" cy="0"/>
          </a:xfrm>
          <a:prstGeom prst="line">
            <a:avLst/>
          </a:prstGeom>
          <a:noFill/>
          <a:ln w="12700">
            <a:solidFill>
              <a:srgbClr val="8A8A8A"/>
            </a:solidFill>
            <a:prstDash val="solid"/>
          </a:ln>
        </p:spPr>
      </p:sp>
      <p:sp>
        <p:nvSpPr>
          <p:cNvPr id="49" name="Shape 43"/>
          <p:cNvSpPr/>
          <p:nvPr/>
        </p:nvSpPr>
        <p:spPr>
          <a:xfrm>
            <a:off x="7086600" y="4206240"/>
            <a:ext cx="457200" cy="566928"/>
          </a:xfrm>
          <a:prstGeom prst="can">
            <a:avLst/>
          </a:prstGeom>
          <a:solidFill>
            <a:srgbClr val="D2D2D2"/>
          </a:solidFill>
          <a:ln w="9525">
            <a:solidFill>
              <a:srgbClr val="A8A8A8"/>
            </a:solidFill>
            <a:prstDash val="solid"/>
          </a:ln>
        </p:spPr>
      </p:sp>
      <p:sp>
        <p:nvSpPr>
          <p:cNvPr id="50" name="Text 44"/>
          <p:cNvSpPr txBox="1"/>
          <p:nvPr/>
        </p:nvSpPr>
        <p:spPr>
          <a:xfrm>
            <a:off x="7635240" y="4169664"/>
            <a:ext cx="1417320" cy="640080"/>
          </a:xfrm>
          <a:prstGeom prst="rect">
            <a:avLst/>
          </a:prstGeom>
          <a:noFill/>
          <a:ln/>
        </p:spPr>
        <p:txBody>
          <a:bodyPr wrap="square" lIns="0" tIns="0" rIns="0" bIns="0" rtlCol="0" anchor="ctr"/>
          <a:lstStyle/>
          <a:p>
            <a:pPr marL="0" indent="0">
              <a:buNone/>
            </a:pPr>
            <a:r>
              <a:rPr lang="en-US" sz="1000" dirty="0">
                <a:solidFill>
                  <a:srgbClr val="000000"/>
                </a:solidFill>
                <a:latin typeface="Consolas" pitchFamily="34" charset="0"/>
                <a:ea typeface="Consolas" pitchFamily="34" charset="-122"/>
                <a:cs typeface="Consolas" pitchFamily="34" charset="-120"/>
              </a:rPr>
              <a:t>customers</a:t>
            </a:r>
            <a:endParaRPr lang="en-US" sz="1000" dirty="0"/>
          </a:p>
        </p:txBody>
      </p:sp>
      <p:sp>
        <p:nvSpPr>
          <p:cNvPr id="51" name="Shape 45"/>
          <p:cNvSpPr/>
          <p:nvPr/>
        </p:nvSpPr>
        <p:spPr>
          <a:xfrm>
            <a:off x="1645920" y="3931920"/>
            <a:ext cx="822960" cy="1362456"/>
          </a:xfrm>
          <a:prstGeom prst="line">
            <a:avLst/>
          </a:prstGeom>
          <a:noFill/>
          <a:ln w="12700">
            <a:solidFill>
              <a:srgbClr val="8A8A8A"/>
            </a:solidFill>
            <a:prstDash val="solid"/>
            <a:tailEnd type="triangle"/>
          </a:ln>
        </p:spPr>
      </p:sp>
      <p:sp>
        <p:nvSpPr>
          <p:cNvPr id="52" name="Shape 46"/>
          <p:cNvSpPr/>
          <p:nvPr/>
        </p:nvSpPr>
        <p:spPr>
          <a:xfrm>
            <a:off x="2514600" y="4974336"/>
            <a:ext cx="2103120" cy="640080"/>
          </a:xfrm>
          <a:prstGeom prst="rect">
            <a:avLst/>
          </a:prstGeom>
          <a:solidFill>
            <a:srgbClr val="F3F3F3"/>
          </a:solidFill>
          <a:ln/>
        </p:spPr>
      </p:sp>
      <p:pic>
        <p:nvPicPr>
          <p:cNvPr id="53" name="Image 4" descr="preencoded.png"/>
          <p:cNvPicPr>
            <a:picLocks noChangeAspect="1"/>
          </p:cNvPicPr>
          <p:nvPr/>
        </p:nvPicPr>
        <p:blipFill>
          <a:blip r:embed="rId7"/>
          <a:stretch>
            <a:fillRect/>
          </a:stretch>
        </p:blipFill>
        <p:spPr>
          <a:xfrm>
            <a:off x="2633472" y="5148072"/>
            <a:ext cx="292608" cy="292608"/>
          </a:xfrm>
          <a:prstGeom prst="rect">
            <a:avLst/>
          </a:prstGeom>
        </p:spPr>
      </p:pic>
      <p:sp>
        <p:nvSpPr>
          <p:cNvPr id="54" name="Text 47"/>
          <p:cNvSpPr txBox="1"/>
          <p:nvPr/>
        </p:nvSpPr>
        <p:spPr>
          <a:xfrm>
            <a:off x="3017520" y="5047488"/>
            <a:ext cx="1600200" cy="274320"/>
          </a:xfrm>
          <a:prstGeom prst="rect">
            <a:avLst/>
          </a:prstGeom>
          <a:noFill/>
          <a:ln/>
        </p:spPr>
        <p:txBody>
          <a:bodyPr wrap="square" lIns="0" tIns="0" rIns="0" bIns="0" rtlCol="0" anchor="ctr"/>
          <a:lstStyle/>
          <a:p>
            <a:pPr marL="0" indent="0">
              <a:buNone/>
            </a:pPr>
            <a:r>
              <a:rPr lang="en-US" sz="1100" dirty="0">
                <a:solidFill>
                  <a:srgbClr val="000000"/>
                </a:solidFill>
                <a:latin typeface="Segoe UI Semibold" pitchFamily="34" charset="0"/>
                <a:ea typeface="Segoe UI Semibold" pitchFamily="34" charset="-122"/>
                <a:cs typeface="Segoe UI Semibold" pitchFamily="34" charset="-120"/>
              </a:rPr>
              <a:t>Notification Module</a:t>
            </a:r>
            <a:endParaRPr lang="en-US" sz="1100" dirty="0"/>
          </a:p>
        </p:txBody>
      </p:sp>
      <p:sp>
        <p:nvSpPr>
          <p:cNvPr id="55" name="Shape 48"/>
          <p:cNvSpPr/>
          <p:nvPr/>
        </p:nvSpPr>
        <p:spPr>
          <a:xfrm>
            <a:off x="3017520" y="5376672"/>
            <a:ext cx="1005840" cy="91440"/>
          </a:xfrm>
          <a:prstGeom prst="rect">
            <a:avLst/>
          </a:prstGeom>
          <a:solidFill>
            <a:srgbClr val="D2D2D2"/>
          </a:solidFill>
          <a:ln/>
        </p:spPr>
      </p:sp>
      <p:sp>
        <p:nvSpPr>
          <p:cNvPr id="56" name="Shape 49"/>
          <p:cNvSpPr/>
          <p:nvPr/>
        </p:nvSpPr>
        <p:spPr>
          <a:xfrm>
            <a:off x="4617720" y="5294376"/>
            <a:ext cx="274320" cy="0"/>
          </a:xfrm>
          <a:prstGeom prst="line">
            <a:avLst/>
          </a:prstGeom>
          <a:noFill/>
          <a:ln w="12700">
            <a:solidFill>
              <a:srgbClr val="8A8A8A"/>
            </a:solidFill>
            <a:prstDash val="solid"/>
          </a:ln>
        </p:spPr>
      </p:sp>
      <p:sp>
        <p:nvSpPr>
          <p:cNvPr id="57" name="Shape 50"/>
          <p:cNvSpPr/>
          <p:nvPr/>
        </p:nvSpPr>
        <p:spPr>
          <a:xfrm>
            <a:off x="4892040" y="4974336"/>
            <a:ext cx="1920240" cy="640080"/>
          </a:xfrm>
          <a:prstGeom prst="rect">
            <a:avLst/>
          </a:prstGeom>
          <a:solidFill>
            <a:srgbClr val="FFFFFF"/>
          </a:solidFill>
          <a:ln w="19050">
            <a:solidFill>
              <a:srgbClr val="D13438"/>
            </a:solidFill>
            <a:prstDash val="solid"/>
          </a:ln>
        </p:spPr>
      </p:sp>
      <p:sp>
        <p:nvSpPr>
          <p:cNvPr id="58" name="Text 51"/>
          <p:cNvSpPr txBox="1"/>
          <p:nvPr/>
        </p:nvSpPr>
        <p:spPr>
          <a:xfrm>
            <a:off x="4983480" y="4974336"/>
            <a:ext cx="1783080" cy="640080"/>
          </a:xfrm>
          <a:prstGeom prst="rect">
            <a:avLst/>
          </a:prstGeom>
          <a:noFill/>
          <a:ln/>
        </p:spPr>
        <p:txBody>
          <a:bodyPr wrap="square" lIns="0" tIns="0" rIns="0" bIns="0" rtlCol="0" anchor="ctr"/>
          <a:lstStyle/>
          <a:p>
            <a:pPr marL="0" indent="0" algn="ctr">
              <a:buNone/>
            </a:pPr>
            <a:r>
              <a:rPr lang="en-US" sz="1100" dirty="0">
                <a:solidFill>
                  <a:srgbClr val="000000"/>
                </a:solidFill>
                <a:latin typeface="Segoe UI" pitchFamily="34" charset="0"/>
                <a:ea typeface="Segoe UI" pitchFamily="34" charset="-122"/>
                <a:cs typeface="Segoe UI" pitchFamily="34" charset="-120"/>
              </a:rPr>
              <a:t>Static API key · no expiry</a:t>
            </a:r>
            <a:endParaRPr lang="en-US" sz="1100" dirty="0"/>
          </a:p>
        </p:txBody>
      </p:sp>
      <p:sp>
        <p:nvSpPr>
          <p:cNvPr id="59" name="Shape 52"/>
          <p:cNvSpPr/>
          <p:nvPr/>
        </p:nvSpPr>
        <p:spPr>
          <a:xfrm>
            <a:off x="6812280" y="5294376"/>
            <a:ext cx="274320" cy="0"/>
          </a:xfrm>
          <a:prstGeom prst="line">
            <a:avLst/>
          </a:prstGeom>
          <a:noFill/>
          <a:ln w="12700">
            <a:solidFill>
              <a:srgbClr val="8A8A8A"/>
            </a:solidFill>
            <a:prstDash val="solid"/>
          </a:ln>
        </p:spPr>
      </p:sp>
      <p:sp>
        <p:nvSpPr>
          <p:cNvPr id="60" name="Shape 53"/>
          <p:cNvSpPr/>
          <p:nvPr/>
        </p:nvSpPr>
        <p:spPr>
          <a:xfrm>
            <a:off x="7086600" y="5010912"/>
            <a:ext cx="457200" cy="566928"/>
          </a:xfrm>
          <a:prstGeom prst="can">
            <a:avLst/>
          </a:prstGeom>
          <a:solidFill>
            <a:srgbClr val="D2D2D2"/>
          </a:solidFill>
          <a:ln w="9525">
            <a:solidFill>
              <a:srgbClr val="A8A8A8"/>
            </a:solidFill>
            <a:prstDash val="solid"/>
          </a:ln>
        </p:spPr>
      </p:sp>
      <p:sp>
        <p:nvSpPr>
          <p:cNvPr id="61" name="Text 54"/>
          <p:cNvSpPr txBox="1"/>
          <p:nvPr/>
        </p:nvSpPr>
        <p:spPr>
          <a:xfrm>
            <a:off x="7635240" y="4974336"/>
            <a:ext cx="1417320" cy="640080"/>
          </a:xfrm>
          <a:prstGeom prst="rect">
            <a:avLst/>
          </a:prstGeom>
          <a:noFill/>
          <a:ln/>
        </p:spPr>
        <p:txBody>
          <a:bodyPr wrap="square" lIns="0" tIns="0" rIns="0" bIns="0" rtlCol="0" anchor="ctr"/>
          <a:lstStyle/>
          <a:p>
            <a:pPr marL="0" indent="0">
              <a:buNone/>
            </a:pPr>
            <a:r>
              <a:rPr lang="en-US" sz="1000" dirty="0">
                <a:solidFill>
                  <a:srgbClr val="000000"/>
                </a:solidFill>
                <a:latin typeface="Consolas" pitchFamily="34" charset="0"/>
                <a:ea typeface="Consolas" pitchFamily="34" charset="-122"/>
                <a:cs typeface="Consolas" pitchFamily="34" charset="-120"/>
              </a:rPr>
              <a:t>api_keys</a:t>
            </a:r>
            <a:endParaRPr lang="en-US" sz="1000" dirty="0"/>
          </a:p>
        </p:txBody>
      </p:sp>
      <p:pic>
        <p:nvPicPr>
          <p:cNvPr id="62" name="Image 5" descr="preencoded.png"/>
          <p:cNvPicPr>
            <a:picLocks noChangeAspect="1"/>
          </p:cNvPicPr>
          <p:nvPr/>
        </p:nvPicPr>
        <p:blipFill>
          <a:blip r:embed="rId8"/>
          <a:stretch>
            <a:fillRect/>
          </a:stretch>
        </p:blipFill>
        <p:spPr>
          <a:xfrm>
            <a:off x="9098280" y="5138928"/>
            <a:ext cx="310896" cy="310896"/>
          </a:xfrm>
          <a:prstGeom prst="rect">
            <a:avLst/>
          </a:prstGeom>
        </p:spPr>
      </p:pic>
      <p:sp>
        <p:nvSpPr>
          <p:cNvPr id="63" name="Shape 55"/>
          <p:cNvSpPr/>
          <p:nvPr/>
        </p:nvSpPr>
        <p:spPr>
          <a:xfrm>
            <a:off x="9253728" y="4864608"/>
            <a:ext cx="292608" cy="292608"/>
          </a:xfrm>
          <a:prstGeom prst="ellipse">
            <a:avLst/>
          </a:prstGeom>
          <a:solidFill>
            <a:srgbClr val="0078D4"/>
          </a:solidFill>
          <a:ln w="19050">
            <a:solidFill>
              <a:srgbClr val="FFFFFF"/>
            </a:solidFill>
            <a:prstDash val="solid"/>
          </a:ln>
        </p:spPr>
      </p:sp>
      <p:sp>
        <p:nvSpPr>
          <p:cNvPr id="64" name="Text 56"/>
          <p:cNvSpPr txBox="1"/>
          <p:nvPr/>
        </p:nvSpPr>
        <p:spPr>
          <a:xfrm>
            <a:off x="9253728" y="4864608"/>
            <a:ext cx="292608" cy="292608"/>
          </a:xfrm>
          <a:prstGeom prst="rect">
            <a:avLst/>
          </a:prstGeom>
          <a:noFill/>
          <a:ln/>
        </p:spPr>
        <p:txBody>
          <a:bodyPr wrap="square" lIns="0" tIns="0" rIns="0" bIns="0" rtlCol="0" anchor="ctr"/>
          <a:lstStyle/>
          <a:p>
            <a:pPr marL="0" indent="0" algn="ctr">
              <a:buNone/>
            </a:pPr>
            <a:r>
              <a:rPr lang="en-US" sz="1100" dirty="0">
                <a:solidFill>
                  <a:srgbClr val="FFFFFF"/>
                </a:solidFill>
                <a:latin typeface="Segoe UI Semibold" pitchFamily="34" charset="0"/>
                <a:ea typeface="Segoe UI Semibold" pitchFamily="34" charset="-122"/>
                <a:cs typeface="Segoe UI Semibold" pitchFamily="34" charset="-120"/>
              </a:rPr>
              <a:t>4</a:t>
            </a:r>
            <a:endParaRPr lang="en-US" sz="1100" dirty="0"/>
          </a:p>
        </p:txBody>
      </p:sp>
      <p:sp>
        <p:nvSpPr>
          <p:cNvPr id="65" name="Shape 57"/>
          <p:cNvSpPr/>
          <p:nvPr/>
        </p:nvSpPr>
        <p:spPr>
          <a:xfrm>
            <a:off x="374904" y="6071616"/>
            <a:ext cx="292608" cy="292608"/>
          </a:xfrm>
          <a:prstGeom prst="ellipse">
            <a:avLst/>
          </a:prstGeom>
          <a:solidFill>
            <a:srgbClr val="0078D4"/>
          </a:solidFill>
          <a:ln w="19050">
            <a:solidFill>
              <a:srgbClr val="FFFFFF"/>
            </a:solidFill>
            <a:prstDash val="solid"/>
          </a:ln>
        </p:spPr>
      </p:sp>
      <p:sp>
        <p:nvSpPr>
          <p:cNvPr id="66" name="Text 58"/>
          <p:cNvSpPr txBox="1"/>
          <p:nvPr/>
        </p:nvSpPr>
        <p:spPr>
          <a:xfrm>
            <a:off x="374904" y="6071616"/>
            <a:ext cx="292608" cy="292608"/>
          </a:xfrm>
          <a:prstGeom prst="rect">
            <a:avLst/>
          </a:prstGeom>
          <a:noFill/>
          <a:ln/>
        </p:spPr>
        <p:txBody>
          <a:bodyPr wrap="square" lIns="0" tIns="0" rIns="0" bIns="0" rtlCol="0" anchor="ctr"/>
          <a:lstStyle/>
          <a:p>
            <a:pPr marL="0" indent="0" algn="ctr">
              <a:buNone/>
            </a:pPr>
            <a:r>
              <a:rPr lang="en-US" sz="1100" dirty="0">
                <a:solidFill>
                  <a:srgbClr val="FFFFFF"/>
                </a:solidFill>
                <a:latin typeface="Segoe UI Semibold" pitchFamily="34" charset="0"/>
                <a:ea typeface="Segoe UI Semibold" pitchFamily="34" charset="-122"/>
                <a:cs typeface="Segoe UI Semibold" pitchFamily="34" charset="-120"/>
              </a:rPr>
              <a:t>1</a:t>
            </a:r>
            <a:endParaRPr lang="en-US" sz="1100" dirty="0"/>
          </a:p>
        </p:txBody>
      </p:sp>
      <p:sp>
        <p:nvSpPr>
          <p:cNvPr id="67" name="Text 59"/>
          <p:cNvSpPr txBox="1"/>
          <p:nvPr/>
        </p:nvSpPr>
        <p:spPr>
          <a:xfrm>
            <a:off x="786384" y="6053328"/>
            <a:ext cx="4206240" cy="457200"/>
          </a:xfrm>
          <a:prstGeom prst="rect">
            <a:avLst/>
          </a:prstGeom>
          <a:noFill/>
          <a:ln/>
        </p:spPr>
        <p:txBody>
          <a:bodyPr wrap="square" lIns="0" tIns="0" rIns="0" bIns="0" rtlCol="0" anchor="t"/>
          <a:lstStyle/>
          <a:p>
            <a:pPr marL="0" indent="0">
              <a:buNone/>
            </a:pPr>
            <a:r>
              <a:rPr lang="en-US" sz="1400" b="1" dirty="0">
                <a:solidFill>
                  <a:srgbClr val="000000"/>
                </a:solidFill>
                <a:latin typeface="Segoe UI" pitchFamily="34" charset="0"/>
                <a:ea typeface="Segoe UI" pitchFamily="34" charset="-122"/>
                <a:cs typeface="Segoe UI" pitchFamily="34" charset="-120"/>
              </a:rPr>
              <a:t>Four logins</a:t>
            </a:r>
            <a:r>
              <a:rPr lang="en-US" sz="1400" dirty="0">
                <a:solidFill>
                  <a:srgbClr val="000000"/>
                </a:solidFill>
                <a:latin typeface="Segoe UI" pitchFamily="34" charset="0"/>
                <a:ea typeface="Segoe UI" pitchFamily="34" charset="-122"/>
                <a:cs typeface="Segoe UI" pitchFamily="34" charset="-120"/>
              </a:rPr>
              <a:t> for one customer, so passwords get reused.</a:t>
            </a:r>
            <a:endParaRPr lang="en-US" sz="1400" dirty="0"/>
          </a:p>
        </p:txBody>
      </p:sp>
      <p:sp>
        <p:nvSpPr>
          <p:cNvPr id="68" name="Shape 60"/>
          <p:cNvSpPr/>
          <p:nvPr/>
        </p:nvSpPr>
        <p:spPr>
          <a:xfrm>
            <a:off x="5129784" y="6071616"/>
            <a:ext cx="292608" cy="292608"/>
          </a:xfrm>
          <a:prstGeom prst="ellipse">
            <a:avLst/>
          </a:prstGeom>
          <a:solidFill>
            <a:srgbClr val="0078D4"/>
          </a:solidFill>
          <a:ln w="19050">
            <a:solidFill>
              <a:srgbClr val="FFFFFF"/>
            </a:solidFill>
            <a:prstDash val="solid"/>
          </a:ln>
        </p:spPr>
      </p:sp>
      <p:sp>
        <p:nvSpPr>
          <p:cNvPr id="69" name="Text 61"/>
          <p:cNvSpPr txBox="1"/>
          <p:nvPr/>
        </p:nvSpPr>
        <p:spPr>
          <a:xfrm>
            <a:off x="5129784" y="6071616"/>
            <a:ext cx="292608" cy="292608"/>
          </a:xfrm>
          <a:prstGeom prst="rect">
            <a:avLst/>
          </a:prstGeom>
          <a:noFill/>
          <a:ln/>
        </p:spPr>
        <p:txBody>
          <a:bodyPr wrap="square" lIns="0" tIns="0" rIns="0" bIns="0" rtlCol="0" anchor="ctr"/>
          <a:lstStyle/>
          <a:p>
            <a:pPr marL="0" indent="0" algn="ctr">
              <a:buNone/>
            </a:pPr>
            <a:r>
              <a:rPr lang="en-US" sz="1100" dirty="0">
                <a:solidFill>
                  <a:srgbClr val="FFFFFF"/>
                </a:solidFill>
                <a:latin typeface="Segoe UI Semibold" pitchFamily="34" charset="0"/>
                <a:ea typeface="Segoe UI Semibold" pitchFamily="34" charset="-122"/>
                <a:cs typeface="Segoe UI Semibold" pitchFamily="34" charset="-120"/>
              </a:rPr>
              <a:t>2</a:t>
            </a:r>
            <a:endParaRPr lang="en-US" sz="1100" dirty="0"/>
          </a:p>
        </p:txBody>
      </p:sp>
      <p:sp>
        <p:nvSpPr>
          <p:cNvPr id="70" name="Text 62"/>
          <p:cNvSpPr txBox="1"/>
          <p:nvPr/>
        </p:nvSpPr>
        <p:spPr>
          <a:xfrm>
            <a:off x="5541264" y="6053328"/>
            <a:ext cx="4206240" cy="457200"/>
          </a:xfrm>
          <a:prstGeom prst="rect">
            <a:avLst/>
          </a:prstGeom>
          <a:noFill/>
          <a:ln/>
        </p:spPr>
        <p:txBody>
          <a:bodyPr wrap="square" lIns="0" tIns="0" rIns="0" bIns="0" rtlCol="0" anchor="t"/>
          <a:lstStyle/>
          <a:p>
            <a:pPr marL="0" indent="0">
              <a:buNone/>
            </a:pPr>
            <a:r>
              <a:rPr lang="en-US" sz="1400" b="1" dirty="0">
                <a:solidFill>
                  <a:srgbClr val="000000"/>
                </a:solidFill>
                <a:latin typeface="Segoe UI" pitchFamily="34" charset="0"/>
                <a:ea typeface="Segoe UI" pitchFamily="34" charset="-122"/>
                <a:cs typeface="Segoe UI" pitchFamily="34" charset="-120"/>
              </a:rPr>
              <a:t>Four different rules</a:t>
            </a:r>
            <a:r>
              <a:rPr lang="en-US" sz="1400" dirty="0">
                <a:solidFill>
                  <a:srgbClr val="000000"/>
                </a:solidFill>
                <a:latin typeface="Segoe UI" pitchFamily="34" charset="0"/>
                <a:ea typeface="Segoe UI" pitchFamily="34" charset="-122"/>
                <a:cs typeface="Segoe UI" pitchFamily="34" charset="-120"/>
              </a:rPr>
              <a:t>: MFA on one door, none on the next.</a:t>
            </a:r>
            <a:endParaRPr lang="en-US" sz="1400" dirty="0"/>
          </a:p>
        </p:txBody>
      </p:sp>
      <p:sp>
        <p:nvSpPr>
          <p:cNvPr id="71" name="Shape 63"/>
          <p:cNvSpPr/>
          <p:nvPr/>
        </p:nvSpPr>
        <p:spPr>
          <a:xfrm>
            <a:off x="374904" y="6638544"/>
            <a:ext cx="292608" cy="292608"/>
          </a:xfrm>
          <a:prstGeom prst="ellipse">
            <a:avLst/>
          </a:prstGeom>
          <a:solidFill>
            <a:srgbClr val="0078D4"/>
          </a:solidFill>
          <a:ln w="19050">
            <a:solidFill>
              <a:srgbClr val="FFFFFF"/>
            </a:solidFill>
            <a:prstDash val="solid"/>
          </a:ln>
        </p:spPr>
      </p:sp>
      <p:sp>
        <p:nvSpPr>
          <p:cNvPr id="72" name="Text 64"/>
          <p:cNvSpPr txBox="1"/>
          <p:nvPr/>
        </p:nvSpPr>
        <p:spPr>
          <a:xfrm>
            <a:off x="374904" y="6638544"/>
            <a:ext cx="292608" cy="292608"/>
          </a:xfrm>
          <a:prstGeom prst="rect">
            <a:avLst/>
          </a:prstGeom>
          <a:noFill/>
          <a:ln/>
        </p:spPr>
        <p:txBody>
          <a:bodyPr wrap="square" lIns="0" tIns="0" rIns="0" bIns="0" rtlCol="0" anchor="ctr"/>
          <a:lstStyle/>
          <a:p>
            <a:pPr marL="0" indent="0" algn="ctr">
              <a:buNone/>
            </a:pPr>
            <a:r>
              <a:rPr lang="en-US" sz="1100" dirty="0">
                <a:solidFill>
                  <a:srgbClr val="FFFFFF"/>
                </a:solidFill>
                <a:latin typeface="Segoe UI Semibold" pitchFamily="34" charset="0"/>
                <a:ea typeface="Segoe UI Semibold" pitchFamily="34" charset="-122"/>
                <a:cs typeface="Segoe UI Semibold" pitchFamily="34" charset="-120"/>
              </a:rPr>
              <a:t>3</a:t>
            </a:r>
            <a:endParaRPr lang="en-US" sz="1100" dirty="0"/>
          </a:p>
        </p:txBody>
      </p:sp>
      <p:sp>
        <p:nvSpPr>
          <p:cNvPr id="73" name="Text 65"/>
          <p:cNvSpPr txBox="1"/>
          <p:nvPr/>
        </p:nvSpPr>
        <p:spPr>
          <a:xfrm>
            <a:off x="786384" y="6620256"/>
            <a:ext cx="4206240" cy="457200"/>
          </a:xfrm>
          <a:prstGeom prst="rect">
            <a:avLst/>
          </a:prstGeom>
          <a:noFill/>
          <a:ln/>
        </p:spPr>
        <p:txBody>
          <a:bodyPr wrap="square" lIns="0" tIns="0" rIns="0" bIns="0" rtlCol="0" anchor="t"/>
          <a:lstStyle/>
          <a:p>
            <a:pPr marL="0" indent="0">
              <a:buNone/>
            </a:pPr>
            <a:r>
              <a:rPr lang="en-US" sz="1400" b="1" dirty="0">
                <a:solidFill>
                  <a:srgbClr val="000000"/>
                </a:solidFill>
                <a:latin typeface="Segoe UI" pitchFamily="34" charset="0"/>
                <a:ea typeface="Segoe UI" pitchFamily="34" charset="-122"/>
                <a:cs typeface="Segoe UI" pitchFamily="34" charset="-120"/>
              </a:rPr>
              <a:t>Four user stores</a:t>
            </a:r>
            <a:r>
              <a:rPr lang="en-US" sz="1400" dirty="0">
                <a:solidFill>
                  <a:srgbClr val="000000"/>
                </a:solidFill>
                <a:latin typeface="Segoe UI" pitchFamily="34" charset="0"/>
                <a:ea typeface="Segoe UI" pitchFamily="34" charset="-122"/>
                <a:cs typeface="Segoe UI" pitchFamily="34" charset="-120"/>
              </a:rPr>
              <a:t>: every patch and every leaver handled four times.</a:t>
            </a:r>
            <a:endParaRPr lang="en-US" sz="1400" dirty="0"/>
          </a:p>
        </p:txBody>
      </p:sp>
      <p:sp>
        <p:nvSpPr>
          <p:cNvPr id="74" name="Shape 66"/>
          <p:cNvSpPr/>
          <p:nvPr/>
        </p:nvSpPr>
        <p:spPr>
          <a:xfrm>
            <a:off x="5129784" y="6638544"/>
            <a:ext cx="292608" cy="292608"/>
          </a:xfrm>
          <a:prstGeom prst="ellipse">
            <a:avLst/>
          </a:prstGeom>
          <a:solidFill>
            <a:srgbClr val="0078D4"/>
          </a:solidFill>
          <a:ln w="19050">
            <a:solidFill>
              <a:srgbClr val="FFFFFF"/>
            </a:solidFill>
            <a:prstDash val="solid"/>
          </a:ln>
        </p:spPr>
      </p:sp>
      <p:sp>
        <p:nvSpPr>
          <p:cNvPr id="75" name="Text 67"/>
          <p:cNvSpPr txBox="1"/>
          <p:nvPr/>
        </p:nvSpPr>
        <p:spPr>
          <a:xfrm>
            <a:off x="5129784" y="6638544"/>
            <a:ext cx="292608" cy="292608"/>
          </a:xfrm>
          <a:prstGeom prst="rect">
            <a:avLst/>
          </a:prstGeom>
          <a:noFill/>
          <a:ln/>
        </p:spPr>
        <p:txBody>
          <a:bodyPr wrap="square" lIns="0" tIns="0" rIns="0" bIns="0" rtlCol="0" anchor="ctr"/>
          <a:lstStyle/>
          <a:p>
            <a:pPr marL="0" indent="0" algn="ctr">
              <a:buNone/>
            </a:pPr>
            <a:r>
              <a:rPr lang="en-US" sz="1100" dirty="0">
                <a:solidFill>
                  <a:srgbClr val="FFFFFF"/>
                </a:solidFill>
                <a:latin typeface="Segoe UI Semibold" pitchFamily="34" charset="0"/>
                <a:ea typeface="Segoe UI Semibold" pitchFamily="34" charset="-122"/>
                <a:cs typeface="Segoe UI Semibold" pitchFamily="34" charset="-120"/>
              </a:rPr>
              <a:t>4</a:t>
            </a:r>
            <a:endParaRPr lang="en-US" sz="1100" dirty="0"/>
          </a:p>
        </p:txBody>
      </p:sp>
      <p:sp>
        <p:nvSpPr>
          <p:cNvPr id="76" name="Text 68"/>
          <p:cNvSpPr txBox="1"/>
          <p:nvPr/>
        </p:nvSpPr>
        <p:spPr>
          <a:xfrm>
            <a:off x="5541264" y="6620256"/>
            <a:ext cx="4206240" cy="457200"/>
          </a:xfrm>
          <a:prstGeom prst="rect">
            <a:avLst/>
          </a:prstGeom>
          <a:noFill/>
          <a:ln/>
        </p:spPr>
        <p:txBody>
          <a:bodyPr wrap="square" lIns="0" tIns="0" rIns="0" bIns="0" rtlCol="0" anchor="t"/>
          <a:lstStyle/>
          <a:p>
            <a:pPr marL="0" indent="0">
              <a:buNone/>
            </a:pPr>
            <a:r>
              <a:rPr lang="en-US" sz="1400" b="1" dirty="0">
                <a:solidFill>
                  <a:srgbClr val="000000"/>
                </a:solidFill>
                <a:latin typeface="Segoe UI" pitchFamily="34" charset="0"/>
                <a:ea typeface="Segoe UI" pitchFamily="34" charset="-122"/>
                <a:cs typeface="Segoe UI" pitchFamily="34" charset="-120"/>
              </a:rPr>
              <a:t>The weakest door</a:t>
            </a:r>
            <a:r>
              <a:rPr lang="en-US" sz="1400" dirty="0">
                <a:solidFill>
                  <a:srgbClr val="000000"/>
                </a:solidFill>
                <a:latin typeface="Segoe UI" pitchFamily="34" charset="0"/>
                <a:ea typeface="Segoe UI" pitchFamily="34" charset="-122"/>
                <a:cs typeface="Segoe UI" pitchFamily="34" charset="-120"/>
              </a:rPr>
              <a:t> decides how secure the whole bank is.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74904" y="475488"/>
            <a:ext cx="9308592" cy="576072"/>
          </a:xfrm>
          <a:prstGeom prst="rect">
            <a:avLst/>
          </a:prstGeom>
          <a:noFill/>
          <a:ln/>
        </p:spPr>
        <p:txBody>
          <a:bodyPr wrap="square" lIns="0" tIns="0" rIns="0" bIns="0" rtlCol="0" anchor="ctr"/>
          <a:lstStyle/>
          <a:p>
            <a:pPr marL="0" indent="0">
              <a:buNone/>
            </a:pPr>
            <a:r>
              <a:rPr lang="en-US" sz="2400" b="1" dirty="0">
                <a:solidFill>
                  <a:srgbClr val="000000"/>
                </a:solidFill>
                <a:latin typeface="Segoe UI" pitchFamily="34" charset="0"/>
                <a:ea typeface="Segoe UI" pitchFamily="34" charset="-122"/>
                <a:cs typeface="Segoe UI" pitchFamily="34" charset="-120"/>
              </a:rPr>
              <a:t>3. When every app owns auth, it owns the risk</a:t>
            </a:r>
            <a:endParaRPr lang="en-US" sz="2400" dirty="0"/>
          </a:p>
        </p:txBody>
      </p:sp>
      <p:sp>
        <p:nvSpPr>
          <p:cNvPr id="3" name="Text 1"/>
          <p:cNvSpPr txBox="1"/>
          <p:nvPr/>
        </p:nvSpPr>
        <p:spPr>
          <a:xfrm>
            <a:off x="374904" y="1234440"/>
            <a:ext cx="9308592" cy="521208"/>
          </a:xfrm>
          <a:prstGeom prst="rect">
            <a:avLst/>
          </a:prstGeom>
          <a:noFill/>
          <a:ln/>
        </p:spPr>
        <p:txBody>
          <a:bodyPr wrap="square" lIns="0" tIns="0" rIns="0" bIns="0" rtlCol="0" anchor="t"/>
          <a:lstStyle/>
          <a:p>
            <a:pPr marL="0" indent="0">
              <a:buNone/>
            </a:pPr>
            <a:r>
              <a:rPr lang="en-US" sz="1400" dirty="0">
                <a:solidFill>
                  <a:srgbClr val="000000"/>
                </a:solidFill>
                <a:latin typeface="Segoe UI" pitchFamily="34" charset="0"/>
                <a:ea typeface="Segoe UI" pitchFamily="34" charset="-122"/>
                <a:cs typeface="Segoe UI" pitchFamily="34" charset="-120"/>
              </a:rPr>
              <a:t>Credentials sit at the centre of real breaches. Scattering them across services multiplies the risk.</a:t>
            </a:r>
            <a:endParaRPr lang="en-US" sz="1400" dirty="0"/>
          </a:p>
        </p:txBody>
      </p:sp>
      <p:sp>
        <p:nvSpPr>
          <p:cNvPr id="4" name="Shape 2"/>
          <p:cNvSpPr/>
          <p:nvPr/>
        </p:nvSpPr>
        <p:spPr>
          <a:xfrm>
            <a:off x="365760" y="2139696"/>
            <a:ext cx="5449824" cy="4370832"/>
          </a:xfrm>
          <a:prstGeom prst="rect">
            <a:avLst/>
          </a:prstGeom>
          <a:solidFill>
            <a:srgbClr val="FFFFFF"/>
          </a:solidFill>
          <a:ln w="9525">
            <a:solidFill>
              <a:srgbClr val="E1E1E1"/>
            </a:solidFill>
            <a:prstDash val="solid"/>
          </a:ln>
          <a:effectLst>
            <a:outerShdw blurRad="50800" dist="38100" dir="2700000" algn="bl" rotWithShape="0">
              <a:srgbClr val="000000">
                <a:alpha val="40000"/>
              </a:srgbClr>
            </a:outerShdw>
          </a:effectLst>
        </p:spPr>
      </p:sp>
      <p:sp>
        <p:nvSpPr>
          <p:cNvPr id="5" name="Shape 3"/>
          <p:cNvSpPr/>
          <p:nvPr/>
        </p:nvSpPr>
        <p:spPr>
          <a:xfrm>
            <a:off x="685800" y="2651760"/>
            <a:ext cx="731520" cy="731520"/>
          </a:xfrm>
          <a:prstGeom prst="ellipse">
            <a:avLst/>
          </a:prstGeom>
          <a:solidFill>
            <a:srgbClr val="D2D2D2"/>
          </a:solidFill>
          <a:ln/>
        </p:spPr>
      </p:sp>
      <p:pic>
        <p:nvPicPr>
          <p:cNvPr id="6" name="Image 0" descr="preencoded.png"/>
          <p:cNvPicPr>
            <a:picLocks noChangeAspect="1"/>
          </p:cNvPicPr>
          <p:nvPr/>
        </p:nvPicPr>
        <p:blipFill>
          <a:blip r:embed="rId3"/>
          <a:stretch>
            <a:fillRect/>
          </a:stretch>
        </p:blipFill>
        <p:spPr>
          <a:xfrm>
            <a:off x="868680" y="2834640"/>
            <a:ext cx="365760" cy="365760"/>
          </a:xfrm>
          <a:prstGeom prst="rect">
            <a:avLst/>
          </a:prstGeom>
        </p:spPr>
      </p:pic>
      <p:sp>
        <p:nvSpPr>
          <p:cNvPr id="7" name="Text 4"/>
          <p:cNvSpPr txBox="1"/>
          <p:nvPr/>
        </p:nvSpPr>
        <p:spPr>
          <a:xfrm>
            <a:off x="1691640" y="2423160"/>
            <a:ext cx="2743200" cy="868680"/>
          </a:xfrm>
          <a:prstGeom prst="rect">
            <a:avLst/>
          </a:prstGeom>
          <a:noFill/>
          <a:ln/>
        </p:spPr>
        <p:txBody>
          <a:bodyPr wrap="square" lIns="0" tIns="0" rIns="0" bIns="0" rtlCol="0" anchor="ctr"/>
          <a:lstStyle/>
          <a:p>
            <a:pPr marL="0" indent="0">
              <a:buNone/>
            </a:pPr>
            <a:r>
              <a:rPr lang="en-US" sz="5400" dirty="0">
                <a:solidFill>
                  <a:srgbClr val="0078D4"/>
                </a:solidFill>
                <a:latin typeface="Segoe UI Semibold" pitchFamily="34" charset="0"/>
                <a:ea typeface="Segoe UI Semibold" pitchFamily="34" charset="-122"/>
                <a:cs typeface="Segoe UI Semibold" pitchFamily="34" charset="-120"/>
              </a:rPr>
              <a:t>62%</a:t>
            </a:r>
            <a:endParaRPr lang="en-US" sz="5400" dirty="0"/>
          </a:p>
        </p:txBody>
      </p:sp>
      <p:sp>
        <p:nvSpPr>
          <p:cNvPr id="8" name="Text 5"/>
          <p:cNvSpPr txBox="1"/>
          <p:nvPr/>
        </p:nvSpPr>
        <p:spPr>
          <a:xfrm>
            <a:off x="1691640" y="3291840"/>
            <a:ext cx="3840480" cy="594360"/>
          </a:xfrm>
          <a:prstGeom prst="rect">
            <a:avLst/>
          </a:prstGeom>
          <a:noFill/>
          <a:ln/>
        </p:spPr>
        <p:txBody>
          <a:bodyPr wrap="square" lIns="0" tIns="0" rIns="0" bIns="0" rtlCol="0" anchor="t"/>
          <a:lstStyle/>
          <a:p>
            <a:pPr marL="0" indent="0">
              <a:lnSpc>
                <a:spcPts val="2000"/>
              </a:lnSpc>
              <a:buNone/>
            </a:pPr>
            <a:r>
              <a:rPr lang="en-US" sz="1400" dirty="0">
                <a:solidFill>
                  <a:srgbClr val="000000"/>
                </a:solidFill>
                <a:latin typeface="Segoe UI" pitchFamily="34" charset="0"/>
                <a:ea typeface="Segoe UI" pitchFamily="34" charset="-122"/>
                <a:cs typeface="Segoe UI" pitchFamily="34" charset="-120"/>
              </a:rPr>
              <a:t>of breaches involved the human element</a:t>
            </a:r>
            <a:endParaRPr lang="en-US" sz="1400" dirty="0"/>
          </a:p>
        </p:txBody>
      </p:sp>
      <p:sp>
        <p:nvSpPr>
          <p:cNvPr id="9" name="Shape 6"/>
          <p:cNvSpPr/>
          <p:nvPr/>
        </p:nvSpPr>
        <p:spPr>
          <a:xfrm>
            <a:off x="685800" y="4434840"/>
            <a:ext cx="731520" cy="731520"/>
          </a:xfrm>
          <a:prstGeom prst="ellipse">
            <a:avLst/>
          </a:prstGeom>
          <a:solidFill>
            <a:srgbClr val="D2D2D2"/>
          </a:solidFill>
          <a:ln/>
        </p:spPr>
      </p:sp>
      <p:pic>
        <p:nvPicPr>
          <p:cNvPr id="10" name="Image 1" descr="preencoded.png"/>
          <p:cNvPicPr>
            <a:picLocks noChangeAspect="1"/>
          </p:cNvPicPr>
          <p:nvPr/>
        </p:nvPicPr>
        <p:blipFill>
          <a:blip r:embed="rId4"/>
          <a:stretch>
            <a:fillRect/>
          </a:stretch>
        </p:blipFill>
        <p:spPr>
          <a:xfrm>
            <a:off x="868680" y="4617720"/>
            <a:ext cx="365760" cy="365760"/>
          </a:xfrm>
          <a:prstGeom prst="rect">
            <a:avLst/>
          </a:prstGeom>
        </p:spPr>
      </p:pic>
      <p:sp>
        <p:nvSpPr>
          <p:cNvPr id="11" name="Text 7"/>
          <p:cNvSpPr txBox="1"/>
          <p:nvPr/>
        </p:nvSpPr>
        <p:spPr>
          <a:xfrm>
            <a:off x="1691640" y="4206240"/>
            <a:ext cx="2743200" cy="868680"/>
          </a:xfrm>
          <a:prstGeom prst="rect">
            <a:avLst/>
          </a:prstGeom>
          <a:noFill/>
          <a:ln/>
        </p:spPr>
        <p:txBody>
          <a:bodyPr wrap="square" lIns="0" tIns="0" rIns="0" bIns="0" rtlCol="0" anchor="ctr"/>
          <a:lstStyle/>
          <a:p>
            <a:pPr marL="0" indent="0">
              <a:buNone/>
            </a:pPr>
            <a:r>
              <a:rPr lang="en-US" sz="5400" dirty="0">
                <a:solidFill>
                  <a:srgbClr val="0078D4"/>
                </a:solidFill>
                <a:latin typeface="Segoe UI Semibold" pitchFamily="34" charset="0"/>
                <a:ea typeface="Segoe UI Semibold" pitchFamily="34" charset="-122"/>
                <a:cs typeface="Segoe UI Semibold" pitchFamily="34" charset="-120"/>
              </a:rPr>
              <a:t>39%</a:t>
            </a:r>
            <a:endParaRPr lang="en-US" sz="5400" dirty="0"/>
          </a:p>
        </p:txBody>
      </p:sp>
      <p:sp>
        <p:nvSpPr>
          <p:cNvPr id="12" name="Text 8"/>
          <p:cNvSpPr txBox="1"/>
          <p:nvPr/>
        </p:nvSpPr>
        <p:spPr>
          <a:xfrm>
            <a:off x="1691640" y="5074920"/>
            <a:ext cx="3840480" cy="594360"/>
          </a:xfrm>
          <a:prstGeom prst="rect">
            <a:avLst/>
          </a:prstGeom>
          <a:noFill/>
          <a:ln/>
        </p:spPr>
        <p:txBody>
          <a:bodyPr wrap="square" lIns="0" tIns="0" rIns="0" bIns="0" rtlCol="0" anchor="t"/>
          <a:lstStyle/>
          <a:p>
            <a:pPr marL="0" indent="0">
              <a:lnSpc>
                <a:spcPts val="2000"/>
              </a:lnSpc>
              <a:buNone/>
            </a:pPr>
            <a:r>
              <a:rPr lang="en-US" sz="1400" dirty="0">
                <a:solidFill>
                  <a:srgbClr val="000000"/>
                </a:solidFill>
                <a:latin typeface="Segoe UI" pitchFamily="34" charset="0"/>
                <a:ea typeface="Segoe UI" pitchFamily="34" charset="-122"/>
                <a:cs typeface="Segoe UI" pitchFamily="34" charset="-120"/>
              </a:rPr>
              <a:t>involved credential abuse somewhere in the attack chain</a:t>
            </a:r>
            <a:endParaRPr lang="en-US" sz="1400" dirty="0"/>
          </a:p>
        </p:txBody>
      </p:sp>
      <p:sp>
        <p:nvSpPr>
          <p:cNvPr id="13" name="Shape 9"/>
          <p:cNvSpPr/>
          <p:nvPr/>
        </p:nvSpPr>
        <p:spPr>
          <a:xfrm>
            <a:off x="685800" y="4023360"/>
            <a:ext cx="4800600" cy="0"/>
          </a:xfrm>
          <a:prstGeom prst="line">
            <a:avLst/>
          </a:prstGeom>
          <a:noFill/>
          <a:ln w="9525">
            <a:solidFill>
              <a:srgbClr val="E1E1E1"/>
            </a:solidFill>
            <a:prstDash val="solid"/>
          </a:ln>
        </p:spPr>
      </p:sp>
      <p:sp>
        <p:nvSpPr>
          <p:cNvPr id="14" name="Text 10"/>
          <p:cNvSpPr txBox="1"/>
          <p:nvPr/>
        </p:nvSpPr>
        <p:spPr>
          <a:xfrm>
            <a:off x="685800" y="6126480"/>
            <a:ext cx="4754880" cy="228600"/>
          </a:xfrm>
          <a:prstGeom prst="rect">
            <a:avLst/>
          </a:prstGeom>
          <a:noFill/>
          <a:ln/>
        </p:spPr>
        <p:txBody>
          <a:bodyPr wrap="square" lIns="0" tIns="0" rIns="0" bIns="0" rtlCol="0" anchor="t"/>
          <a:lstStyle/>
          <a:p>
            <a:pPr marL="0" indent="0">
              <a:buNone/>
            </a:pPr>
            <a:r>
              <a:rPr lang="en-US" sz="800" dirty="0">
                <a:solidFill>
                  <a:srgbClr val="5A5A5A"/>
                </a:solidFill>
                <a:latin typeface="Segoe UI" pitchFamily="34" charset="0"/>
                <a:ea typeface="Segoe UI" pitchFamily="34" charset="-122"/>
                <a:cs typeface="Segoe UI" pitchFamily="34" charset="-120"/>
              </a:rPr>
              <a:t>Source: Verizon 2026 Data Breach Investigations Report</a:t>
            </a:r>
            <a:endParaRPr lang="en-US" sz="800" dirty="0"/>
          </a:p>
        </p:txBody>
      </p:sp>
      <p:sp>
        <p:nvSpPr>
          <p:cNvPr id="15" name="Text 11"/>
          <p:cNvSpPr txBox="1"/>
          <p:nvPr/>
        </p:nvSpPr>
        <p:spPr>
          <a:xfrm>
            <a:off x="6016752" y="2139696"/>
            <a:ext cx="3666744" cy="365760"/>
          </a:xfrm>
          <a:prstGeom prst="rect">
            <a:avLst/>
          </a:prstGeom>
          <a:noFill/>
          <a:ln/>
        </p:spPr>
        <p:txBody>
          <a:bodyPr wrap="square" lIns="0" tIns="0" rIns="0" bIns="0" rtlCol="0" anchor="t"/>
          <a:lstStyle/>
          <a:p>
            <a:pPr marL="0" indent="0">
              <a:buNone/>
            </a:pPr>
            <a:r>
              <a:rPr lang="en-US" sz="1400" dirty="0">
                <a:solidFill>
                  <a:srgbClr val="000000"/>
                </a:solidFill>
                <a:latin typeface="Segoe UI Semibold" pitchFamily="34" charset="0"/>
                <a:ea typeface="Segoe UI Semibold" pitchFamily="34" charset="-122"/>
                <a:cs typeface="Segoe UI Semibold" pitchFamily="34" charset="-120"/>
              </a:rPr>
              <a:t>That risk shows up as:</a:t>
            </a:r>
            <a:endParaRPr lang="en-US" sz="1400" dirty="0"/>
          </a:p>
        </p:txBody>
      </p:sp>
      <p:sp>
        <p:nvSpPr>
          <p:cNvPr id="16" name="Shape 12"/>
          <p:cNvSpPr/>
          <p:nvPr/>
        </p:nvSpPr>
        <p:spPr>
          <a:xfrm>
            <a:off x="6016752" y="2715768"/>
            <a:ext cx="384048" cy="384048"/>
          </a:xfrm>
          <a:prstGeom prst="ellipse">
            <a:avLst/>
          </a:prstGeom>
          <a:solidFill>
            <a:srgbClr val="D2D2D2"/>
          </a:solidFill>
          <a:ln/>
        </p:spPr>
      </p:sp>
      <p:pic>
        <p:nvPicPr>
          <p:cNvPr id="17" name="Image 2" descr="preencoded.png"/>
          <p:cNvPicPr>
            <a:picLocks noChangeAspect="1"/>
          </p:cNvPicPr>
          <p:nvPr/>
        </p:nvPicPr>
        <p:blipFill>
          <a:blip r:embed="rId5"/>
          <a:stretch>
            <a:fillRect/>
          </a:stretch>
        </p:blipFill>
        <p:spPr>
          <a:xfrm>
            <a:off x="6117336" y="2816352"/>
            <a:ext cx="182880" cy="182880"/>
          </a:xfrm>
          <a:prstGeom prst="rect">
            <a:avLst/>
          </a:prstGeom>
        </p:spPr>
      </p:pic>
      <p:sp>
        <p:nvSpPr>
          <p:cNvPr id="18" name="Text 13"/>
          <p:cNvSpPr txBox="1"/>
          <p:nvPr/>
        </p:nvSpPr>
        <p:spPr>
          <a:xfrm>
            <a:off x="6583680" y="2697480"/>
            <a:ext cx="3108960" cy="658368"/>
          </a:xfrm>
          <a:prstGeom prst="rect">
            <a:avLst/>
          </a:prstGeom>
          <a:noFill/>
          <a:ln/>
        </p:spPr>
        <p:txBody>
          <a:bodyPr wrap="square" lIns="0" tIns="0" rIns="0" bIns="0" rtlCol="0" anchor="t"/>
          <a:lstStyle/>
          <a:p>
            <a:pPr marL="0" indent="0">
              <a:lnSpc>
                <a:spcPts val="2000"/>
              </a:lnSpc>
              <a:buNone/>
            </a:pPr>
            <a:r>
              <a:rPr lang="en-US" sz="1400" dirty="0">
                <a:solidFill>
                  <a:srgbClr val="000000"/>
                </a:solidFill>
                <a:latin typeface="Segoe UI" pitchFamily="34" charset="0"/>
                <a:ea typeface="Segoe UI" pitchFamily="34" charset="-122"/>
                <a:cs typeface="Segoe UI" pitchFamily="34" charset="-120"/>
              </a:rPr>
              <a:t>Inconsistent password policies across services</a:t>
            </a:r>
            <a:endParaRPr lang="en-US" sz="1400" dirty="0"/>
          </a:p>
        </p:txBody>
      </p:sp>
      <p:sp>
        <p:nvSpPr>
          <p:cNvPr id="19" name="Shape 14"/>
          <p:cNvSpPr/>
          <p:nvPr/>
        </p:nvSpPr>
        <p:spPr>
          <a:xfrm>
            <a:off x="6016752" y="3483864"/>
            <a:ext cx="384048" cy="384048"/>
          </a:xfrm>
          <a:prstGeom prst="ellipse">
            <a:avLst/>
          </a:prstGeom>
          <a:solidFill>
            <a:srgbClr val="D2D2D2"/>
          </a:solidFill>
          <a:ln/>
        </p:spPr>
      </p:sp>
      <p:sp>
        <p:nvSpPr>
          <p:cNvPr id="21" name="Text 15"/>
          <p:cNvSpPr txBox="1"/>
          <p:nvPr/>
        </p:nvSpPr>
        <p:spPr>
          <a:xfrm>
            <a:off x="6583680" y="3465576"/>
            <a:ext cx="3108960" cy="658368"/>
          </a:xfrm>
          <a:prstGeom prst="rect">
            <a:avLst/>
          </a:prstGeom>
          <a:noFill/>
          <a:ln/>
        </p:spPr>
        <p:txBody>
          <a:bodyPr wrap="square" lIns="0" tIns="0" rIns="0" bIns="0" rtlCol="0" anchor="t"/>
          <a:lstStyle/>
          <a:p>
            <a:pPr marL="0" indent="0">
              <a:lnSpc>
                <a:spcPts val="2000"/>
              </a:lnSpc>
              <a:buNone/>
            </a:pPr>
            <a:r>
              <a:rPr lang="en-US" sz="1400" dirty="0">
                <a:solidFill>
                  <a:srgbClr val="000000"/>
                </a:solidFill>
                <a:latin typeface="Segoe UI" pitchFamily="34" charset="0"/>
                <a:ea typeface="Segoe UI" pitchFamily="34" charset="-122"/>
                <a:cs typeface="Segoe UI" pitchFamily="34" charset="-120"/>
              </a:rPr>
              <a:t>No single place to revoke a compromised session</a:t>
            </a:r>
            <a:endParaRPr lang="en-US" sz="1400" dirty="0"/>
          </a:p>
        </p:txBody>
      </p:sp>
      <p:sp>
        <p:nvSpPr>
          <p:cNvPr id="22" name="Shape 16"/>
          <p:cNvSpPr/>
          <p:nvPr/>
        </p:nvSpPr>
        <p:spPr>
          <a:xfrm>
            <a:off x="6016752" y="4251960"/>
            <a:ext cx="384048" cy="384048"/>
          </a:xfrm>
          <a:prstGeom prst="ellipse">
            <a:avLst/>
          </a:prstGeom>
          <a:solidFill>
            <a:srgbClr val="D2D2D2"/>
          </a:solidFill>
          <a:ln/>
        </p:spPr>
      </p:sp>
      <p:pic>
        <p:nvPicPr>
          <p:cNvPr id="23" name="Image 4" descr="preencoded.png"/>
          <p:cNvPicPr>
            <a:picLocks noChangeAspect="1"/>
          </p:cNvPicPr>
          <p:nvPr/>
        </p:nvPicPr>
        <p:blipFill>
          <a:blip r:embed="rId5"/>
          <a:stretch>
            <a:fillRect/>
          </a:stretch>
        </p:blipFill>
        <p:spPr>
          <a:xfrm>
            <a:off x="6117336" y="4352544"/>
            <a:ext cx="182880" cy="182880"/>
          </a:xfrm>
          <a:prstGeom prst="rect">
            <a:avLst/>
          </a:prstGeom>
        </p:spPr>
      </p:pic>
      <p:sp>
        <p:nvSpPr>
          <p:cNvPr id="24" name="Text 17"/>
          <p:cNvSpPr txBox="1"/>
          <p:nvPr/>
        </p:nvSpPr>
        <p:spPr>
          <a:xfrm>
            <a:off x="6583680" y="4233672"/>
            <a:ext cx="3108960" cy="658368"/>
          </a:xfrm>
          <a:prstGeom prst="rect">
            <a:avLst/>
          </a:prstGeom>
          <a:noFill/>
          <a:ln/>
        </p:spPr>
        <p:txBody>
          <a:bodyPr wrap="square" lIns="0" tIns="0" rIns="0" bIns="0" rtlCol="0" anchor="t"/>
          <a:lstStyle/>
          <a:p>
            <a:pPr marL="0" indent="0">
              <a:lnSpc>
                <a:spcPts val="2000"/>
              </a:lnSpc>
              <a:buNone/>
            </a:pPr>
            <a:r>
              <a:rPr lang="en-US" sz="1400" dirty="0">
                <a:solidFill>
                  <a:srgbClr val="000000"/>
                </a:solidFill>
                <a:latin typeface="Segoe UI" pitchFamily="34" charset="0"/>
                <a:ea typeface="Segoe UI" pitchFamily="34" charset="-122"/>
                <a:cs typeface="Segoe UI" pitchFamily="34" charset="-120"/>
              </a:rPr>
              <a:t>MFA implemented differently, or not at all, per team</a:t>
            </a:r>
            <a:endParaRPr lang="en-US" sz="1400" dirty="0"/>
          </a:p>
        </p:txBody>
      </p:sp>
      <p:sp>
        <p:nvSpPr>
          <p:cNvPr id="25" name="Shape 18"/>
          <p:cNvSpPr/>
          <p:nvPr/>
        </p:nvSpPr>
        <p:spPr>
          <a:xfrm>
            <a:off x="6016752" y="5020056"/>
            <a:ext cx="384048" cy="384048"/>
          </a:xfrm>
          <a:prstGeom prst="ellipse">
            <a:avLst/>
          </a:prstGeom>
          <a:solidFill>
            <a:srgbClr val="D2D2D2"/>
          </a:solidFill>
          <a:ln/>
        </p:spPr>
      </p:sp>
      <p:pic>
        <p:nvPicPr>
          <p:cNvPr id="26" name="Image 5" descr="preencoded.png"/>
          <p:cNvPicPr>
            <a:picLocks noChangeAspect="1"/>
          </p:cNvPicPr>
          <p:nvPr/>
        </p:nvPicPr>
        <p:blipFill>
          <a:blip r:embed="rId5"/>
          <a:stretch>
            <a:fillRect/>
          </a:stretch>
        </p:blipFill>
        <p:spPr>
          <a:xfrm>
            <a:off x="6117336" y="5120640"/>
            <a:ext cx="182880" cy="182880"/>
          </a:xfrm>
          <a:prstGeom prst="rect">
            <a:avLst/>
          </a:prstGeom>
        </p:spPr>
      </p:pic>
      <p:sp>
        <p:nvSpPr>
          <p:cNvPr id="27" name="Text 19"/>
          <p:cNvSpPr txBox="1"/>
          <p:nvPr/>
        </p:nvSpPr>
        <p:spPr>
          <a:xfrm>
            <a:off x="6583680" y="5001768"/>
            <a:ext cx="3108960" cy="658368"/>
          </a:xfrm>
          <a:prstGeom prst="rect">
            <a:avLst/>
          </a:prstGeom>
          <a:noFill/>
          <a:ln/>
        </p:spPr>
        <p:txBody>
          <a:bodyPr wrap="square" lIns="0" tIns="0" rIns="0" bIns="0" rtlCol="0" anchor="t"/>
          <a:lstStyle/>
          <a:p>
            <a:pPr marL="0" indent="0">
              <a:lnSpc>
                <a:spcPts val="2000"/>
              </a:lnSpc>
              <a:buNone/>
            </a:pPr>
            <a:r>
              <a:rPr lang="en-US" sz="1400" dirty="0">
                <a:solidFill>
                  <a:srgbClr val="000000"/>
                </a:solidFill>
                <a:latin typeface="Segoe UI" pitchFamily="34" charset="0"/>
                <a:ea typeface="Segoe UI" pitchFamily="34" charset="-122"/>
                <a:cs typeface="Segoe UI" pitchFamily="34" charset="-120"/>
              </a:rPr>
              <a:t>Every security patch duplicated 4x instead of 1x</a:t>
            </a:r>
            <a:endParaRPr lang="en-US" sz="1400" dirty="0"/>
          </a:p>
        </p:txBody>
      </p:sp>
      <p:sp>
        <p:nvSpPr>
          <p:cNvPr id="28" name="Shape 20"/>
          <p:cNvSpPr/>
          <p:nvPr/>
        </p:nvSpPr>
        <p:spPr>
          <a:xfrm>
            <a:off x="6016752" y="5788152"/>
            <a:ext cx="384048" cy="384048"/>
          </a:xfrm>
          <a:prstGeom prst="ellipse">
            <a:avLst/>
          </a:prstGeom>
          <a:solidFill>
            <a:srgbClr val="D2D2D2"/>
          </a:solidFill>
          <a:ln/>
        </p:spPr>
      </p:sp>
      <p:pic>
        <p:nvPicPr>
          <p:cNvPr id="29" name="Image 6" descr="preencoded.png"/>
          <p:cNvPicPr>
            <a:picLocks noChangeAspect="1"/>
          </p:cNvPicPr>
          <p:nvPr/>
        </p:nvPicPr>
        <p:blipFill>
          <a:blip r:embed="rId5"/>
          <a:stretch>
            <a:fillRect/>
          </a:stretch>
        </p:blipFill>
        <p:spPr>
          <a:xfrm>
            <a:off x="6117336" y="5888736"/>
            <a:ext cx="182880" cy="182880"/>
          </a:xfrm>
          <a:prstGeom prst="rect">
            <a:avLst/>
          </a:prstGeom>
        </p:spPr>
      </p:pic>
      <p:sp>
        <p:nvSpPr>
          <p:cNvPr id="30" name="Text 21"/>
          <p:cNvSpPr txBox="1"/>
          <p:nvPr/>
        </p:nvSpPr>
        <p:spPr>
          <a:xfrm>
            <a:off x="6583680" y="5769864"/>
            <a:ext cx="3108960" cy="658368"/>
          </a:xfrm>
          <a:prstGeom prst="rect">
            <a:avLst/>
          </a:prstGeom>
          <a:noFill/>
          <a:ln/>
        </p:spPr>
        <p:txBody>
          <a:bodyPr wrap="square" lIns="0" tIns="0" rIns="0" bIns="0" rtlCol="0" anchor="t"/>
          <a:lstStyle/>
          <a:p>
            <a:pPr marL="0" indent="0">
              <a:lnSpc>
                <a:spcPts val="2000"/>
              </a:lnSpc>
              <a:buNone/>
            </a:pPr>
            <a:r>
              <a:rPr lang="en-US" sz="1400" dirty="0">
                <a:solidFill>
                  <a:srgbClr val="000000"/>
                </a:solidFill>
                <a:latin typeface="Segoe UI" pitchFamily="34" charset="0"/>
                <a:ea typeface="Segoe UI" pitchFamily="34" charset="-122"/>
                <a:cs typeface="Segoe UI" pitchFamily="34" charset="-120"/>
              </a:rPr>
              <a:t>No unified audit trail across services</a:t>
            </a:r>
            <a:endParaRPr lang="en-US" sz="1400" dirty="0"/>
          </a:p>
        </p:txBody>
      </p:sp>
      <p:pic>
        <p:nvPicPr>
          <p:cNvPr id="32" name="Image 2" descr="preencoded.png">
            <a:extLst>
              <a:ext uri="{FF2B5EF4-FFF2-40B4-BE49-F238E27FC236}">
                <a16:creationId xmlns:a16="http://schemas.microsoft.com/office/drawing/2014/main" id="{77CFD819-5EFC-A721-6636-15BAC3539C14}"/>
              </a:ext>
            </a:extLst>
          </p:cNvPr>
          <p:cNvPicPr>
            <a:picLocks noChangeAspect="1"/>
          </p:cNvPicPr>
          <p:nvPr/>
        </p:nvPicPr>
        <p:blipFill>
          <a:blip r:embed="rId5"/>
          <a:stretch>
            <a:fillRect/>
          </a:stretch>
        </p:blipFill>
        <p:spPr>
          <a:xfrm>
            <a:off x="6117336" y="3579876"/>
            <a:ext cx="182880" cy="1828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74904" y="475488"/>
            <a:ext cx="9308592" cy="576072"/>
          </a:xfrm>
          <a:prstGeom prst="rect">
            <a:avLst/>
          </a:prstGeom>
          <a:noFill/>
          <a:ln/>
        </p:spPr>
        <p:txBody>
          <a:bodyPr wrap="square" lIns="0" tIns="0" rIns="0" bIns="0" rtlCol="0" anchor="ctr"/>
          <a:lstStyle/>
          <a:p>
            <a:pPr marL="0" indent="0">
              <a:buNone/>
            </a:pPr>
            <a:r>
              <a:rPr lang="en-US" sz="2400" b="1" dirty="0">
                <a:solidFill>
                  <a:srgbClr val="000000"/>
                </a:solidFill>
                <a:latin typeface="Segoe UI" pitchFamily="34" charset="0"/>
                <a:ea typeface="Segoe UI" pitchFamily="34" charset="-122"/>
                <a:cs typeface="Segoe UI" pitchFamily="34" charset="-120"/>
              </a:rPr>
              <a:t>4. Where should auth live? Four approaches</a:t>
            </a:r>
            <a:endParaRPr lang="en-US" sz="2400" dirty="0"/>
          </a:p>
        </p:txBody>
      </p:sp>
      <p:sp>
        <p:nvSpPr>
          <p:cNvPr id="3" name="Text 1"/>
          <p:cNvSpPr txBox="1"/>
          <p:nvPr/>
        </p:nvSpPr>
        <p:spPr>
          <a:xfrm>
            <a:off x="374904" y="1234440"/>
            <a:ext cx="9308592" cy="521208"/>
          </a:xfrm>
          <a:prstGeom prst="rect">
            <a:avLst/>
          </a:prstGeom>
          <a:noFill/>
          <a:ln/>
        </p:spPr>
        <p:txBody>
          <a:bodyPr wrap="square" lIns="0" tIns="0" rIns="0" bIns="0" rtlCol="0" anchor="t"/>
          <a:lstStyle/>
          <a:p>
            <a:pPr marL="0" indent="0">
              <a:buNone/>
            </a:pPr>
            <a:r>
              <a:rPr lang="en-US" sz="1400" dirty="0">
                <a:solidFill>
                  <a:srgbClr val="000000"/>
                </a:solidFill>
                <a:latin typeface="Segoe UI" pitchFamily="34" charset="0"/>
                <a:ea typeface="Segoe UI" pitchFamily="34" charset="-122"/>
                <a:cs typeface="Segoe UI" pitchFamily="34" charset="-120"/>
              </a:rPr>
              <a:t>Four ways teams solve this in practice, from fully decentralized to fully centralized:</a:t>
            </a:r>
            <a:endParaRPr lang="en-US" sz="1400" dirty="0"/>
          </a:p>
        </p:txBody>
      </p:sp>
      <p:sp>
        <p:nvSpPr>
          <p:cNvPr id="4" name="Shape 2"/>
          <p:cNvSpPr/>
          <p:nvPr/>
        </p:nvSpPr>
        <p:spPr>
          <a:xfrm>
            <a:off x="374904" y="2011680"/>
            <a:ext cx="2157984" cy="3840480"/>
          </a:xfrm>
          <a:prstGeom prst="rect">
            <a:avLst/>
          </a:prstGeom>
          <a:solidFill>
            <a:srgbClr val="FFFFFF"/>
          </a:solidFill>
          <a:ln w="9525">
            <a:solidFill>
              <a:srgbClr val="E1E1E1"/>
            </a:solidFill>
            <a:prstDash val="solid"/>
          </a:ln>
          <a:effectLst>
            <a:outerShdw blurRad="50800" dist="38100" dir="2700000" algn="bl" rotWithShape="0">
              <a:srgbClr val="000000">
                <a:alpha val="40000"/>
              </a:srgbClr>
            </a:outerShdw>
          </a:effectLst>
        </p:spPr>
      </p:sp>
      <p:sp>
        <p:nvSpPr>
          <p:cNvPr id="5" name="Shape 3"/>
          <p:cNvSpPr/>
          <p:nvPr/>
        </p:nvSpPr>
        <p:spPr>
          <a:xfrm>
            <a:off x="557784" y="2212848"/>
            <a:ext cx="566928" cy="566928"/>
          </a:xfrm>
          <a:prstGeom prst="ellipse">
            <a:avLst/>
          </a:prstGeom>
          <a:solidFill>
            <a:srgbClr val="D2D2D2"/>
          </a:solidFill>
          <a:ln/>
        </p:spPr>
      </p:sp>
      <p:pic>
        <p:nvPicPr>
          <p:cNvPr id="6" name="Image 0" descr="preencoded.png"/>
          <p:cNvPicPr>
            <a:picLocks noChangeAspect="1"/>
          </p:cNvPicPr>
          <p:nvPr/>
        </p:nvPicPr>
        <p:blipFill>
          <a:blip r:embed="rId3"/>
          <a:stretch>
            <a:fillRect/>
          </a:stretch>
        </p:blipFill>
        <p:spPr>
          <a:xfrm>
            <a:off x="699516" y="2354580"/>
            <a:ext cx="283464" cy="283464"/>
          </a:xfrm>
          <a:prstGeom prst="rect">
            <a:avLst/>
          </a:prstGeom>
        </p:spPr>
      </p:pic>
      <p:sp>
        <p:nvSpPr>
          <p:cNvPr id="7" name="Text 4"/>
          <p:cNvSpPr txBox="1"/>
          <p:nvPr/>
        </p:nvSpPr>
        <p:spPr>
          <a:xfrm>
            <a:off x="557784" y="2926080"/>
            <a:ext cx="1883664" cy="310896"/>
          </a:xfrm>
          <a:prstGeom prst="rect">
            <a:avLst/>
          </a:prstGeom>
          <a:noFill/>
          <a:ln/>
        </p:spPr>
        <p:txBody>
          <a:bodyPr wrap="square" lIns="0" tIns="0" rIns="0" bIns="0" rtlCol="0" anchor="ctr"/>
          <a:lstStyle/>
          <a:p>
            <a:pPr marL="0" indent="0">
              <a:buNone/>
            </a:pPr>
            <a:r>
              <a:rPr lang="en-US" sz="1400" dirty="0">
                <a:solidFill>
                  <a:srgbClr val="000000"/>
                </a:solidFill>
                <a:latin typeface="Segoe UI Semibold" pitchFamily="34" charset="0"/>
                <a:ea typeface="Segoe UI Semibold" pitchFamily="34" charset="-122"/>
                <a:cs typeface="Segoe UI Semibold" pitchFamily="34" charset="-120"/>
              </a:rPr>
              <a:t>Per-Module Auth</a:t>
            </a:r>
            <a:endParaRPr lang="en-US" sz="1400" dirty="0"/>
          </a:p>
        </p:txBody>
      </p:sp>
      <p:sp>
        <p:nvSpPr>
          <p:cNvPr id="8" name="Text 5"/>
          <p:cNvSpPr txBox="1"/>
          <p:nvPr/>
        </p:nvSpPr>
        <p:spPr>
          <a:xfrm>
            <a:off x="557784" y="3291840"/>
            <a:ext cx="1883664" cy="256032"/>
          </a:xfrm>
          <a:prstGeom prst="rect">
            <a:avLst/>
          </a:prstGeom>
          <a:noFill/>
          <a:ln/>
        </p:spPr>
        <p:txBody>
          <a:bodyPr wrap="square" lIns="0" tIns="0" rIns="0" bIns="0" rtlCol="0" anchor="ctr"/>
          <a:lstStyle/>
          <a:p>
            <a:pPr marL="0" indent="0">
              <a:buNone/>
            </a:pPr>
            <a:r>
              <a:rPr lang="en-US" sz="1100" dirty="0">
                <a:solidFill>
                  <a:srgbClr val="0078D4"/>
                </a:solidFill>
                <a:latin typeface="Segoe UI Semibold" pitchFamily="34" charset="0"/>
                <a:ea typeface="Segoe UI Semibold" pitchFamily="34" charset="-122"/>
                <a:cs typeface="Segoe UI Semibold" pitchFamily="34" charset="-120"/>
              </a:rPr>
              <a:t>Fully decentralized</a:t>
            </a:r>
            <a:endParaRPr lang="en-US" sz="1100" dirty="0"/>
          </a:p>
        </p:txBody>
      </p:sp>
      <p:sp>
        <p:nvSpPr>
          <p:cNvPr id="9" name="Text 6"/>
          <p:cNvSpPr txBox="1"/>
          <p:nvPr/>
        </p:nvSpPr>
        <p:spPr>
          <a:xfrm>
            <a:off x="557784" y="3703320"/>
            <a:ext cx="1837944" cy="1005840"/>
          </a:xfrm>
          <a:prstGeom prst="rect">
            <a:avLst/>
          </a:prstGeom>
          <a:noFill/>
          <a:ln/>
        </p:spPr>
        <p:txBody>
          <a:bodyPr wrap="square" lIns="0" tIns="0" rIns="0" bIns="0" rtlCol="0" anchor="t"/>
          <a:lstStyle/>
          <a:p>
            <a:pPr marL="0" indent="0">
              <a:lnSpc>
                <a:spcPts val="1700"/>
              </a:lnSpc>
              <a:buNone/>
            </a:pPr>
            <a:r>
              <a:rPr lang="en-US" sz="1200" dirty="0">
                <a:solidFill>
                  <a:srgbClr val="000000"/>
                </a:solidFill>
                <a:latin typeface="Segoe UI" pitchFamily="34" charset="0"/>
                <a:ea typeface="Segoe UI" pitchFamily="34" charset="-122"/>
                <a:cs typeface="Segoe UI" pitchFamily="34" charset="-120"/>
              </a:rPr>
              <a:t>Each Module implements its own login, sessions and token checks.</a:t>
            </a:r>
            <a:endParaRPr lang="en-US" sz="1200" dirty="0"/>
          </a:p>
        </p:txBody>
      </p:sp>
      <p:sp>
        <p:nvSpPr>
          <p:cNvPr id="10" name="Shape 7"/>
          <p:cNvSpPr/>
          <p:nvPr/>
        </p:nvSpPr>
        <p:spPr>
          <a:xfrm>
            <a:off x="557784" y="4754880"/>
            <a:ext cx="1792224" cy="0"/>
          </a:xfrm>
          <a:prstGeom prst="line">
            <a:avLst/>
          </a:prstGeom>
          <a:noFill/>
          <a:ln w="9525">
            <a:solidFill>
              <a:srgbClr val="E1E1E1"/>
            </a:solidFill>
            <a:prstDash val="solid"/>
          </a:ln>
        </p:spPr>
      </p:sp>
      <p:sp>
        <p:nvSpPr>
          <p:cNvPr id="11" name="Text 8"/>
          <p:cNvSpPr txBox="1"/>
          <p:nvPr/>
        </p:nvSpPr>
        <p:spPr>
          <a:xfrm>
            <a:off x="557784" y="4846320"/>
            <a:ext cx="1837944" cy="914400"/>
          </a:xfrm>
          <a:prstGeom prst="rect">
            <a:avLst/>
          </a:prstGeom>
          <a:noFill/>
          <a:ln/>
        </p:spPr>
        <p:txBody>
          <a:bodyPr wrap="square" lIns="0" tIns="0" rIns="0" bIns="0" rtlCol="0" anchor="t"/>
          <a:lstStyle/>
          <a:p>
            <a:pPr marL="0" indent="0">
              <a:lnSpc>
                <a:spcPts val="1700"/>
              </a:lnSpc>
              <a:buNone/>
            </a:pPr>
            <a:r>
              <a:rPr lang="en-US" sz="1200" dirty="0">
                <a:solidFill>
                  <a:srgbClr val="5A5A5A"/>
                </a:solidFill>
                <a:latin typeface="Segoe UI" pitchFamily="34" charset="0"/>
                <a:ea typeface="Segoe UI" pitchFamily="34" charset="-122"/>
                <a:cs typeface="Segoe UI" pitchFamily="34" charset="-120"/>
              </a:rPr>
              <a:t>Simple to start, but duplicates effort and drifts across teams.</a:t>
            </a:r>
            <a:endParaRPr lang="en-US" sz="1200" dirty="0"/>
          </a:p>
        </p:txBody>
      </p:sp>
      <p:sp>
        <p:nvSpPr>
          <p:cNvPr id="12" name="Shape 9"/>
          <p:cNvSpPr/>
          <p:nvPr/>
        </p:nvSpPr>
        <p:spPr>
          <a:xfrm>
            <a:off x="2761488" y="2011680"/>
            <a:ext cx="2157984" cy="3840480"/>
          </a:xfrm>
          <a:prstGeom prst="rect">
            <a:avLst/>
          </a:prstGeom>
          <a:solidFill>
            <a:srgbClr val="FFFFFF"/>
          </a:solidFill>
          <a:ln w="9525">
            <a:solidFill>
              <a:srgbClr val="E1E1E1"/>
            </a:solidFill>
            <a:prstDash val="solid"/>
          </a:ln>
          <a:effectLst>
            <a:outerShdw blurRad="50800" dist="38100" dir="2700000" algn="bl" rotWithShape="0">
              <a:srgbClr val="000000">
                <a:alpha val="40000"/>
              </a:srgbClr>
            </a:outerShdw>
          </a:effectLst>
        </p:spPr>
      </p:sp>
      <p:sp>
        <p:nvSpPr>
          <p:cNvPr id="13" name="Shape 10"/>
          <p:cNvSpPr/>
          <p:nvPr/>
        </p:nvSpPr>
        <p:spPr>
          <a:xfrm>
            <a:off x="2944368" y="2212848"/>
            <a:ext cx="566928" cy="566928"/>
          </a:xfrm>
          <a:prstGeom prst="ellipse">
            <a:avLst/>
          </a:prstGeom>
          <a:solidFill>
            <a:srgbClr val="D2D2D2"/>
          </a:solidFill>
          <a:ln/>
        </p:spPr>
      </p:sp>
      <p:pic>
        <p:nvPicPr>
          <p:cNvPr id="14" name="Image 1" descr="preencoded.png"/>
          <p:cNvPicPr>
            <a:picLocks noChangeAspect="1"/>
          </p:cNvPicPr>
          <p:nvPr/>
        </p:nvPicPr>
        <p:blipFill>
          <a:blip r:embed="rId4"/>
          <a:stretch>
            <a:fillRect/>
          </a:stretch>
        </p:blipFill>
        <p:spPr>
          <a:xfrm>
            <a:off x="3086100" y="2354580"/>
            <a:ext cx="283464" cy="283464"/>
          </a:xfrm>
          <a:prstGeom prst="rect">
            <a:avLst/>
          </a:prstGeom>
        </p:spPr>
      </p:pic>
      <p:sp>
        <p:nvSpPr>
          <p:cNvPr id="15" name="Text 11"/>
          <p:cNvSpPr txBox="1"/>
          <p:nvPr/>
        </p:nvSpPr>
        <p:spPr>
          <a:xfrm>
            <a:off x="2944368" y="2926080"/>
            <a:ext cx="1883664" cy="310896"/>
          </a:xfrm>
          <a:prstGeom prst="rect">
            <a:avLst/>
          </a:prstGeom>
          <a:noFill/>
          <a:ln/>
        </p:spPr>
        <p:txBody>
          <a:bodyPr wrap="square" lIns="0" tIns="0" rIns="0" bIns="0" rtlCol="0" anchor="ctr"/>
          <a:lstStyle/>
          <a:p>
            <a:pPr marL="0" indent="0">
              <a:buNone/>
            </a:pPr>
            <a:r>
              <a:rPr lang="en-US" sz="1400" dirty="0">
                <a:solidFill>
                  <a:srgbClr val="000000"/>
                </a:solidFill>
                <a:latin typeface="Segoe UI Semibold" pitchFamily="34" charset="0"/>
                <a:ea typeface="Segoe UI Semibold" pitchFamily="34" charset="-122"/>
                <a:cs typeface="Segoe UI Semibold" pitchFamily="34" charset="-120"/>
              </a:rPr>
              <a:t>Shared Auth Library</a:t>
            </a:r>
            <a:endParaRPr lang="en-US" sz="1400" dirty="0"/>
          </a:p>
        </p:txBody>
      </p:sp>
      <p:sp>
        <p:nvSpPr>
          <p:cNvPr id="16" name="Text 12"/>
          <p:cNvSpPr txBox="1"/>
          <p:nvPr/>
        </p:nvSpPr>
        <p:spPr>
          <a:xfrm>
            <a:off x="2944368" y="3291840"/>
            <a:ext cx="1883664" cy="256032"/>
          </a:xfrm>
          <a:prstGeom prst="rect">
            <a:avLst/>
          </a:prstGeom>
          <a:noFill/>
          <a:ln/>
        </p:spPr>
        <p:txBody>
          <a:bodyPr wrap="square" lIns="0" tIns="0" rIns="0" bIns="0" rtlCol="0" anchor="ctr"/>
          <a:lstStyle/>
          <a:p>
            <a:pPr marL="0" indent="0">
              <a:buNone/>
            </a:pPr>
            <a:r>
              <a:rPr lang="en-US" sz="1100" dirty="0">
                <a:solidFill>
                  <a:srgbClr val="0078D4"/>
                </a:solidFill>
                <a:latin typeface="Segoe UI Semibold" pitchFamily="34" charset="0"/>
                <a:ea typeface="Segoe UI Semibold" pitchFamily="34" charset="-122"/>
                <a:cs typeface="Segoe UI Semibold" pitchFamily="34" charset="-120"/>
              </a:rPr>
              <a:t>Common code, still local</a:t>
            </a:r>
            <a:endParaRPr lang="en-US" sz="1100" dirty="0"/>
          </a:p>
        </p:txBody>
      </p:sp>
      <p:sp>
        <p:nvSpPr>
          <p:cNvPr id="17" name="Text 13"/>
          <p:cNvSpPr txBox="1"/>
          <p:nvPr/>
        </p:nvSpPr>
        <p:spPr>
          <a:xfrm>
            <a:off x="2944368" y="3703320"/>
            <a:ext cx="1837944" cy="1005840"/>
          </a:xfrm>
          <a:prstGeom prst="rect">
            <a:avLst/>
          </a:prstGeom>
          <a:noFill/>
          <a:ln/>
        </p:spPr>
        <p:txBody>
          <a:bodyPr wrap="square" lIns="0" tIns="0" rIns="0" bIns="0" rtlCol="0" anchor="t"/>
          <a:lstStyle/>
          <a:p>
            <a:pPr marL="0" indent="0">
              <a:lnSpc>
                <a:spcPts val="1700"/>
              </a:lnSpc>
              <a:buNone/>
            </a:pPr>
            <a:r>
              <a:rPr lang="en-US" sz="1200" dirty="0">
                <a:solidFill>
                  <a:srgbClr val="000000"/>
                </a:solidFill>
                <a:latin typeface="Segoe UI" pitchFamily="34" charset="0"/>
                <a:ea typeface="Segoe UI" pitchFamily="34" charset="-122"/>
                <a:cs typeface="Segoe UI" pitchFamily="34" charset="-120"/>
              </a:rPr>
              <a:t>A shared SDK handles JWT validation; every Module still enforces it.</a:t>
            </a:r>
            <a:endParaRPr lang="en-US" sz="1200" dirty="0"/>
          </a:p>
        </p:txBody>
      </p:sp>
      <p:sp>
        <p:nvSpPr>
          <p:cNvPr id="18" name="Shape 14"/>
          <p:cNvSpPr/>
          <p:nvPr/>
        </p:nvSpPr>
        <p:spPr>
          <a:xfrm>
            <a:off x="2944368" y="4754880"/>
            <a:ext cx="1792224" cy="0"/>
          </a:xfrm>
          <a:prstGeom prst="line">
            <a:avLst/>
          </a:prstGeom>
          <a:noFill/>
          <a:ln w="9525">
            <a:solidFill>
              <a:srgbClr val="E1E1E1"/>
            </a:solidFill>
            <a:prstDash val="solid"/>
          </a:ln>
        </p:spPr>
      </p:sp>
      <p:sp>
        <p:nvSpPr>
          <p:cNvPr id="19" name="Text 15"/>
          <p:cNvSpPr txBox="1"/>
          <p:nvPr/>
        </p:nvSpPr>
        <p:spPr>
          <a:xfrm>
            <a:off x="2944368" y="4846320"/>
            <a:ext cx="1837944" cy="914400"/>
          </a:xfrm>
          <a:prstGeom prst="rect">
            <a:avLst/>
          </a:prstGeom>
          <a:noFill/>
          <a:ln/>
        </p:spPr>
        <p:txBody>
          <a:bodyPr wrap="square" lIns="0" tIns="0" rIns="0" bIns="0" rtlCol="0" anchor="t"/>
          <a:lstStyle/>
          <a:p>
            <a:pPr marL="0" indent="0">
              <a:lnSpc>
                <a:spcPts val="1700"/>
              </a:lnSpc>
              <a:buNone/>
            </a:pPr>
            <a:r>
              <a:rPr lang="en-US" sz="1200" dirty="0">
                <a:solidFill>
                  <a:srgbClr val="5A5A5A"/>
                </a:solidFill>
                <a:latin typeface="Segoe UI" pitchFamily="34" charset="0"/>
                <a:ea typeface="Segoe UI" pitchFamily="34" charset="-122"/>
                <a:cs typeface="Segoe UI" pitchFamily="34" charset="-120"/>
              </a:rPr>
              <a:t>Less duplication, but every Module must upgrade in lockstep.</a:t>
            </a:r>
            <a:endParaRPr lang="en-US" sz="1200" dirty="0"/>
          </a:p>
        </p:txBody>
      </p:sp>
      <p:sp>
        <p:nvSpPr>
          <p:cNvPr id="20" name="Shape 16"/>
          <p:cNvSpPr/>
          <p:nvPr/>
        </p:nvSpPr>
        <p:spPr>
          <a:xfrm>
            <a:off x="5148072" y="2011680"/>
            <a:ext cx="2157984" cy="3840480"/>
          </a:xfrm>
          <a:prstGeom prst="rect">
            <a:avLst/>
          </a:prstGeom>
          <a:solidFill>
            <a:srgbClr val="FFFFFF"/>
          </a:solidFill>
          <a:ln w="9525">
            <a:solidFill>
              <a:srgbClr val="E1E1E1"/>
            </a:solidFill>
            <a:prstDash val="solid"/>
          </a:ln>
          <a:effectLst>
            <a:outerShdw blurRad="50800" dist="38100" dir="2700000" algn="bl" rotWithShape="0">
              <a:srgbClr val="000000">
                <a:alpha val="40000"/>
              </a:srgbClr>
            </a:outerShdw>
          </a:effectLst>
        </p:spPr>
      </p:sp>
      <p:sp>
        <p:nvSpPr>
          <p:cNvPr id="21" name="Shape 17"/>
          <p:cNvSpPr/>
          <p:nvPr/>
        </p:nvSpPr>
        <p:spPr>
          <a:xfrm>
            <a:off x="5330952" y="2212848"/>
            <a:ext cx="566928" cy="566928"/>
          </a:xfrm>
          <a:prstGeom prst="ellipse">
            <a:avLst/>
          </a:prstGeom>
          <a:solidFill>
            <a:srgbClr val="D2D2D2"/>
          </a:solidFill>
          <a:ln/>
        </p:spPr>
      </p:sp>
      <p:pic>
        <p:nvPicPr>
          <p:cNvPr id="22" name="Image 2" descr="preencoded.png"/>
          <p:cNvPicPr>
            <a:picLocks noChangeAspect="1"/>
          </p:cNvPicPr>
          <p:nvPr/>
        </p:nvPicPr>
        <p:blipFill>
          <a:blip r:embed="rId5"/>
          <a:stretch>
            <a:fillRect/>
          </a:stretch>
        </p:blipFill>
        <p:spPr>
          <a:xfrm>
            <a:off x="5472684" y="2354580"/>
            <a:ext cx="283464" cy="283464"/>
          </a:xfrm>
          <a:prstGeom prst="rect">
            <a:avLst/>
          </a:prstGeom>
        </p:spPr>
      </p:pic>
      <p:sp>
        <p:nvSpPr>
          <p:cNvPr id="23" name="Text 18"/>
          <p:cNvSpPr txBox="1"/>
          <p:nvPr/>
        </p:nvSpPr>
        <p:spPr>
          <a:xfrm>
            <a:off x="5330952" y="2926080"/>
            <a:ext cx="1883664" cy="310896"/>
          </a:xfrm>
          <a:prstGeom prst="rect">
            <a:avLst/>
          </a:prstGeom>
          <a:noFill/>
          <a:ln/>
        </p:spPr>
        <p:txBody>
          <a:bodyPr wrap="square" lIns="0" tIns="0" rIns="0" bIns="0" rtlCol="0" anchor="ctr"/>
          <a:lstStyle/>
          <a:p>
            <a:pPr marL="0" indent="0">
              <a:buNone/>
            </a:pPr>
            <a:r>
              <a:rPr lang="en-US" sz="1400" dirty="0">
                <a:solidFill>
                  <a:srgbClr val="000000"/>
                </a:solidFill>
                <a:latin typeface="Segoe UI Semibold" pitchFamily="34" charset="0"/>
                <a:ea typeface="Segoe UI Semibold" pitchFamily="34" charset="-122"/>
                <a:cs typeface="Segoe UI Semibold" pitchFamily="34" charset="-120"/>
              </a:rPr>
              <a:t>API Gateway</a:t>
            </a:r>
            <a:endParaRPr lang="en-US" sz="1400" dirty="0"/>
          </a:p>
        </p:txBody>
      </p:sp>
      <p:sp>
        <p:nvSpPr>
          <p:cNvPr id="24" name="Text 19"/>
          <p:cNvSpPr txBox="1"/>
          <p:nvPr/>
        </p:nvSpPr>
        <p:spPr>
          <a:xfrm>
            <a:off x="5330952" y="3291840"/>
            <a:ext cx="1883664" cy="256032"/>
          </a:xfrm>
          <a:prstGeom prst="rect">
            <a:avLst/>
          </a:prstGeom>
          <a:noFill/>
          <a:ln/>
        </p:spPr>
        <p:txBody>
          <a:bodyPr wrap="square" lIns="0" tIns="0" rIns="0" bIns="0" rtlCol="0" anchor="ctr"/>
          <a:lstStyle/>
          <a:p>
            <a:pPr marL="0" indent="0">
              <a:buNone/>
            </a:pPr>
            <a:r>
              <a:rPr lang="en-US" sz="1100" dirty="0">
                <a:solidFill>
                  <a:srgbClr val="0078D4"/>
                </a:solidFill>
                <a:latin typeface="Segoe UI Semibold" pitchFamily="34" charset="0"/>
                <a:ea typeface="Segoe UI Semibold" pitchFamily="34" charset="-122"/>
                <a:cs typeface="Segoe UI Semibold" pitchFamily="34" charset="-120"/>
              </a:rPr>
              <a:t>One enforcement point</a:t>
            </a:r>
            <a:endParaRPr lang="en-US" sz="1100" dirty="0"/>
          </a:p>
        </p:txBody>
      </p:sp>
      <p:sp>
        <p:nvSpPr>
          <p:cNvPr id="25" name="Text 20"/>
          <p:cNvSpPr txBox="1"/>
          <p:nvPr/>
        </p:nvSpPr>
        <p:spPr>
          <a:xfrm>
            <a:off x="5330952" y="3703320"/>
            <a:ext cx="1837944" cy="1005840"/>
          </a:xfrm>
          <a:prstGeom prst="rect">
            <a:avLst/>
          </a:prstGeom>
          <a:noFill/>
          <a:ln/>
        </p:spPr>
        <p:txBody>
          <a:bodyPr wrap="square" lIns="0" tIns="0" rIns="0" bIns="0" rtlCol="0" anchor="t"/>
          <a:lstStyle/>
          <a:p>
            <a:pPr marL="0" indent="0">
              <a:lnSpc>
                <a:spcPts val="1700"/>
              </a:lnSpc>
              <a:buNone/>
            </a:pPr>
            <a:r>
              <a:rPr lang="en-US" sz="1200" dirty="0">
                <a:solidFill>
                  <a:srgbClr val="000000"/>
                </a:solidFill>
                <a:latin typeface="Segoe UI" pitchFamily="34" charset="0"/>
                <a:ea typeface="Segoe UI" pitchFamily="34" charset="-122"/>
                <a:cs typeface="Segoe UI" pitchFamily="34" charset="-120"/>
              </a:rPr>
              <a:t>A gateway authenticates and authorizes every request first.</a:t>
            </a:r>
            <a:endParaRPr lang="en-US" sz="1200" dirty="0"/>
          </a:p>
        </p:txBody>
      </p:sp>
      <p:sp>
        <p:nvSpPr>
          <p:cNvPr id="26" name="Shape 21"/>
          <p:cNvSpPr/>
          <p:nvPr/>
        </p:nvSpPr>
        <p:spPr>
          <a:xfrm>
            <a:off x="5330952" y="4754880"/>
            <a:ext cx="1792224" cy="0"/>
          </a:xfrm>
          <a:prstGeom prst="line">
            <a:avLst/>
          </a:prstGeom>
          <a:noFill/>
          <a:ln w="9525">
            <a:solidFill>
              <a:srgbClr val="E1E1E1"/>
            </a:solidFill>
            <a:prstDash val="solid"/>
          </a:ln>
        </p:spPr>
      </p:sp>
      <p:sp>
        <p:nvSpPr>
          <p:cNvPr id="27" name="Text 22"/>
          <p:cNvSpPr txBox="1"/>
          <p:nvPr/>
        </p:nvSpPr>
        <p:spPr>
          <a:xfrm>
            <a:off x="5330952" y="4846320"/>
            <a:ext cx="1837944" cy="914400"/>
          </a:xfrm>
          <a:prstGeom prst="rect">
            <a:avLst/>
          </a:prstGeom>
          <a:noFill/>
          <a:ln/>
        </p:spPr>
        <p:txBody>
          <a:bodyPr wrap="square" lIns="0" tIns="0" rIns="0" bIns="0" rtlCol="0" anchor="t"/>
          <a:lstStyle/>
          <a:p>
            <a:pPr marL="0" indent="0">
              <a:lnSpc>
                <a:spcPts val="1700"/>
              </a:lnSpc>
              <a:buNone/>
            </a:pPr>
            <a:r>
              <a:rPr lang="en-US" sz="1200" dirty="0">
                <a:solidFill>
                  <a:srgbClr val="5A5A5A"/>
                </a:solidFill>
                <a:latin typeface="Segoe UI" pitchFamily="34" charset="0"/>
                <a:ea typeface="Segoe UI" pitchFamily="34" charset="-122"/>
                <a:cs typeface="Segoe UI" pitchFamily="34" charset="-120"/>
              </a:rPr>
              <a:t>One place to secure, but a bottleneck if the gateway goes down.</a:t>
            </a:r>
            <a:endParaRPr lang="en-US" sz="1200" dirty="0"/>
          </a:p>
        </p:txBody>
      </p:sp>
      <p:sp>
        <p:nvSpPr>
          <p:cNvPr id="28" name="Shape 23"/>
          <p:cNvSpPr/>
          <p:nvPr/>
        </p:nvSpPr>
        <p:spPr>
          <a:xfrm>
            <a:off x="7534656" y="2011680"/>
            <a:ext cx="2157984" cy="3840480"/>
          </a:xfrm>
          <a:prstGeom prst="rect">
            <a:avLst/>
          </a:prstGeom>
          <a:solidFill>
            <a:srgbClr val="CFE4F7"/>
          </a:solidFill>
          <a:ln w="9525">
            <a:solidFill>
              <a:srgbClr val="E1E1E1"/>
            </a:solidFill>
            <a:prstDash val="solid"/>
          </a:ln>
          <a:effectLst>
            <a:outerShdw blurRad="50800" dist="38100" dir="2700000" algn="bl" rotWithShape="0">
              <a:srgbClr val="000000">
                <a:alpha val="40000"/>
              </a:srgbClr>
            </a:outerShdw>
          </a:effectLst>
        </p:spPr>
      </p:sp>
      <p:sp>
        <p:nvSpPr>
          <p:cNvPr id="29" name="Shape 24"/>
          <p:cNvSpPr/>
          <p:nvPr/>
        </p:nvSpPr>
        <p:spPr>
          <a:xfrm>
            <a:off x="7717536" y="2212848"/>
            <a:ext cx="566928" cy="566928"/>
          </a:xfrm>
          <a:prstGeom prst="ellipse">
            <a:avLst/>
          </a:prstGeom>
          <a:solidFill>
            <a:srgbClr val="D2D2D2"/>
          </a:solidFill>
          <a:ln/>
        </p:spPr>
      </p:sp>
      <p:pic>
        <p:nvPicPr>
          <p:cNvPr id="30" name="Image 3" descr="preencoded.png"/>
          <p:cNvPicPr>
            <a:picLocks noChangeAspect="1"/>
          </p:cNvPicPr>
          <p:nvPr/>
        </p:nvPicPr>
        <p:blipFill>
          <a:blip r:embed="rId6"/>
          <a:stretch>
            <a:fillRect/>
          </a:stretch>
        </p:blipFill>
        <p:spPr>
          <a:xfrm>
            <a:off x="7859268" y="2354580"/>
            <a:ext cx="283464" cy="283464"/>
          </a:xfrm>
          <a:prstGeom prst="rect">
            <a:avLst/>
          </a:prstGeom>
        </p:spPr>
      </p:pic>
      <p:sp>
        <p:nvSpPr>
          <p:cNvPr id="31" name="Text 25"/>
          <p:cNvSpPr txBox="1"/>
          <p:nvPr/>
        </p:nvSpPr>
        <p:spPr>
          <a:xfrm>
            <a:off x="7717536" y="2926080"/>
            <a:ext cx="1883664" cy="310896"/>
          </a:xfrm>
          <a:prstGeom prst="rect">
            <a:avLst/>
          </a:prstGeom>
          <a:noFill/>
          <a:ln/>
        </p:spPr>
        <p:txBody>
          <a:bodyPr wrap="square" lIns="0" tIns="0" rIns="0" bIns="0" rtlCol="0" anchor="ctr"/>
          <a:lstStyle/>
          <a:p>
            <a:pPr marL="0" indent="0">
              <a:buNone/>
            </a:pPr>
            <a:r>
              <a:rPr lang="en-US" sz="1400" dirty="0">
                <a:solidFill>
                  <a:srgbClr val="000000"/>
                </a:solidFill>
                <a:latin typeface="Segoe UI Semibold" pitchFamily="34" charset="0"/>
                <a:ea typeface="Segoe UI Semibold" pitchFamily="34" charset="-122"/>
                <a:cs typeface="Segoe UI Semibold" pitchFamily="34" charset="-120"/>
              </a:rPr>
              <a:t>Central Auth Server</a:t>
            </a:r>
            <a:endParaRPr lang="en-US" sz="1400" dirty="0"/>
          </a:p>
        </p:txBody>
      </p:sp>
      <p:sp>
        <p:nvSpPr>
          <p:cNvPr id="32" name="Shape 26"/>
          <p:cNvSpPr/>
          <p:nvPr/>
        </p:nvSpPr>
        <p:spPr>
          <a:xfrm>
            <a:off x="7717536" y="3291840"/>
            <a:ext cx="1645920" cy="256032"/>
          </a:xfrm>
          <a:prstGeom prst="roundRect">
            <a:avLst>
              <a:gd name="adj" fmla="val 21429"/>
            </a:avLst>
          </a:prstGeom>
          <a:solidFill>
            <a:srgbClr val="0078D4"/>
          </a:solidFill>
          <a:ln/>
        </p:spPr>
      </p:sp>
      <p:sp>
        <p:nvSpPr>
          <p:cNvPr id="33" name="Text 27"/>
          <p:cNvSpPr txBox="1"/>
          <p:nvPr/>
        </p:nvSpPr>
        <p:spPr>
          <a:xfrm>
            <a:off x="7717536" y="3291840"/>
            <a:ext cx="1645920" cy="256032"/>
          </a:xfrm>
          <a:prstGeom prst="rect">
            <a:avLst/>
          </a:prstGeom>
          <a:noFill/>
          <a:ln/>
        </p:spPr>
        <p:txBody>
          <a:bodyPr wrap="square" lIns="0" tIns="0" rIns="0" bIns="0" rtlCol="0" anchor="ctr"/>
          <a:lstStyle/>
          <a:p>
            <a:pPr marL="0" indent="0" algn="ctr">
              <a:buNone/>
            </a:pPr>
            <a:r>
              <a:rPr lang="en-US" sz="1000" dirty="0">
                <a:solidFill>
                  <a:srgbClr val="FFFFFF"/>
                </a:solidFill>
                <a:latin typeface="Segoe UI Semibold" pitchFamily="34" charset="0"/>
                <a:ea typeface="Segoe UI Semibold" pitchFamily="34" charset="-122"/>
                <a:cs typeface="Segoe UI Semibold" pitchFamily="34" charset="-120"/>
              </a:rPr>
              <a:t>This series' approach</a:t>
            </a:r>
            <a:endParaRPr lang="en-US" sz="1000" dirty="0"/>
          </a:p>
        </p:txBody>
      </p:sp>
      <p:sp>
        <p:nvSpPr>
          <p:cNvPr id="34" name="Text 28"/>
          <p:cNvSpPr txBox="1"/>
          <p:nvPr/>
        </p:nvSpPr>
        <p:spPr>
          <a:xfrm>
            <a:off x="7717536" y="3703320"/>
            <a:ext cx="1837944" cy="1005840"/>
          </a:xfrm>
          <a:prstGeom prst="rect">
            <a:avLst/>
          </a:prstGeom>
          <a:noFill/>
          <a:ln/>
        </p:spPr>
        <p:txBody>
          <a:bodyPr wrap="square" lIns="0" tIns="0" rIns="0" bIns="0" rtlCol="0" anchor="t"/>
          <a:lstStyle/>
          <a:p>
            <a:pPr marL="0" indent="0">
              <a:lnSpc>
                <a:spcPts val="1700"/>
              </a:lnSpc>
              <a:buNone/>
            </a:pPr>
            <a:r>
              <a:rPr lang="en-US" sz="1200" dirty="0">
                <a:solidFill>
                  <a:srgbClr val="000000"/>
                </a:solidFill>
                <a:latin typeface="Segoe UI" pitchFamily="34" charset="0"/>
                <a:ea typeface="Segoe UI" pitchFamily="34" charset="-122"/>
                <a:cs typeface="Segoe UI" pitchFamily="34" charset="-120"/>
              </a:rPr>
              <a:t>A dedicated IAM issues tokens; each Module validates them and checks roles.</a:t>
            </a:r>
            <a:endParaRPr lang="en-US" sz="1200" dirty="0"/>
          </a:p>
        </p:txBody>
      </p:sp>
      <p:sp>
        <p:nvSpPr>
          <p:cNvPr id="35" name="Shape 29"/>
          <p:cNvSpPr/>
          <p:nvPr/>
        </p:nvSpPr>
        <p:spPr>
          <a:xfrm>
            <a:off x="7717536" y="4754880"/>
            <a:ext cx="1792224" cy="0"/>
          </a:xfrm>
          <a:prstGeom prst="line">
            <a:avLst/>
          </a:prstGeom>
          <a:noFill/>
          <a:ln w="9525">
            <a:solidFill>
              <a:srgbClr val="FFFFFF"/>
            </a:solidFill>
            <a:prstDash val="solid"/>
          </a:ln>
        </p:spPr>
      </p:sp>
      <p:sp>
        <p:nvSpPr>
          <p:cNvPr id="36" name="Text 30"/>
          <p:cNvSpPr txBox="1"/>
          <p:nvPr/>
        </p:nvSpPr>
        <p:spPr>
          <a:xfrm>
            <a:off x="7717536" y="4846320"/>
            <a:ext cx="1837944" cy="914400"/>
          </a:xfrm>
          <a:prstGeom prst="rect">
            <a:avLst/>
          </a:prstGeom>
          <a:noFill/>
          <a:ln/>
        </p:spPr>
        <p:txBody>
          <a:bodyPr wrap="square" lIns="0" tIns="0" rIns="0" bIns="0" rtlCol="0" anchor="t"/>
          <a:lstStyle/>
          <a:p>
            <a:pPr marL="0" indent="0">
              <a:lnSpc>
                <a:spcPts val="1700"/>
              </a:lnSpc>
              <a:buNone/>
            </a:pPr>
            <a:r>
              <a:rPr lang="en-US" sz="1200" dirty="0">
                <a:solidFill>
                  <a:srgbClr val="5A5A5A"/>
                </a:solidFill>
                <a:latin typeface="Segoe UI" pitchFamily="34" charset="0"/>
                <a:ea typeface="Segoe UI" pitchFamily="34" charset="-122"/>
                <a:cs typeface="Segoe UI" pitchFamily="34" charset="-120"/>
              </a:rPr>
              <a:t>Consistent, scalable and auditable. This is where we are heading.</a:t>
            </a:r>
            <a:endParaRPr lang="en-US" sz="1200" dirty="0"/>
          </a:p>
        </p:txBody>
      </p:sp>
      <p:sp>
        <p:nvSpPr>
          <p:cNvPr id="37" name="Text 31"/>
          <p:cNvSpPr txBox="1"/>
          <p:nvPr/>
        </p:nvSpPr>
        <p:spPr>
          <a:xfrm>
            <a:off x="374904" y="6089904"/>
            <a:ext cx="9308592" cy="630936"/>
          </a:xfrm>
          <a:prstGeom prst="rect">
            <a:avLst/>
          </a:prstGeom>
          <a:noFill/>
          <a:ln/>
        </p:spPr>
        <p:txBody>
          <a:bodyPr wrap="square" lIns="0" tIns="0" rIns="0" bIns="0" rtlCol="0" anchor="t"/>
          <a:lstStyle/>
          <a:p>
            <a:pPr marL="0" indent="0">
              <a:lnSpc>
                <a:spcPts val="2200"/>
              </a:lnSpc>
              <a:buNone/>
            </a:pPr>
            <a:r>
              <a:rPr lang="en-US" sz="1400" dirty="0">
                <a:solidFill>
                  <a:srgbClr val="000000"/>
                </a:solidFill>
                <a:latin typeface="Segoe UI" pitchFamily="34" charset="0"/>
                <a:ea typeface="Segoe UI" pitchFamily="34" charset="-122"/>
                <a:cs typeface="Segoe UI" pitchFamily="34" charset="-120"/>
              </a:rPr>
              <a:t>Each step trades simplicity for </a:t>
            </a:r>
            <a:r>
              <a:rPr lang="en-US" sz="1400" b="1" dirty="0">
                <a:solidFill>
                  <a:srgbClr val="000000"/>
                </a:solidFill>
                <a:latin typeface="Segoe UI" pitchFamily="34" charset="0"/>
                <a:ea typeface="Segoe UI" pitchFamily="34" charset="-122"/>
                <a:cs typeface="Segoe UI" pitchFamily="34" charset="-120"/>
              </a:rPr>
              <a:t>consistency</a:t>
            </a:r>
            <a:r>
              <a:rPr lang="en-US" sz="1400" dirty="0">
                <a:solidFill>
                  <a:srgbClr val="000000"/>
                </a:solidFill>
                <a:latin typeface="Segoe UI" pitchFamily="34" charset="0"/>
                <a:ea typeface="Segoe UI" pitchFamily="34" charset="-122"/>
                <a:cs typeface="Segoe UI" pitchFamily="34" charset="-120"/>
              </a:rPr>
              <a:t>. Centralization wins as the number of services/modules grows.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74904" y="475488"/>
            <a:ext cx="9308592" cy="576072"/>
          </a:xfrm>
          <a:prstGeom prst="rect">
            <a:avLst/>
          </a:prstGeom>
          <a:noFill/>
          <a:ln/>
        </p:spPr>
        <p:txBody>
          <a:bodyPr wrap="square" lIns="0" tIns="0" rIns="0" bIns="0" rtlCol="0" anchor="ctr"/>
          <a:lstStyle/>
          <a:p>
            <a:pPr marL="0" indent="0">
              <a:buNone/>
            </a:pPr>
            <a:r>
              <a:rPr lang="en-US" sz="2400" b="1" dirty="0">
                <a:solidFill>
                  <a:srgbClr val="000000"/>
                </a:solidFill>
                <a:latin typeface="Segoe UI" pitchFamily="34" charset="0"/>
                <a:ea typeface="Segoe UI" pitchFamily="34" charset="-122"/>
                <a:cs typeface="Segoe UI" pitchFamily="34" charset="-120"/>
              </a:rPr>
              <a:t>5. Authentication vs. authorization</a:t>
            </a:r>
            <a:endParaRPr lang="en-US" sz="2400" dirty="0"/>
          </a:p>
        </p:txBody>
      </p:sp>
      <p:sp>
        <p:nvSpPr>
          <p:cNvPr id="3" name="Text 1"/>
          <p:cNvSpPr txBox="1"/>
          <p:nvPr/>
        </p:nvSpPr>
        <p:spPr>
          <a:xfrm>
            <a:off x="374904" y="1234440"/>
            <a:ext cx="9308592" cy="521208"/>
          </a:xfrm>
          <a:prstGeom prst="rect">
            <a:avLst/>
          </a:prstGeom>
          <a:noFill/>
          <a:ln/>
        </p:spPr>
        <p:txBody>
          <a:bodyPr wrap="square" lIns="0" tIns="0" rIns="0" bIns="0" rtlCol="0" anchor="t"/>
          <a:lstStyle/>
          <a:p>
            <a:pPr marL="0" indent="0">
              <a:buNone/>
            </a:pPr>
            <a:r>
              <a:rPr lang="en-US" sz="1400" dirty="0">
                <a:solidFill>
                  <a:srgbClr val="000000"/>
                </a:solidFill>
                <a:latin typeface="Segoe UI" pitchFamily="34" charset="0"/>
                <a:ea typeface="Segoe UI" pitchFamily="34" charset="-122"/>
                <a:cs typeface="Segoe UI" pitchFamily="34" charset="-120"/>
              </a:rPr>
              <a:t>Two ideas people often mix up. Both are required, and one never substitutes for the other.</a:t>
            </a:r>
            <a:endParaRPr lang="en-US" sz="1400" dirty="0"/>
          </a:p>
        </p:txBody>
      </p:sp>
      <p:sp>
        <p:nvSpPr>
          <p:cNvPr id="4" name="Shape 2"/>
          <p:cNvSpPr/>
          <p:nvPr/>
        </p:nvSpPr>
        <p:spPr>
          <a:xfrm>
            <a:off x="374904" y="2011680"/>
            <a:ext cx="4398264" cy="3749040"/>
          </a:xfrm>
          <a:prstGeom prst="rect">
            <a:avLst/>
          </a:prstGeom>
          <a:solidFill>
            <a:srgbClr val="FFFFFF"/>
          </a:solidFill>
          <a:ln w="9525">
            <a:solidFill>
              <a:srgbClr val="E1E1E1"/>
            </a:solidFill>
            <a:prstDash val="solid"/>
          </a:ln>
          <a:effectLst>
            <a:outerShdw blurRad="50800" dist="38100" dir="2700000" algn="bl" rotWithShape="0">
              <a:srgbClr val="000000">
                <a:alpha val="40000"/>
              </a:srgbClr>
            </a:outerShdw>
          </a:effectLst>
        </p:spPr>
      </p:sp>
      <p:sp>
        <p:nvSpPr>
          <p:cNvPr id="5" name="Shape 3"/>
          <p:cNvSpPr/>
          <p:nvPr/>
        </p:nvSpPr>
        <p:spPr>
          <a:xfrm>
            <a:off x="374904" y="2011680"/>
            <a:ext cx="4398264" cy="457200"/>
          </a:xfrm>
          <a:prstGeom prst="rect">
            <a:avLst/>
          </a:prstGeom>
          <a:solidFill>
            <a:srgbClr val="0078D4"/>
          </a:solidFill>
          <a:ln/>
        </p:spPr>
      </p:sp>
      <p:sp>
        <p:nvSpPr>
          <p:cNvPr id="6" name="Text 4"/>
          <p:cNvSpPr txBox="1"/>
          <p:nvPr/>
        </p:nvSpPr>
        <p:spPr>
          <a:xfrm>
            <a:off x="603504" y="2011680"/>
            <a:ext cx="3941064" cy="457200"/>
          </a:xfrm>
          <a:prstGeom prst="rect">
            <a:avLst/>
          </a:prstGeom>
          <a:noFill/>
          <a:ln/>
        </p:spPr>
        <p:txBody>
          <a:bodyPr wrap="square" lIns="0" tIns="0" rIns="0" bIns="0" rtlCol="0" anchor="ctr"/>
          <a:lstStyle/>
          <a:p>
            <a:pPr marL="0" indent="0">
              <a:buNone/>
            </a:pPr>
            <a:r>
              <a:rPr lang="en-US" sz="1600" dirty="0">
                <a:solidFill>
                  <a:srgbClr val="FFFFFF"/>
                </a:solidFill>
                <a:latin typeface="Segoe UI" pitchFamily="34" charset="0"/>
                <a:ea typeface="Segoe UI" pitchFamily="34" charset="-122"/>
                <a:cs typeface="Segoe UI" pitchFamily="34" charset="-120"/>
              </a:rPr>
              <a:t>Authentication</a:t>
            </a:r>
            <a:endParaRPr lang="en-US" sz="1600" dirty="0"/>
          </a:p>
        </p:txBody>
      </p:sp>
      <p:sp>
        <p:nvSpPr>
          <p:cNvPr id="7" name="Shape 5"/>
          <p:cNvSpPr/>
          <p:nvPr/>
        </p:nvSpPr>
        <p:spPr>
          <a:xfrm>
            <a:off x="603504" y="2697480"/>
            <a:ext cx="731520" cy="731520"/>
          </a:xfrm>
          <a:prstGeom prst="ellipse">
            <a:avLst/>
          </a:prstGeom>
          <a:solidFill>
            <a:srgbClr val="D2D2D2"/>
          </a:solidFill>
          <a:ln/>
        </p:spPr>
      </p:sp>
      <p:pic>
        <p:nvPicPr>
          <p:cNvPr id="8" name="Image 0" descr="preencoded.png"/>
          <p:cNvPicPr>
            <a:picLocks noChangeAspect="1"/>
          </p:cNvPicPr>
          <p:nvPr/>
        </p:nvPicPr>
        <p:blipFill>
          <a:blip r:embed="rId3"/>
          <a:stretch>
            <a:fillRect/>
          </a:stretch>
        </p:blipFill>
        <p:spPr>
          <a:xfrm>
            <a:off x="786384" y="2880360"/>
            <a:ext cx="365760" cy="365760"/>
          </a:xfrm>
          <a:prstGeom prst="rect">
            <a:avLst/>
          </a:prstGeom>
        </p:spPr>
      </p:pic>
      <p:sp>
        <p:nvSpPr>
          <p:cNvPr id="9" name="Text 6"/>
          <p:cNvSpPr txBox="1"/>
          <p:nvPr/>
        </p:nvSpPr>
        <p:spPr>
          <a:xfrm>
            <a:off x="1517904" y="2788920"/>
            <a:ext cx="3209544" cy="548640"/>
          </a:xfrm>
          <a:prstGeom prst="rect">
            <a:avLst/>
          </a:prstGeom>
          <a:noFill/>
          <a:ln/>
        </p:spPr>
        <p:txBody>
          <a:bodyPr wrap="square" lIns="0" tIns="0" rIns="0" bIns="0" rtlCol="0" anchor="ctr"/>
          <a:lstStyle/>
          <a:p>
            <a:pPr marL="0" indent="0">
              <a:buNone/>
            </a:pPr>
            <a:r>
              <a:rPr lang="en-US" sz="2000" dirty="0">
                <a:solidFill>
                  <a:srgbClr val="0078D4"/>
                </a:solidFill>
                <a:latin typeface="Segoe UI Semibold" pitchFamily="34" charset="0"/>
                <a:ea typeface="Segoe UI Semibold" pitchFamily="34" charset="-122"/>
                <a:cs typeface="Segoe UI Semibold" pitchFamily="34" charset="-120"/>
              </a:rPr>
              <a:t>"Who are you?"</a:t>
            </a:r>
            <a:endParaRPr lang="en-US" sz="2000" dirty="0"/>
          </a:p>
        </p:txBody>
      </p:sp>
      <p:pic>
        <p:nvPicPr>
          <p:cNvPr id="10" name="Image 1" descr="preencoded.png"/>
          <p:cNvPicPr>
            <a:picLocks noChangeAspect="1"/>
          </p:cNvPicPr>
          <p:nvPr/>
        </p:nvPicPr>
        <p:blipFill>
          <a:blip r:embed="rId4"/>
          <a:stretch>
            <a:fillRect/>
          </a:stretch>
        </p:blipFill>
        <p:spPr>
          <a:xfrm>
            <a:off x="649224" y="3794760"/>
            <a:ext cx="201168" cy="201168"/>
          </a:xfrm>
          <a:prstGeom prst="rect">
            <a:avLst/>
          </a:prstGeom>
        </p:spPr>
      </p:pic>
      <p:sp>
        <p:nvSpPr>
          <p:cNvPr id="11" name="Text 7"/>
          <p:cNvSpPr txBox="1"/>
          <p:nvPr/>
        </p:nvSpPr>
        <p:spPr>
          <a:xfrm>
            <a:off x="1014984" y="3749040"/>
            <a:ext cx="3575304" cy="548640"/>
          </a:xfrm>
          <a:prstGeom prst="rect">
            <a:avLst/>
          </a:prstGeom>
          <a:noFill/>
          <a:ln/>
        </p:spPr>
        <p:txBody>
          <a:bodyPr wrap="square" lIns="0" tIns="0" rIns="0" bIns="0" rtlCol="0" anchor="t"/>
          <a:lstStyle/>
          <a:p>
            <a:pPr marL="0" indent="0">
              <a:lnSpc>
                <a:spcPts val="2000"/>
              </a:lnSpc>
              <a:buNone/>
            </a:pPr>
            <a:r>
              <a:rPr lang="en-US" sz="1400" dirty="0">
                <a:solidFill>
                  <a:srgbClr val="000000"/>
                </a:solidFill>
                <a:latin typeface="Segoe UI" pitchFamily="34" charset="0"/>
                <a:ea typeface="Segoe UI" pitchFamily="34" charset="-122"/>
                <a:cs typeface="Segoe UI" pitchFamily="34" charset="-120"/>
              </a:rPr>
              <a:t>Verifies identity with credentials or MFA</a:t>
            </a:r>
            <a:endParaRPr lang="en-US" sz="1400" dirty="0"/>
          </a:p>
        </p:txBody>
      </p:sp>
      <p:pic>
        <p:nvPicPr>
          <p:cNvPr id="12" name="Image 2" descr="preencoded.png"/>
          <p:cNvPicPr>
            <a:picLocks noChangeAspect="1"/>
          </p:cNvPicPr>
          <p:nvPr/>
        </p:nvPicPr>
        <p:blipFill>
          <a:blip r:embed="rId4"/>
          <a:stretch>
            <a:fillRect/>
          </a:stretch>
        </p:blipFill>
        <p:spPr>
          <a:xfrm>
            <a:off x="649224" y="4416552"/>
            <a:ext cx="201168" cy="201168"/>
          </a:xfrm>
          <a:prstGeom prst="rect">
            <a:avLst/>
          </a:prstGeom>
        </p:spPr>
      </p:pic>
      <p:sp>
        <p:nvSpPr>
          <p:cNvPr id="13" name="Text 8"/>
          <p:cNvSpPr txBox="1"/>
          <p:nvPr/>
        </p:nvSpPr>
        <p:spPr>
          <a:xfrm>
            <a:off x="1014984" y="4370832"/>
            <a:ext cx="3575304" cy="548640"/>
          </a:xfrm>
          <a:prstGeom prst="rect">
            <a:avLst/>
          </a:prstGeom>
          <a:noFill/>
          <a:ln/>
        </p:spPr>
        <p:txBody>
          <a:bodyPr wrap="square" lIns="0" tIns="0" rIns="0" bIns="0" rtlCol="0" anchor="t"/>
          <a:lstStyle/>
          <a:p>
            <a:pPr marL="0" indent="0">
              <a:lnSpc>
                <a:spcPts val="2000"/>
              </a:lnSpc>
              <a:buNone/>
            </a:pPr>
            <a:r>
              <a:rPr lang="en-US" sz="1400" dirty="0">
                <a:solidFill>
                  <a:srgbClr val="000000"/>
                </a:solidFill>
                <a:latin typeface="Segoe UI" pitchFamily="34" charset="0"/>
                <a:ea typeface="Segoe UI" pitchFamily="34" charset="-122"/>
                <a:cs typeface="Segoe UI" pitchFamily="34" charset="-120"/>
              </a:rPr>
              <a:t>Happens once, at login</a:t>
            </a:r>
            <a:endParaRPr lang="en-US" sz="1400" dirty="0"/>
          </a:p>
        </p:txBody>
      </p:sp>
      <p:pic>
        <p:nvPicPr>
          <p:cNvPr id="14" name="Image 3" descr="preencoded.png"/>
          <p:cNvPicPr>
            <a:picLocks noChangeAspect="1"/>
          </p:cNvPicPr>
          <p:nvPr/>
        </p:nvPicPr>
        <p:blipFill>
          <a:blip r:embed="rId4"/>
          <a:stretch>
            <a:fillRect/>
          </a:stretch>
        </p:blipFill>
        <p:spPr>
          <a:xfrm>
            <a:off x="649224" y="5038344"/>
            <a:ext cx="201168" cy="201168"/>
          </a:xfrm>
          <a:prstGeom prst="rect">
            <a:avLst/>
          </a:prstGeom>
        </p:spPr>
      </p:pic>
      <p:sp>
        <p:nvSpPr>
          <p:cNvPr id="15" name="Text 9"/>
          <p:cNvSpPr txBox="1"/>
          <p:nvPr/>
        </p:nvSpPr>
        <p:spPr>
          <a:xfrm>
            <a:off x="1014984" y="4992624"/>
            <a:ext cx="3575304" cy="548640"/>
          </a:xfrm>
          <a:prstGeom prst="rect">
            <a:avLst/>
          </a:prstGeom>
          <a:noFill/>
          <a:ln/>
        </p:spPr>
        <p:txBody>
          <a:bodyPr wrap="square" lIns="0" tIns="0" rIns="0" bIns="0" rtlCol="0" anchor="t"/>
          <a:lstStyle/>
          <a:p>
            <a:pPr marL="0" indent="0">
              <a:lnSpc>
                <a:spcPts val="2000"/>
              </a:lnSpc>
              <a:buNone/>
            </a:pPr>
            <a:r>
              <a:rPr lang="en-US" sz="1400" dirty="0">
                <a:solidFill>
                  <a:srgbClr val="000000"/>
                </a:solidFill>
                <a:latin typeface="Segoe UI" pitchFamily="34" charset="0"/>
                <a:ea typeface="Segoe UI" pitchFamily="34" charset="-122"/>
                <a:cs typeface="Segoe UI" pitchFamily="34" charset="-120"/>
              </a:rPr>
              <a:t>Produces proof of identity (a token)</a:t>
            </a:r>
            <a:endParaRPr lang="en-US" sz="1400" dirty="0"/>
          </a:p>
        </p:txBody>
      </p:sp>
      <p:sp>
        <p:nvSpPr>
          <p:cNvPr id="16" name="Text 10"/>
          <p:cNvSpPr txBox="1"/>
          <p:nvPr/>
        </p:nvSpPr>
        <p:spPr>
          <a:xfrm>
            <a:off x="374904" y="6089904"/>
            <a:ext cx="4398264" cy="630936"/>
          </a:xfrm>
          <a:prstGeom prst="rect">
            <a:avLst/>
          </a:prstGeom>
          <a:noFill/>
          <a:ln/>
        </p:spPr>
        <p:txBody>
          <a:bodyPr wrap="square" lIns="0" tIns="0" rIns="0" bIns="0" rtlCol="0" anchor="t"/>
          <a:lstStyle/>
          <a:p>
            <a:pPr marL="0" indent="0">
              <a:lnSpc>
                <a:spcPts val="2200"/>
              </a:lnSpc>
              <a:buNone/>
            </a:pPr>
            <a:r>
              <a:rPr lang="en-US" sz="1400" dirty="0">
                <a:solidFill>
                  <a:srgbClr val="000000"/>
                </a:solidFill>
                <a:latin typeface="Segoe UI" pitchFamily="34" charset="0"/>
                <a:ea typeface="Segoe UI" pitchFamily="34" charset="-122"/>
                <a:cs typeface="Segoe UI" pitchFamily="34" charset="-120"/>
              </a:rPr>
              <a:t>Example: entering </a:t>
            </a:r>
            <a:r>
              <a:rPr lang="en-US" sz="1400" b="1" dirty="0">
                <a:solidFill>
                  <a:srgbClr val="000000"/>
                </a:solidFill>
                <a:latin typeface="Segoe UI" pitchFamily="34" charset="0"/>
                <a:ea typeface="Segoe UI" pitchFamily="34" charset="-122"/>
                <a:cs typeface="Segoe UI" pitchFamily="34" charset="-120"/>
              </a:rPr>
              <a:t>username + password</a:t>
            </a:r>
            <a:r>
              <a:rPr lang="en-US" sz="1400" dirty="0">
                <a:solidFill>
                  <a:srgbClr val="000000"/>
                </a:solidFill>
                <a:latin typeface="Segoe UI" pitchFamily="34" charset="0"/>
                <a:ea typeface="Segoe UI" pitchFamily="34" charset="-122"/>
                <a:cs typeface="Segoe UI" pitchFamily="34" charset="-120"/>
              </a:rPr>
              <a:t> on the login page.</a:t>
            </a:r>
            <a:endParaRPr lang="en-US" sz="1400" dirty="0"/>
          </a:p>
        </p:txBody>
      </p:sp>
      <p:sp>
        <p:nvSpPr>
          <p:cNvPr id="17" name="Shape 11"/>
          <p:cNvSpPr/>
          <p:nvPr/>
        </p:nvSpPr>
        <p:spPr>
          <a:xfrm>
            <a:off x="5440680" y="2011680"/>
            <a:ext cx="3858768" cy="3749040"/>
          </a:xfrm>
          <a:prstGeom prst="rect">
            <a:avLst/>
          </a:prstGeom>
          <a:solidFill>
            <a:srgbClr val="FFFFFF"/>
          </a:solidFill>
          <a:ln w="9525">
            <a:solidFill>
              <a:srgbClr val="E1E1E1"/>
            </a:solidFill>
            <a:prstDash val="solid"/>
          </a:ln>
          <a:effectLst>
            <a:outerShdw blurRad="50800" dist="38100" dir="2700000" algn="bl" rotWithShape="0">
              <a:srgbClr val="000000">
                <a:alpha val="40000"/>
              </a:srgbClr>
            </a:outerShdw>
          </a:effectLst>
        </p:spPr>
      </p:sp>
      <p:sp>
        <p:nvSpPr>
          <p:cNvPr id="18" name="Shape 12"/>
          <p:cNvSpPr/>
          <p:nvPr/>
        </p:nvSpPr>
        <p:spPr>
          <a:xfrm>
            <a:off x="5440680" y="2011680"/>
            <a:ext cx="3858768" cy="457200"/>
          </a:xfrm>
          <a:prstGeom prst="rect">
            <a:avLst/>
          </a:prstGeom>
          <a:solidFill>
            <a:srgbClr val="0078D4"/>
          </a:solidFill>
          <a:ln/>
        </p:spPr>
      </p:sp>
      <p:sp>
        <p:nvSpPr>
          <p:cNvPr id="19" name="Text 13"/>
          <p:cNvSpPr txBox="1"/>
          <p:nvPr/>
        </p:nvSpPr>
        <p:spPr>
          <a:xfrm>
            <a:off x="5669280" y="2011680"/>
            <a:ext cx="3401568" cy="457200"/>
          </a:xfrm>
          <a:prstGeom prst="rect">
            <a:avLst/>
          </a:prstGeom>
          <a:noFill/>
          <a:ln/>
        </p:spPr>
        <p:txBody>
          <a:bodyPr wrap="square" lIns="0" tIns="0" rIns="0" bIns="0" rtlCol="0" anchor="ctr"/>
          <a:lstStyle/>
          <a:p>
            <a:pPr marL="0" indent="0">
              <a:buNone/>
            </a:pPr>
            <a:r>
              <a:rPr lang="en-US" sz="1600" dirty="0">
                <a:solidFill>
                  <a:srgbClr val="FFFFFF"/>
                </a:solidFill>
                <a:latin typeface="Segoe UI" pitchFamily="34" charset="0"/>
                <a:ea typeface="Segoe UI" pitchFamily="34" charset="-122"/>
                <a:cs typeface="Segoe UI" pitchFamily="34" charset="-120"/>
              </a:rPr>
              <a:t>Authorization</a:t>
            </a:r>
            <a:endParaRPr lang="en-US" sz="1600" dirty="0"/>
          </a:p>
        </p:txBody>
      </p:sp>
      <p:sp>
        <p:nvSpPr>
          <p:cNvPr id="20" name="Shape 14"/>
          <p:cNvSpPr/>
          <p:nvPr/>
        </p:nvSpPr>
        <p:spPr>
          <a:xfrm>
            <a:off x="5669280" y="2697480"/>
            <a:ext cx="731520" cy="731520"/>
          </a:xfrm>
          <a:prstGeom prst="ellipse">
            <a:avLst/>
          </a:prstGeom>
          <a:solidFill>
            <a:srgbClr val="D2D2D2"/>
          </a:solidFill>
          <a:ln/>
        </p:spPr>
      </p:sp>
      <p:pic>
        <p:nvPicPr>
          <p:cNvPr id="21" name="Image 4" descr="preencoded.png"/>
          <p:cNvPicPr>
            <a:picLocks noChangeAspect="1"/>
          </p:cNvPicPr>
          <p:nvPr/>
        </p:nvPicPr>
        <p:blipFill>
          <a:blip r:embed="rId5"/>
          <a:stretch>
            <a:fillRect/>
          </a:stretch>
        </p:blipFill>
        <p:spPr>
          <a:xfrm>
            <a:off x="5852160" y="2880360"/>
            <a:ext cx="365760" cy="365760"/>
          </a:xfrm>
          <a:prstGeom prst="rect">
            <a:avLst/>
          </a:prstGeom>
        </p:spPr>
      </p:pic>
      <p:sp>
        <p:nvSpPr>
          <p:cNvPr id="22" name="Text 15"/>
          <p:cNvSpPr txBox="1"/>
          <p:nvPr/>
        </p:nvSpPr>
        <p:spPr>
          <a:xfrm>
            <a:off x="6583680" y="2788920"/>
            <a:ext cx="2670048" cy="548640"/>
          </a:xfrm>
          <a:prstGeom prst="rect">
            <a:avLst/>
          </a:prstGeom>
          <a:noFill/>
          <a:ln/>
        </p:spPr>
        <p:txBody>
          <a:bodyPr wrap="square" lIns="0" tIns="0" rIns="0" bIns="0" rtlCol="0" anchor="ctr"/>
          <a:lstStyle/>
          <a:p>
            <a:pPr marL="0" indent="0">
              <a:buNone/>
            </a:pPr>
            <a:r>
              <a:rPr lang="en-US" sz="2000" dirty="0">
                <a:solidFill>
                  <a:srgbClr val="0078D4"/>
                </a:solidFill>
                <a:latin typeface="Segoe UI Semibold" pitchFamily="34" charset="0"/>
                <a:ea typeface="Segoe UI Semibold" pitchFamily="34" charset="-122"/>
                <a:cs typeface="Segoe UI Semibold" pitchFamily="34" charset="-120"/>
              </a:rPr>
              <a:t>"What can you do?"</a:t>
            </a:r>
            <a:endParaRPr lang="en-US" sz="2000" dirty="0"/>
          </a:p>
        </p:txBody>
      </p:sp>
      <p:pic>
        <p:nvPicPr>
          <p:cNvPr id="23" name="Image 5" descr="preencoded.png"/>
          <p:cNvPicPr>
            <a:picLocks noChangeAspect="1"/>
          </p:cNvPicPr>
          <p:nvPr/>
        </p:nvPicPr>
        <p:blipFill>
          <a:blip r:embed="rId4"/>
          <a:stretch>
            <a:fillRect/>
          </a:stretch>
        </p:blipFill>
        <p:spPr>
          <a:xfrm>
            <a:off x="5715000" y="3794760"/>
            <a:ext cx="201168" cy="201168"/>
          </a:xfrm>
          <a:prstGeom prst="rect">
            <a:avLst/>
          </a:prstGeom>
        </p:spPr>
      </p:pic>
      <p:sp>
        <p:nvSpPr>
          <p:cNvPr id="24" name="Text 16"/>
          <p:cNvSpPr txBox="1"/>
          <p:nvPr/>
        </p:nvSpPr>
        <p:spPr>
          <a:xfrm>
            <a:off x="6080760" y="3749040"/>
            <a:ext cx="3035808" cy="548640"/>
          </a:xfrm>
          <a:prstGeom prst="rect">
            <a:avLst/>
          </a:prstGeom>
          <a:noFill/>
          <a:ln/>
        </p:spPr>
        <p:txBody>
          <a:bodyPr wrap="square" lIns="0" tIns="0" rIns="0" bIns="0" rtlCol="0" anchor="t"/>
          <a:lstStyle/>
          <a:p>
            <a:pPr marL="0" indent="0">
              <a:lnSpc>
                <a:spcPts val="2000"/>
              </a:lnSpc>
              <a:buNone/>
            </a:pPr>
            <a:r>
              <a:rPr lang="en-US" sz="1400" dirty="0">
                <a:solidFill>
                  <a:srgbClr val="000000"/>
                </a:solidFill>
                <a:latin typeface="Segoe UI" pitchFamily="34" charset="0"/>
                <a:ea typeface="Segoe UI" pitchFamily="34" charset="-122"/>
                <a:cs typeface="Segoe UI" pitchFamily="34" charset="-120"/>
              </a:rPr>
              <a:t>Governs access to resources</a:t>
            </a:r>
            <a:endParaRPr lang="en-US" sz="1400" dirty="0"/>
          </a:p>
        </p:txBody>
      </p:sp>
      <p:pic>
        <p:nvPicPr>
          <p:cNvPr id="25" name="Image 6" descr="preencoded.png"/>
          <p:cNvPicPr>
            <a:picLocks noChangeAspect="1"/>
          </p:cNvPicPr>
          <p:nvPr/>
        </p:nvPicPr>
        <p:blipFill>
          <a:blip r:embed="rId4"/>
          <a:stretch>
            <a:fillRect/>
          </a:stretch>
        </p:blipFill>
        <p:spPr>
          <a:xfrm>
            <a:off x="5715000" y="4416552"/>
            <a:ext cx="201168" cy="201168"/>
          </a:xfrm>
          <a:prstGeom prst="rect">
            <a:avLst/>
          </a:prstGeom>
        </p:spPr>
      </p:pic>
      <p:sp>
        <p:nvSpPr>
          <p:cNvPr id="26" name="Text 17"/>
          <p:cNvSpPr txBox="1"/>
          <p:nvPr/>
        </p:nvSpPr>
        <p:spPr>
          <a:xfrm>
            <a:off x="6080760" y="4370832"/>
            <a:ext cx="3035808" cy="548640"/>
          </a:xfrm>
          <a:prstGeom prst="rect">
            <a:avLst/>
          </a:prstGeom>
          <a:noFill/>
          <a:ln/>
        </p:spPr>
        <p:txBody>
          <a:bodyPr wrap="square" lIns="0" tIns="0" rIns="0" bIns="0" rtlCol="0" anchor="t"/>
          <a:lstStyle/>
          <a:p>
            <a:pPr marL="0" indent="0">
              <a:lnSpc>
                <a:spcPts val="2000"/>
              </a:lnSpc>
              <a:buNone/>
            </a:pPr>
            <a:r>
              <a:rPr lang="en-US" sz="1400" dirty="0">
                <a:solidFill>
                  <a:srgbClr val="000000"/>
                </a:solidFill>
                <a:latin typeface="Segoe UI" pitchFamily="34" charset="0"/>
                <a:ea typeface="Segoe UI" pitchFamily="34" charset="-122"/>
                <a:cs typeface="Segoe UI" pitchFamily="34" charset="-120"/>
              </a:rPr>
              <a:t>Checked on every request</a:t>
            </a:r>
            <a:endParaRPr lang="en-US" sz="1400" dirty="0"/>
          </a:p>
        </p:txBody>
      </p:sp>
      <p:pic>
        <p:nvPicPr>
          <p:cNvPr id="27" name="Image 7" descr="preencoded.png"/>
          <p:cNvPicPr>
            <a:picLocks noChangeAspect="1"/>
          </p:cNvPicPr>
          <p:nvPr/>
        </p:nvPicPr>
        <p:blipFill>
          <a:blip r:embed="rId4"/>
          <a:stretch>
            <a:fillRect/>
          </a:stretch>
        </p:blipFill>
        <p:spPr>
          <a:xfrm>
            <a:off x="5715000" y="5038344"/>
            <a:ext cx="201168" cy="201168"/>
          </a:xfrm>
          <a:prstGeom prst="rect">
            <a:avLst/>
          </a:prstGeom>
        </p:spPr>
      </p:pic>
      <p:sp>
        <p:nvSpPr>
          <p:cNvPr id="28" name="Text 18"/>
          <p:cNvSpPr txBox="1"/>
          <p:nvPr/>
        </p:nvSpPr>
        <p:spPr>
          <a:xfrm>
            <a:off x="6080760" y="4992624"/>
            <a:ext cx="3035808" cy="548640"/>
          </a:xfrm>
          <a:prstGeom prst="rect">
            <a:avLst/>
          </a:prstGeom>
          <a:noFill/>
          <a:ln/>
        </p:spPr>
        <p:txBody>
          <a:bodyPr wrap="square" lIns="0" tIns="0" rIns="0" bIns="0" rtlCol="0" anchor="t"/>
          <a:lstStyle/>
          <a:p>
            <a:pPr marL="0" indent="0">
              <a:lnSpc>
                <a:spcPts val="2000"/>
              </a:lnSpc>
              <a:buNone/>
            </a:pPr>
            <a:r>
              <a:rPr lang="en-US" sz="1400" dirty="0">
                <a:solidFill>
                  <a:srgbClr val="000000"/>
                </a:solidFill>
                <a:latin typeface="Segoe UI" pitchFamily="34" charset="0"/>
                <a:ea typeface="Segoe UI" pitchFamily="34" charset="-122"/>
                <a:cs typeface="Segoe UI" pitchFamily="34" charset="-120"/>
              </a:rPr>
              <a:t>Enforced by roles and scopes</a:t>
            </a:r>
            <a:endParaRPr lang="en-US" sz="1400" dirty="0"/>
          </a:p>
        </p:txBody>
      </p:sp>
      <p:sp>
        <p:nvSpPr>
          <p:cNvPr id="29" name="Text 19"/>
          <p:cNvSpPr txBox="1"/>
          <p:nvPr/>
        </p:nvSpPr>
        <p:spPr>
          <a:xfrm>
            <a:off x="5440680" y="6089904"/>
            <a:ext cx="3858768" cy="630936"/>
          </a:xfrm>
          <a:prstGeom prst="rect">
            <a:avLst/>
          </a:prstGeom>
          <a:noFill/>
          <a:ln/>
        </p:spPr>
        <p:txBody>
          <a:bodyPr wrap="square" lIns="0" tIns="0" rIns="0" bIns="0" rtlCol="0" anchor="t"/>
          <a:lstStyle/>
          <a:p>
            <a:pPr marL="0" indent="0">
              <a:lnSpc>
                <a:spcPts val="2200"/>
              </a:lnSpc>
              <a:buNone/>
            </a:pPr>
            <a:r>
              <a:rPr lang="en-US" sz="1400" dirty="0">
                <a:solidFill>
                  <a:srgbClr val="000000"/>
                </a:solidFill>
                <a:latin typeface="Segoe UI" pitchFamily="34" charset="0"/>
                <a:ea typeface="Segoe UI" pitchFamily="34" charset="-122"/>
                <a:cs typeface="Segoe UI" pitchFamily="34" charset="-120"/>
              </a:rPr>
              <a:t>Example: can this user </a:t>
            </a:r>
            <a:r>
              <a:rPr lang="en-US" sz="1400" b="1" dirty="0">
                <a:solidFill>
                  <a:srgbClr val="000000"/>
                </a:solidFill>
                <a:latin typeface="Segoe UI" pitchFamily="34" charset="0"/>
                <a:ea typeface="Segoe UI" pitchFamily="34" charset="-122"/>
                <a:cs typeface="Segoe UI" pitchFamily="34" charset="-120"/>
              </a:rPr>
              <a:t>approve a $10,000 payment</a:t>
            </a:r>
            <a:r>
              <a:rPr lang="en-US" sz="1400" dirty="0">
                <a:solidFill>
                  <a:srgbClr val="000000"/>
                </a:solidFill>
                <a:latin typeface="Segoe UI" pitchFamily="34" charset="0"/>
                <a:ea typeface="Segoe UI" pitchFamily="34" charset="-122"/>
                <a:cs typeface="Segoe UI" pitchFamily="34" charset="-120"/>
              </a:rPr>
              <a: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74904" y="475488"/>
            <a:ext cx="9308592" cy="576072"/>
          </a:xfrm>
          <a:prstGeom prst="rect">
            <a:avLst/>
          </a:prstGeom>
          <a:noFill/>
          <a:ln/>
        </p:spPr>
        <p:txBody>
          <a:bodyPr wrap="square" lIns="0" tIns="0" rIns="0" bIns="0" rtlCol="0" anchor="ctr"/>
          <a:lstStyle/>
          <a:p>
            <a:pPr marL="0" indent="0">
              <a:buNone/>
            </a:pPr>
            <a:r>
              <a:rPr lang="en-US" sz="2400" b="1" dirty="0">
                <a:solidFill>
                  <a:srgbClr val="000000"/>
                </a:solidFill>
                <a:latin typeface="Segoe UI" pitchFamily="34" charset="0"/>
                <a:ea typeface="Segoe UI" pitchFamily="34" charset="-122"/>
                <a:cs typeface="Segoe UI" pitchFamily="34" charset="-120"/>
              </a:rPr>
              <a:t>6. Centralized IAM: one front door</a:t>
            </a:r>
            <a:endParaRPr lang="en-US" sz="2400" dirty="0"/>
          </a:p>
        </p:txBody>
      </p:sp>
      <p:sp>
        <p:nvSpPr>
          <p:cNvPr id="3" name="Text 1"/>
          <p:cNvSpPr txBox="1"/>
          <p:nvPr/>
        </p:nvSpPr>
        <p:spPr>
          <a:xfrm>
            <a:off x="374904" y="1234440"/>
            <a:ext cx="9308592" cy="521208"/>
          </a:xfrm>
          <a:prstGeom prst="rect">
            <a:avLst/>
          </a:prstGeom>
          <a:noFill/>
          <a:ln/>
        </p:spPr>
        <p:txBody>
          <a:bodyPr wrap="square" lIns="0" tIns="0" rIns="0" bIns="0" rtlCol="0" anchor="t"/>
          <a:lstStyle/>
          <a:p>
            <a:pPr marL="0" indent="0">
              <a:buNone/>
            </a:pPr>
            <a:r>
              <a:rPr lang="en-US" sz="1400" dirty="0">
                <a:solidFill>
                  <a:srgbClr val="000000"/>
                </a:solidFill>
                <a:latin typeface="Segoe UI" pitchFamily="34" charset="0"/>
                <a:ea typeface="Segoe UI" pitchFamily="34" charset="-122"/>
                <a:cs typeface="Segoe UI" pitchFamily="34" charset="-120"/>
              </a:rPr>
              <a:t>Authenticate once. Every service trusts one identity provider and just validates the token.</a:t>
            </a:r>
            <a:endParaRPr lang="en-US" sz="1400" dirty="0"/>
          </a:p>
        </p:txBody>
      </p:sp>
      <p:sp>
        <p:nvSpPr>
          <p:cNvPr id="4" name="Shape 2"/>
          <p:cNvSpPr/>
          <p:nvPr/>
        </p:nvSpPr>
        <p:spPr>
          <a:xfrm>
            <a:off x="374904" y="2011680"/>
            <a:ext cx="4398264" cy="3749040"/>
          </a:xfrm>
          <a:prstGeom prst="rect">
            <a:avLst/>
          </a:prstGeom>
          <a:solidFill>
            <a:srgbClr val="FFFFFF"/>
          </a:solidFill>
          <a:ln w="9525">
            <a:solidFill>
              <a:srgbClr val="E1E1E1"/>
            </a:solidFill>
            <a:prstDash val="solid"/>
          </a:ln>
          <a:effectLst>
            <a:outerShdw blurRad="50800" dist="38100" dir="2700000" algn="bl" rotWithShape="0">
              <a:srgbClr val="000000">
                <a:alpha val="40000"/>
              </a:srgbClr>
            </a:outerShdw>
          </a:effectLst>
        </p:spPr>
      </p:sp>
      <p:sp>
        <p:nvSpPr>
          <p:cNvPr id="5" name="Text 3"/>
          <p:cNvSpPr txBox="1"/>
          <p:nvPr/>
        </p:nvSpPr>
        <p:spPr>
          <a:xfrm>
            <a:off x="603504" y="2148840"/>
            <a:ext cx="3931920" cy="320040"/>
          </a:xfrm>
          <a:prstGeom prst="rect">
            <a:avLst/>
          </a:prstGeom>
          <a:noFill/>
          <a:ln/>
        </p:spPr>
        <p:txBody>
          <a:bodyPr wrap="square" lIns="0" tIns="0" rIns="0" bIns="0" rtlCol="0" anchor="t"/>
          <a:lstStyle/>
          <a:p>
            <a:pPr marL="0" indent="0">
              <a:buNone/>
            </a:pPr>
            <a:r>
              <a:rPr lang="en-US" sz="1400" dirty="0">
                <a:solidFill>
                  <a:srgbClr val="000000"/>
                </a:solidFill>
                <a:latin typeface="Segoe UI Semibold" pitchFamily="34" charset="0"/>
                <a:ea typeface="Segoe UI Semibold" pitchFamily="34" charset="-122"/>
                <a:cs typeface="Segoe UI Semibold" pitchFamily="34" charset="-120"/>
              </a:rPr>
              <a:t>Traditional: app-owned auth</a:t>
            </a:r>
            <a:endParaRPr lang="en-US" sz="1400" dirty="0"/>
          </a:p>
        </p:txBody>
      </p:sp>
      <p:sp>
        <p:nvSpPr>
          <p:cNvPr id="6" name="Shape 4"/>
          <p:cNvSpPr/>
          <p:nvPr/>
        </p:nvSpPr>
        <p:spPr>
          <a:xfrm>
            <a:off x="649224" y="3611880"/>
            <a:ext cx="640080" cy="640080"/>
          </a:xfrm>
          <a:prstGeom prst="ellipse">
            <a:avLst/>
          </a:prstGeom>
          <a:solidFill>
            <a:srgbClr val="D2D2D2"/>
          </a:solidFill>
          <a:ln/>
        </p:spPr>
      </p:sp>
      <p:pic>
        <p:nvPicPr>
          <p:cNvPr id="7" name="Image 0" descr="preencoded.png"/>
          <p:cNvPicPr>
            <a:picLocks noChangeAspect="1"/>
          </p:cNvPicPr>
          <p:nvPr/>
        </p:nvPicPr>
        <p:blipFill>
          <a:blip r:embed="rId3"/>
          <a:stretch>
            <a:fillRect/>
          </a:stretch>
        </p:blipFill>
        <p:spPr>
          <a:xfrm>
            <a:off x="809244" y="3771900"/>
            <a:ext cx="320040" cy="320040"/>
          </a:xfrm>
          <a:prstGeom prst="rect">
            <a:avLst/>
          </a:prstGeom>
        </p:spPr>
      </p:pic>
      <p:sp>
        <p:nvSpPr>
          <p:cNvPr id="8" name="Shape 5"/>
          <p:cNvSpPr/>
          <p:nvPr/>
        </p:nvSpPr>
        <p:spPr>
          <a:xfrm>
            <a:off x="2066544" y="2697480"/>
            <a:ext cx="2468880" cy="548640"/>
          </a:xfrm>
          <a:prstGeom prst="rect">
            <a:avLst/>
          </a:prstGeom>
          <a:solidFill>
            <a:srgbClr val="F3F3F3"/>
          </a:solidFill>
          <a:ln/>
        </p:spPr>
      </p:sp>
      <p:pic>
        <p:nvPicPr>
          <p:cNvPr id="9" name="Image 1" descr="preencoded.png"/>
          <p:cNvPicPr>
            <a:picLocks noChangeAspect="1"/>
          </p:cNvPicPr>
          <p:nvPr/>
        </p:nvPicPr>
        <p:blipFill>
          <a:blip r:embed="rId4"/>
          <a:stretch>
            <a:fillRect/>
          </a:stretch>
        </p:blipFill>
        <p:spPr>
          <a:xfrm>
            <a:off x="2176272" y="2834640"/>
            <a:ext cx="274320" cy="274320"/>
          </a:xfrm>
          <a:prstGeom prst="rect">
            <a:avLst/>
          </a:prstGeom>
        </p:spPr>
      </p:pic>
      <p:sp>
        <p:nvSpPr>
          <p:cNvPr id="10" name="Text 6"/>
          <p:cNvSpPr txBox="1"/>
          <p:nvPr/>
        </p:nvSpPr>
        <p:spPr>
          <a:xfrm>
            <a:off x="2569464" y="2697480"/>
            <a:ext cx="1371600" cy="548640"/>
          </a:xfrm>
          <a:prstGeom prst="rect">
            <a:avLst/>
          </a:prstGeom>
          <a:noFill/>
          <a:ln/>
        </p:spPr>
        <p:txBody>
          <a:bodyPr wrap="square" lIns="0" tIns="0" rIns="0" bIns="0" rtlCol="0" anchor="ctr"/>
          <a:lstStyle/>
          <a:p>
            <a:pPr marL="0" indent="0">
              <a:buNone/>
            </a:pPr>
            <a:r>
              <a:rPr lang="en-US" sz="1200" dirty="0">
                <a:solidFill>
                  <a:srgbClr val="000000"/>
                </a:solidFill>
                <a:latin typeface="Segoe UI" pitchFamily="34" charset="0"/>
                <a:ea typeface="Segoe UI" pitchFamily="34" charset="-122"/>
                <a:cs typeface="Segoe UI" pitchFamily="34" charset="-120"/>
              </a:rPr>
              <a:t>Account</a:t>
            </a:r>
            <a:endParaRPr lang="en-US" sz="1200" dirty="0"/>
          </a:p>
        </p:txBody>
      </p:sp>
      <p:pic>
        <p:nvPicPr>
          <p:cNvPr id="11" name="Image 2" descr="preencoded.png"/>
          <p:cNvPicPr>
            <a:picLocks noChangeAspect="1"/>
          </p:cNvPicPr>
          <p:nvPr/>
        </p:nvPicPr>
        <p:blipFill>
          <a:blip r:embed="rId5"/>
          <a:stretch>
            <a:fillRect/>
          </a:stretch>
        </p:blipFill>
        <p:spPr>
          <a:xfrm>
            <a:off x="4169664" y="2852928"/>
            <a:ext cx="237744" cy="237744"/>
          </a:xfrm>
          <a:prstGeom prst="rect">
            <a:avLst/>
          </a:prstGeom>
        </p:spPr>
      </p:pic>
      <p:sp>
        <p:nvSpPr>
          <p:cNvPr id="12" name="Shape 7"/>
          <p:cNvSpPr/>
          <p:nvPr/>
        </p:nvSpPr>
        <p:spPr>
          <a:xfrm flipV="1">
            <a:off x="1335024" y="2971800"/>
            <a:ext cx="685800" cy="960120"/>
          </a:xfrm>
          <a:prstGeom prst="line">
            <a:avLst/>
          </a:prstGeom>
          <a:noFill/>
          <a:ln w="12700">
            <a:solidFill>
              <a:srgbClr val="8A8A8A"/>
            </a:solidFill>
            <a:prstDash val="solid"/>
            <a:tailEnd type="triangle"/>
          </a:ln>
        </p:spPr>
      </p:sp>
      <p:sp>
        <p:nvSpPr>
          <p:cNvPr id="13" name="Shape 8"/>
          <p:cNvSpPr/>
          <p:nvPr/>
        </p:nvSpPr>
        <p:spPr>
          <a:xfrm>
            <a:off x="2066544" y="3429000"/>
            <a:ext cx="2468880" cy="548640"/>
          </a:xfrm>
          <a:prstGeom prst="rect">
            <a:avLst/>
          </a:prstGeom>
          <a:solidFill>
            <a:srgbClr val="F3F3F3"/>
          </a:solidFill>
          <a:ln/>
        </p:spPr>
      </p:sp>
      <p:pic>
        <p:nvPicPr>
          <p:cNvPr id="14" name="Image 3" descr="preencoded.png"/>
          <p:cNvPicPr>
            <a:picLocks noChangeAspect="1"/>
          </p:cNvPicPr>
          <p:nvPr/>
        </p:nvPicPr>
        <p:blipFill>
          <a:blip r:embed="rId6"/>
          <a:stretch>
            <a:fillRect/>
          </a:stretch>
        </p:blipFill>
        <p:spPr>
          <a:xfrm>
            <a:off x="2176272" y="3566160"/>
            <a:ext cx="274320" cy="274320"/>
          </a:xfrm>
          <a:prstGeom prst="rect">
            <a:avLst/>
          </a:prstGeom>
        </p:spPr>
      </p:pic>
      <p:sp>
        <p:nvSpPr>
          <p:cNvPr id="15" name="Text 9"/>
          <p:cNvSpPr txBox="1"/>
          <p:nvPr/>
        </p:nvSpPr>
        <p:spPr>
          <a:xfrm>
            <a:off x="2569464" y="3429000"/>
            <a:ext cx="1371600" cy="548640"/>
          </a:xfrm>
          <a:prstGeom prst="rect">
            <a:avLst/>
          </a:prstGeom>
          <a:noFill/>
          <a:ln/>
        </p:spPr>
        <p:txBody>
          <a:bodyPr wrap="square" lIns="0" tIns="0" rIns="0" bIns="0" rtlCol="0" anchor="ctr"/>
          <a:lstStyle/>
          <a:p>
            <a:pPr marL="0" indent="0">
              <a:buNone/>
            </a:pPr>
            <a:r>
              <a:rPr lang="en-US" sz="1200" dirty="0">
                <a:solidFill>
                  <a:srgbClr val="000000"/>
                </a:solidFill>
                <a:latin typeface="Segoe UI" pitchFamily="34" charset="0"/>
                <a:ea typeface="Segoe UI" pitchFamily="34" charset="-122"/>
                <a:cs typeface="Segoe UI" pitchFamily="34" charset="-120"/>
              </a:rPr>
              <a:t>Payment</a:t>
            </a:r>
            <a:endParaRPr lang="en-US" sz="1200" dirty="0"/>
          </a:p>
        </p:txBody>
      </p:sp>
      <p:pic>
        <p:nvPicPr>
          <p:cNvPr id="16" name="Image 4" descr="preencoded.png"/>
          <p:cNvPicPr>
            <a:picLocks noChangeAspect="1"/>
          </p:cNvPicPr>
          <p:nvPr/>
        </p:nvPicPr>
        <p:blipFill>
          <a:blip r:embed="rId5"/>
          <a:stretch>
            <a:fillRect/>
          </a:stretch>
        </p:blipFill>
        <p:spPr>
          <a:xfrm>
            <a:off x="4169664" y="3584448"/>
            <a:ext cx="237744" cy="237744"/>
          </a:xfrm>
          <a:prstGeom prst="rect">
            <a:avLst/>
          </a:prstGeom>
        </p:spPr>
      </p:pic>
      <p:sp>
        <p:nvSpPr>
          <p:cNvPr id="17" name="Shape 10"/>
          <p:cNvSpPr/>
          <p:nvPr/>
        </p:nvSpPr>
        <p:spPr>
          <a:xfrm flipV="1">
            <a:off x="1335024" y="3703320"/>
            <a:ext cx="685800" cy="228600"/>
          </a:xfrm>
          <a:prstGeom prst="line">
            <a:avLst/>
          </a:prstGeom>
          <a:noFill/>
          <a:ln w="12700">
            <a:solidFill>
              <a:srgbClr val="8A8A8A"/>
            </a:solidFill>
            <a:prstDash val="solid"/>
            <a:tailEnd type="triangle"/>
          </a:ln>
        </p:spPr>
      </p:sp>
      <p:sp>
        <p:nvSpPr>
          <p:cNvPr id="18" name="Shape 11"/>
          <p:cNvSpPr/>
          <p:nvPr/>
        </p:nvSpPr>
        <p:spPr>
          <a:xfrm>
            <a:off x="2066544" y="4160520"/>
            <a:ext cx="2468880" cy="548640"/>
          </a:xfrm>
          <a:prstGeom prst="rect">
            <a:avLst/>
          </a:prstGeom>
          <a:solidFill>
            <a:srgbClr val="F3F3F3"/>
          </a:solidFill>
          <a:ln/>
        </p:spPr>
      </p:sp>
      <p:pic>
        <p:nvPicPr>
          <p:cNvPr id="19" name="Image 5" descr="preencoded.png"/>
          <p:cNvPicPr>
            <a:picLocks noChangeAspect="1"/>
          </p:cNvPicPr>
          <p:nvPr/>
        </p:nvPicPr>
        <p:blipFill>
          <a:blip r:embed="rId7"/>
          <a:stretch>
            <a:fillRect/>
          </a:stretch>
        </p:blipFill>
        <p:spPr>
          <a:xfrm>
            <a:off x="2176272" y="4297680"/>
            <a:ext cx="274320" cy="274320"/>
          </a:xfrm>
          <a:prstGeom prst="rect">
            <a:avLst/>
          </a:prstGeom>
        </p:spPr>
      </p:pic>
      <p:sp>
        <p:nvSpPr>
          <p:cNvPr id="20" name="Text 12"/>
          <p:cNvSpPr txBox="1"/>
          <p:nvPr/>
        </p:nvSpPr>
        <p:spPr>
          <a:xfrm>
            <a:off x="2569464" y="4160520"/>
            <a:ext cx="1371600" cy="548640"/>
          </a:xfrm>
          <a:prstGeom prst="rect">
            <a:avLst/>
          </a:prstGeom>
          <a:noFill/>
          <a:ln/>
        </p:spPr>
        <p:txBody>
          <a:bodyPr wrap="square" lIns="0" tIns="0" rIns="0" bIns="0" rtlCol="0" anchor="ctr"/>
          <a:lstStyle/>
          <a:p>
            <a:pPr marL="0" indent="0">
              <a:buNone/>
            </a:pPr>
            <a:r>
              <a:rPr lang="en-US" sz="1200" dirty="0">
                <a:solidFill>
                  <a:srgbClr val="000000"/>
                </a:solidFill>
                <a:latin typeface="Segoe UI" pitchFamily="34" charset="0"/>
                <a:ea typeface="Segoe UI" pitchFamily="34" charset="-122"/>
                <a:cs typeface="Segoe UI" pitchFamily="34" charset="-120"/>
              </a:rPr>
              <a:t>Customer</a:t>
            </a:r>
            <a:endParaRPr lang="en-US" sz="1200" dirty="0"/>
          </a:p>
        </p:txBody>
      </p:sp>
      <p:pic>
        <p:nvPicPr>
          <p:cNvPr id="21" name="Image 6" descr="preencoded.png"/>
          <p:cNvPicPr>
            <a:picLocks noChangeAspect="1"/>
          </p:cNvPicPr>
          <p:nvPr/>
        </p:nvPicPr>
        <p:blipFill>
          <a:blip r:embed="rId5"/>
          <a:stretch>
            <a:fillRect/>
          </a:stretch>
        </p:blipFill>
        <p:spPr>
          <a:xfrm>
            <a:off x="4169664" y="4315968"/>
            <a:ext cx="237744" cy="237744"/>
          </a:xfrm>
          <a:prstGeom prst="rect">
            <a:avLst/>
          </a:prstGeom>
        </p:spPr>
      </p:pic>
      <p:sp>
        <p:nvSpPr>
          <p:cNvPr id="22" name="Shape 13"/>
          <p:cNvSpPr/>
          <p:nvPr/>
        </p:nvSpPr>
        <p:spPr>
          <a:xfrm>
            <a:off x="1335024" y="3931920"/>
            <a:ext cx="685800" cy="502920"/>
          </a:xfrm>
          <a:prstGeom prst="line">
            <a:avLst/>
          </a:prstGeom>
          <a:noFill/>
          <a:ln w="12700">
            <a:solidFill>
              <a:srgbClr val="8A8A8A"/>
            </a:solidFill>
            <a:prstDash val="solid"/>
            <a:tailEnd type="triangle"/>
          </a:ln>
        </p:spPr>
      </p:sp>
      <p:sp>
        <p:nvSpPr>
          <p:cNvPr id="23" name="Shape 14"/>
          <p:cNvSpPr/>
          <p:nvPr/>
        </p:nvSpPr>
        <p:spPr>
          <a:xfrm>
            <a:off x="2066544" y="4892040"/>
            <a:ext cx="2468880" cy="548640"/>
          </a:xfrm>
          <a:prstGeom prst="rect">
            <a:avLst/>
          </a:prstGeom>
          <a:solidFill>
            <a:srgbClr val="F3F3F3"/>
          </a:solidFill>
          <a:ln/>
        </p:spPr>
      </p:sp>
      <p:pic>
        <p:nvPicPr>
          <p:cNvPr id="24" name="Image 7" descr="preencoded.png"/>
          <p:cNvPicPr>
            <a:picLocks noChangeAspect="1"/>
          </p:cNvPicPr>
          <p:nvPr/>
        </p:nvPicPr>
        <p:blipFill>
          <a:blip r:embed="rId8"/>
          <a:stretch>
            <a:fillRect/>
          </a:stretch>
        </p:blipFill>
        <p:spPr>
          <a:xfrm>
            <a:off x="2176272" y="5029200"/>
            <a:ext cx="274320" cy="274320"/>
          </a:xfrm>
          <a:prstGeom prst="rect">
            <a:avLst/>
          </a:prstGeom>
        </p:spPr>
      </p:pic>
      <p:sp>
        <p:nvSpPr>
          <p:cNvPr id="25" name="Text 15"/>
          <p:cNvSpPr txBox="1"/>
          <p:nvPr/>
        </p:nvSpPr>
        <p:spPr>
          <a:xfrm>
            <a:off x="2569464" y="4892040"/>
            <a:ext cx="1371600" cy="548640"/>
          </a:xfrm>
          <a:prstGeom prst="rect">
            <a:avLst/>
          </a:prstGeom>
          <a:noFill/>
          <a:ln/>
        </p:spPr>
        <p:txBody>
          <a:bodyPr wrap="square" lIns="0" tIns="0" rIns="0" bIns="0" rtlCol="0" anchor="ctr"/>
          <a:lstStyle/>
          <a:p>
            <a:pPr marL="0" indent="0">
              <a:buNone/>
            </a:pPr>
            <a:r>
              <a:rPr lang="en-US" sz="1200" dirty="0">
                <a:solidFill>
                  <a:srgbClr val="000000"/>
                </a:solidFill>
                <a:latin typeface="Segoe UI" pitchFamily="34" charset="0"/>
                <a:ea typeface="Segoe UI" pitchFamily="34" charset="-122"/>
                <a:cs typeface="Segoe UI" pitchFamily="34" charset="-120"/>
              </a:rPr>
              <a:t>Notification</a:t>
            </a:r>
            <a:endParaRPr lang="en-US" sz="1200" dirty="0"/>
          </a:p>
        </p:txBody>
      </p:sp>
      <p:pic>
        <p:nvPicPr>
          <p:cNvPr id="26" name="Image 8" descr="preencoded.png"/>
          <p:cNvPicPr>
            <a:picLocks noChangeAspect="1"/>
          </p:cNvPicPr>
          <p:nvPr/>
        </p:nvPicPr>
        <p:blipFill>
          <a:blip r:embed="rId5"/>
          <a:stretch>
            <a:fillRect/>
          </a:stretch>
        </p:blipFill>
        <p:spPr>
          <a:xfrm>
            <a:off x="4169664" y="5047488"/>
            <a:ext cx="237744" cy="237744"/>
          </a:xfrm>
          <a:prstGeom prst="rect">
            <a:avLst/>
          </a:prstGeom>
        </p:spPr>
      </p:pic>
      <p:sp>
        <p:nvSpPr>
          <p:cNvPr id="27" name="Shape 16"/>
          <p:cNvSpPr/>
          <p:nvPr/>
        </p:nvSpPr>
        <p:spPr>
          <a:xfrm>
            <a:off x="1335024" y="3931920"/>
            <a:ext cx="685800" cy="1234440"/>
          </a:xfrm>
          <a:prstGeom prst="line">
            <a:avLst/>
          </a:prstGeom>
          <a:noFill/>
          <a:ln w="12700">
            <a:solidFill>
              <a:srgbClr val="8A8A8A"/>
            </a:solidFill>
            <a:prstDash val="solid"/>
            <a:tailEnd type="triangle"/>
          </a:ln>
        </p:spPr>
      </p:sp>
      <p:sp>
        <p:nvSpPr>
          <p:cNvPr id="28" name="Text 17"/>
          <p:cNvSpPr txBox="1"/>
          <p:nvPr/>
        </p:nvSpPr>
        <p:spPr>
          <a:xfrm>
            <a:off x="374904" y="6089904"/>
            <a:ext cx="4398264" cy="630936"/>
          </a:xfrm>
          <a:prstGeom prst="rect">
            <a:avLst/>
          </a:prstGeom>
          <a:noFill/>
          <a:ln/>
        </p:spPr>
        <p:txBody>
          <a:bodyPr wrap="square" lIns="0" tIns="0" rIns="0" bIns="0" rtlCol="0" anchor="t"/>
          <a:lstStyle/>
          <a:p>
            <a:pPr marL="0" indent="0">
              <a:lnSpc>
                <a:spcPts val="2200"/>
              </a:lnSpc>
              <a:buNone/>
            </a:pPr>
            <a:r>
              <a:rPr lang="en-US" sz="1400" b="1" dirty="0">
                <a:solidFill>
                  <a:srgbClr val="000000"/>
                </a:solidFill>
                <a:latin typeface="Segoe UI" pitchFamily="34" charset="0"/>
                <a:ea typeface="Segoe UI" pitchFamily="34" charset="-122"/>
                <a:cs typeface="Segoe UI" pitchFamily="34" charset="-120"/>
              </a:rPr>
              <a:t>4 logins</a:t>
            </a:r>
            <a:r>
              <a:rPr lang="en-US" sz="1400" dirty="0">
                <a:solidFill>
                  <a:srgbClr val="000000"/>
                </a:solidFill>
                <a:latin typeface="Segoe UI" pitchFamily="34" charset="0"/>
                <a:ea typeface="Segoe UI" pitchFamily="34" charset="-122"/>
                <a:cs typeface="Segoe UI" pitchFamily="34" charset="-120"/>
              </a:rPr>
              <a:t> · 4 credential stores · inconsistent policy</a:t>
            </a:r>
            <a:endParaRPr lang="en-US" sz="1400" dirty="0"/>
          </a:p>
        </p:txBody>
      </p:sp>
      <p:sp>
        <p:nvSpPr>
          <p:cNvPr id="29" name="Shape 18"/>
          <p:cNvSpPr/>
          <p:nvPr/>
        </p:nvSpPr>
        <p:spPr>
          <a:xfrm>
            <a:off x="5440680" y="2011680"/>
            <a:ext cx="3858768" cy="3749040"/>
          </a:xfrm>
          <a:prstGeom prst="rect">
            <a:avLst/>
          </a:prstGeom>
          <a:solidFill>
            <a:srgbClr val="FFFFFF"/>
          </a:solidFill>
          <a:ln w="9525">
            <a:solidFill>
              <a:srgbClr val="E1E1E1"/>
            </a:solidFill>
            <a:prstDash val="solid"/>
          </a:ln>
          <a:effectLst>
            <a:outerShdw blurRad="50800" dist="38100" dir="2700000" algn="bl" rotWithShape="0">
              <a:srgbClr val="000000">
                <a:alpha val="40000"/>
              </a:srgbClr>
            </a:outerShdw>
          </a:effectLst>
        </p:spPr>
      </p:sp>
      <p:sp>
        <p:nvSpPr>
          <p:cNvPr id="30" name="Text 19"/>
          <p:cNvSpPr txBox="1"/>
          <p:nvPr/>
        </p:nvSpPr>
        <p:spPr>
          <a:xfrm>
            <a:off x="5669280" y="2148840"/>
            <a:ext cx="3566160" cy="320040"/>
          </a:xfrm>
          <a:prstGeom prst="rect">
            <a:avLst/>
          </a:prstGeom>
          <a:noFill/>
          <a:ln/>
        </p:spPr>
        <p:txBody>
          <a:bodyPr wrap="square" lIns="0" tIns="0" rIns="0" bIns="0" rtlCol="0" anchor="t"/>
          <a:lstStyle/>
          <a:p>
            <a:pPr marL="0" indent="0">
              <a:buNone/>
            </a:pPr>
            <a:r>
              <a:rPr lang="en-US" sz="1400" dirty="0">
                <a:solidFill>
                  <a:srgbClr val="000000"/>
                </a:solidFill>
                <a:latin typeface="Segoe UI Semibold" pitchFamily="34" charset="0"/>
                <a:ea typeface="Segoe UI Semibold" pitchFamily="34" charset="-122"/>
                <a:cs typeface="Segoe UI Semibold" pitchFamily="34" charset="-120"/>
              </a:rPr>
              <a:t>Centralized: IAM-delegated auth</a:t>
            </a:r>
            <a:endParaRPr lang="en-US" sz="1400" dirty="0"/>
          </a:p>
        </p:txBody>
      </p:sp>
      <p:sp>
        <p:nvSpPr>
          <p:cNvPr id="31" name="Shape 20"/>
          <p:cNvSpPr/>
          <p:nvPr/>
        </p:nvSpPr>
        <p:spPr>
          <a:xfrm>
            <a:off x="5623560" y="3611880"/>
            <a:ext cx="548640" cy="548640"/>
          </a:xfrm>
          <a:prstGeom prst="ellipse">
            <a:avLst/>
          </a:prstGeom>
          <a:solidFill>
            <a:srgbClr val="D2D2D2"/>
          </a:solidFill>
          <a:ln/>
        </p:spPr>
      </p:sp>
      <p:pic>
        <p:nvPicPr>
          <p:cNvPr id="32" name="Image 9" descr="preencoded.png"/>
          <p:cNvPicPr>
            <a:picLocks noChangeAspect="1"/>
          </p:cNvPicPr>
          <p:nvPr/>
        </p:nvPicPr>
        <p:blipFill>
          <a:blip r:embed="rId3"/>
          <a:stretch>
            <a:fillRect/>
          </a:stretch>
        </p:blipFill>
        <p:spPr>
          <a:xfrm>
            <a:off x="5760720" y="3749040"/>
            <a:ext cx="274320" cy="274320"/>
          </a:xfrm>
          <a:prstGeom prst="rect">
            <a:avLst/>
          </a:prstGeom>
        </p:spPr>
      </p:pic>
      <p:sp>
        <p:nvSpPr>
          <p:cNvPr id="33" name="Shape 21"/>
          <p:cNvSpPr/>
          <p:nvPr/>
        </p:nvSpPr>
        <p:spPr>
          <a:xfrm>
            <a:off x="6400800" y="3502152"/>
            <a:ext cx="777240" cy="777240"/>
          </a:xfrm>
          <a:prstGeom prst="ellipse">
            <a:avLst/>
          </a:prstGeom>
          <a:solidFill>
            <a:srgbClr val="0078D4"/>
          </a:solidFill>
          <a:ln/>
        </p:spPr>
      </p:sp>
      <p:pic>
        <p:nvPicPr>
          <p:cNvPr id="34" name="Image 10" descr="preencoded.png"/>
          <p:cNvPicPr>
            <a:picLocks noChangeAspect="1"/>
          </p:cNvPicPr>
          <p:nvPr/>
        </p:nvPicPr>
        <p:blipFill>
          <a:blip r:embed="rId9"/>
          <a:stretch>
            <a:fillRect/>
          </a:stretch>
        </p:blipFill>
        <p:spPr>
          <a:xfrm>
            <a:off x="6592824" y="3694176"/>
            <a:ext cx="393192" cy="393192"/>
          </a:xfrm>
          <a:prstGeom prst="rect">
            <a:avLst/>
          </a:prstGeom>
        </p:spPr>
      </p:pic>
      <p:sp>
        <p:nvSpPr>
          <p:cNvPr id="35" name="Text 22"/>
          <p:cNvSpPr txBox="1"/>
          <p:nvPr/>
        </p:nvSpPr>
        <p:spPr>
          <a:xfrm>
            <a:off x="6217920" y="4343400"/>
            <a:ext cx="1143000" cy="274320"/>
          </a:xfrm>
          <a:prstGeom prst="rect">
            <a:avLst/>
          </a:prstGeom>
          <a:noFill/>
          <a:ln/>
        </p:spPr>
        <p:txBody>
          <a:bodyPr wrap="square" lIns="0" tIns="0" rIns="0" bIns="0" rtlCol="0" anchor="t"/>
          <a:lstStyle/>
          <a:p>
            <a:pPr marL="0" indent="0" algn="ctr">
              <a:buNone/>
            </a:pPr>
            <a:r>
              <a:rPr lang="en-US" sz="1100" dirty="0">
                <a:solidFill>
                  <a:srgbClr val="0078D4"/>
                </a:solidFill>
                <a:latin typeface="Segoe UI Semibold" pitchFamily="34" charset="0"/>
                <a:ea typeface="Segoe UI Semibold" pitchFamily="34" charset="-122"/>
                <a:cs typeface="Segoe UI Semibold" pitchFamily="34" charset="-120"/>
              </a:rPr>
              <a:t>IAM</a:t>
            </a:r>
            <a:endParaRPr lang="en-US" sz="1100" dirty="0"/>
          </a:p>
        </p:txBody>
      </p:sp>
      <p:sp>
        <p:nvSpPr>
          <p:cNvPr id="36" name="Shape 23"/>
          <p:cNvSpPr/>
          <p:nvPr/>
        </p:nvSpPr>
        <p:spPr>
          <a:xfrm>
            <a:off x="6190488" y="3886200"/>
            <a:ext cx="182880" cy="9144"/>
          </a:xfrm>
          <a:prstGeom prst="line">
            <a:avLst/>
          </a:prstGeom>
          <a:noFill/>
          <a:ln w="15875">
            <a:solidFill>
              <a:srgbClr val="000000"/>
            </a:solidFill>
            <a:prstDash val="solid"/>
            <a:tailEnd type="triangle"/>
          </a:ln>
        </p:spPr>
      </p:sp>
      <p:sp>
        <p:nvSpPr>
          <p:cNvPr id="37" name="Shape 24"/>
          <p:cNvSpPr/>
          <p:nvPr/>
        </p:nvSpPr>
        <p:spPr>
          <a:xfrm>
            <a:off x="7589520" y="2697480"/>
            <a:ext cx="1508760" cy="548640"/>
          </a:xfrm>
          <a:prstGeom prst="rect">
            <a:avLst/>
          </a:prstGeom>
          <a:solidFill>
            <a:srgbClr val="CFE4F7"/>
          </a:solidFill>
          <a:ln/>
        </p:spPr>
      </p:sp>
      <p:pic>
        <p:nvPicPr>
          <p:cNvPr id="38" name="Image 11" descr="preencoded.png"/>
          <p:cNvPicPr>
            <a:picLocks noChangeAspect="1"/>
          </p:cNvPicPr>
          <p:nvPr/>
        </p:nvPicPr>
        <p:blipFill>
          <a:blip r:embed="rId4"/>
          <a:stretch>
            <a:fillRect/>
          </a:stretch>
        </p:blipFill>
        <p:spPr>
          <a:xfrm>
            <a:off x="7680960" y="2834640"/>
            <a:ext cx="274320" cy="274320"/>
          </a:xfrm>
          <a:prstGeom prst="rect">
            <a:avLst/>
          </a:prstGeom>
        </p:spPr>
      </p:pic>
      <p:sp>
        <p:nvSpPr>
          <p:cNvPr id="39" name="Text 25"/>
          <p:cNvSpPr txBox="1"/>
          <p:nvPr/>
        </p:nvSpPr>
        <p:spPr>
          <a:xfrm>
            <a:off x="8001000" y="2697480"/>
            <a:ext cx="1097280" cy="548640"/>
          </a:xfrm>
          <a:prstGeom prst="rect">
            <a:avLst/>
          </a:prstGeom>
          <a:noFill/>
          <a:ln/>
        </p:spPr>
        <p:txBody>
          <a:bodyPr wrap="square" lIns="0" tIns="0" rIns="0" bIns="0" rtlCol="0" anchor="ctr"/>
          <a:lstStyle/>
          <a:p>
            <a:pPr marL="0" indent="0">
              <a:buNone/>
            </a:pPr>
            <a:r>
              <a:rPr lang="en-US" sz="1100" dirty="0">
                <a:solidFill>
                  <a:srgbClr val="000000"/>
                </a:solidFill>
                <a:latin typeface="Segoe UI" pitchFamily="34" charset="0"/>
                <a:ea typeface="Segoe UI" pitchFamily="34" charset="-122"/>
                <a:cs typeface="Segoe UI" pitchFamily="34" charset="-120"/>
              </a:rPr>
              <a:t>Account</a:t>
            </a:r>
            <a:endParaRPr lang="en-US" sz="1100" dirty="0"/>
          </a:p>
        </p:txBody>
      </p:sp>
      <p:sp>
        <p:nvSpPr>
          <p:cNvPr id="40" name="Shape 26"/>
          <p:cNvSpPr/>
          <p:nvPr/>
        </p:nvSpPr>
        <p:spPr>
          <a:xfrm flipV="1">
            <a:off x="7205472" y="2971800"/>
            <a:ext cx="338328" cy="914400"/>
          </a:xfrm>
          <a:prstGeom prst="line">
            <a:avLst/>
          </a:prstGeom>
          <a:noFill/>
          <a:ln w="15875">
            <a:solidFill>
              <a:srgbClr val="0078D4"/>
            </a:solidFill>
            <a:prstDash val="solid"/>
            <a:tailEnd type="triangle"/>
          </a:ln>
        </p:spPr>
      </p:sp>
      <p:sp>
        <p:nvSpPr>
          <p:cNvPr id="41" name="Shape 27"/>
          <p:cNvSpPr/>
          <p:nvPr/>
        </p:nvSpPr>
        <p:spPr>
          <a:xfrm>
            <a:off x="7589520" y="3429000"/>
            <a:ext cx="1508760" cy="548640"/>
          </a:xfrm>
          <a:prstGeom prst="rect">
            <a:avLst/>
          </a:prstGeom>
          <a:solidFill>
            <a:srgbClr val="CFE4F7"/>
          </a:solidFill>
          <a:ln/>
        </p:spPr>
      </p:sp>
      <p:pic>
        <p:nvPicPr>
          <p:cNvPr id="42" name="Image 12" descr="preencoded.png"/>
          <p:cNvPicPr>
            <a:picLocks noChangeAspect="1"/>
          </p:cNvPicPr>
          <p:nvPr/>
        </p:nvPicPr>
        <p:blipFill>
          <a:blip r:embed="rId6"/>
          <a:stretch>
            <a:fillRect/>
          </a:stretch>
        </p:blipFill>
        <p:spPr>
          <a:xfrm>
            <a:off x="7680960" y="3566160"/>
            <a:ext cx="274320" cy="274320"/>
          </a:xfrm>
          <a:prstGeom prst="rect">
            <a:avLst/>
          </a:prstGeom>
        </p:spPr>
      </p:pic>
      <p:sp>
        <p:nvSpPr>
          <p:cNvPr id="43" name="Text 28"/>
          <p:cNvSpPr txBox="1"/>
          <p:nvPr/>
        </p:nvSpPr>
        <p:spPr>
          <a:xfrm>
            <a:off x="8001000" y="3429000"/>
            <a:ext cx="1097280" cy="548640"/>
          </a:xfrm>
          <a:prstGeom prst="rect">
            <a:avLst/>
          </a:prstGeom>
          <a:noFill/>
          <a:ln/>
        </p:spPr>
        <p:txBody>
          <a:bodyPr wrap="square" lIns="0" tIns="0" rIns="0" bIns="0" rtlCol="0" anchor="ctr"/>
          <a:lstStyle/>
          <a:p>
            <a:pPr marL="0" indent="0">
              <a:buNone/>
            </a:pPr>
            <a:r>
              <a:rPr lang="en-US" sz="1100" dirty="0">
                <a:solidFill>
                  <a:srgbClr val="000000"/>
                </a:solidFill>
                <a:latin typeface="Segoe UI" pitchFamily="34" charset="0"/>
                <a:ea typeface="Segoe UI" pitchFamily="34" charset="-122"/>
                <a:cs typeface="Segoe UI" pitchFamily="34" charset="-120"/>
              </a:rPr>
              <a:t>Payment</a:t>
            </a:r>
            <a:endParaRPr lang="en-US" sz="1100" dirty="0"/>
          </a:p>
        </p:txBody>
      </p:sp>
      <p:sp>
        <p:nvSpPr>
          <p:cNvPr id="44" name="Shape 29"/>
          <p:cNvSpPr/>
          <p:nvPr/>
        </p:nvSpPr>
        <p:spPr>
          <a:xfrm flipV="1">
            <a:off x="7205472" y="3703320"/>
            <a:ext cx="338328" cy="182880"/>
          </a:xfrm>
          <a:prstGeom prst="line">
            <a:avLst/>
          </a:prstGeom>
          <a:noFill/>
          <a:ln w="15875">
            <a:solidFill>
              <a:srgbClr val="0078D4"/>
            </a:solidFill>
            <a:prstDash val="solid"/>
            <a:tailEnd type="triangle"/>
          </a:ln>
        </p:spPr>
      </p:sp>
      <p:sp>
        <p:nvSpPr>
          <p:cNvPr id="45" name="Shape 30"/>
          <p:cNvSpPr/>
          <p:nvPr/>
        </p:nvSpPr>
        <p:spPr>
          <a:xfrm>
            <a:off x="7589520" y="4160520"/>
            <a:ext cx="1508760" cy="548640"/>
          </a:xfrm>
          <a:prstGeom prst="rect">
            <a:avLst/>
          </a:prstGeom>
          <a:solidFill>
            <a:srgbClr val="CFE4F7"/>
          </a:solidFill>
          <a:ln/>
        </p:spPr>
      </p:sp>
      <p:pic>
        <p:nvPicPr>
          <p:cNvPr id="46" name="Image 13" descr="preencoded.png"/>
          <p:cNvPicPr>
            <a:picLocks noChangeAspect="1"/>
          </p:cNvPicPr>
          <p:nvPr/>
        </p:nvPicPr>
        <p:blipFill>
          <a:blip r:embed="rId7"/>
          <a:stretch>
            <a:fillRect/>
          </a:stretch>
        </p:blipFill>
        <p:spPr>
          <a:xfrm>
            <a:off x="7680960" y="4297680"/>
            <a:ext cx="274320" cy="274320"/>
          </a:xfrm>
          <a:prstGeom prst="rect">
            <a:avLst/>
          </a:prstGeom>
        </p:spPr>
      </p:pic>
      <p:sp>
        <p:nvSpPr>
          <p:cNvPr id="47" name="Text 31"/>
          <p:cNvSpPr txBox="1"/>
          <p:nvPr/>
        </p:nvSpPr>
        <p:spPr>
          <a:xfrm>
            <a:off x="8001000" y="4160520"/>
            <a:ext cx="1097280" cy="548640"/>
          </a:xfrm>
          <a:prstGeom prst="rect">
            <a:avLst/>
          </a:prstGeom>
          <a:noFill/>
          <a:ln/>
        </p:spPr>
        <p:txBody>
          <a:bodyPr wrap="square" lIns="0" tIns="0" rIns="0" bIns="0" rtlCol="0" anchor="ctr"/>
          <a:lstStyle/>
          <a:p>
            <a:pPr marL="0" indent="0">
              <a:buNone/>
            </a:pPr>
            <a:r>
              <a:rPr lang="en-US" sz="1100" dirty="0">
                <a:solidFill>
                  <a:srgbClr val="000000"/>
                </a:solidFill>
                <a:latin typeface="Segoe UI" pitchFamily="34" charset="0"/>
                <a:ea typeface="Segoe UI" pitchFamily="34" charset="-122"/>
                <a:cs typeface="Segoe UI" pitchFamily="34" charset="-120"/>
              </a:rPr>
              <a:t>Customer</a:t>
            </a:r>
            <a:endParaRPr lang="en-US" sz="1100" dirty="0"/>
          </a:p>
        </p:txBody>
      </p:sp>
      <p:sp>
        <p:nvSpPr>
          <p:cNvPr id="48" name="Shape 32"/>
          <p:cNvSpPr/>
          <p:nvPr/>
        </p:nvSpPr>
        <p:spPr>
          <a:xfrm>
            <a:off x="7205472" y="3886200"/>
            <a:ext cx="338328" cy="548640"/>
          </a:xfrm>
          <a:prstGeom prst="line">
            <a:avLst/>
          </a:prstGeom>
          <a:noFill/>
          <a:ln w="15875">
            <a:solidFill>
              <a:srgbClr val="0078D4"/>
            </a:solidFill>
            <a:prstDash val="solid"/>
            <a:tailEnd type="triangle"/>
          </a:ln>
        </p:spPr>
      </p:sp>
      <p:sp>
        <p:nvSpPr>
          <p:cNvPr id="49" name="Shape 33"/>
          <p:cNvSpPr/>
          <p:nvPr/>
        </p:nvSpPr>
        <p:spPr>
          <a:xfrm>
            <a:off x="7589520" y="4892040"/>
            <a:ext cx="1508760" cy="548640"/>
          </a:xfrm>
          <a:prstGeom prst="rect">
            <a:avLst/>
          </a:prstGeom>
          <a:solidFill>
            <a:srgbClr val="CFE4F7"/>
          </a:solidFill>
          <a:ln/>
        </p:spPr>
      </p:sp>
      <p:pic>
        <p:nvPicPr>
          <p:cNvPr id="50" name="Image 14" descr="preencoded.png"/>
          <p:cNvPicPr>
            <a:picLocks noChangeAspect="1"/>
          </p:cNvPicPr>
          <p:nvPr/>
        </p:nvPicPr>
        <p:blipFill>
          <a:blip r:embed="rId8"/>
          <a:stretch>
            <a:fillRect/>
          </a:stretch>
        </p:blipFill>
        <p:spPr>
          <a:xfrm>
            <a:off x="7680960" y="5029200"/>
            <a:ext cx="274320" cy="274320"/>
          </a:xfrm>
          <a:prstGeom prst="rect">
            <a:avLst/>
          </a:prstGeom>
        </p:spPr>
      </p:pic>
      <p:sp>
        <p:nvSpPr>
          <p:cNvPr id="51" name="Text 34"/>
          <p:cNvSpPr txBox="1"/>
          <p:nvPr/>
        </p:nvSpPr>
        <p:spPr>
          <a:xfrm>
            <a:off x="8001000" y="4892040"/>
            <a:ext cx="1097280" cy="548640"/>
          </a:xfrm>
          <a:prstGeom prst="rect">
            <a:avLst/>
          </a:prstGeom>
          <a:noFill/>
          <a:ln/>
        </p:spPr>
        <p:txBody>
          <a:bodyPr wrap="square" lIns="0" tIns="0" rIns="0" bIns="0" rtlCol="0" anchor="ctr"/>
          <a:lstStyle/>
          <a:p>
            <a:pPr marL="0" indent="0">
              <a:buNone/>
            </a:pPr>
            <a:r>
              <a:rPr lang="en-US" sz="1100" dirty="0">
                <a:solidFill>
                  <a:srgbClr val="000000"/>
                </a:solidFill>
                <a:latin typeface="Segoe UI" pitchFamily="34" charset="0"/>
                <a:ea typeface="Segoe UI" pitchFamily="34" charset="-122"/>
                <a:cs typeface="Segoe UI" pitchFamily="34" charset="-120"/>
              </a:rPr>
              <a:t>Notification</a:t>
            </a:r>
            <a:endParaRPr lang="en-US" sz="1100" dirty="0"/>
          </a:p>
        </p:txBody>
      </p:sp>
      <p:sp>
        <p:nvSpPr>
          <p:cNvPr id="52" name="Shape 35"/>
          <p:cNvSpPr/>
          <p:nvPr/>
        </p:nvSpPr>
        <p:spPr>
          <a:xfrm>
            <a:off x="7205472" y="3886200"/>
            <a:ext cx="338328" cy="1280160"/>
          </a:xfrm>
          <a:prstGeom prst="line">
            <a:avLst/>
          </a:prstGeom>
          <a:noFill/>
          <a:ln w="15875">
            <a:solidFill>
              <a:srgbClr val="0078D4"/>
            </a:solidFill>
            <a:prstDash val="solid"/>
            <a:tailEnd type="triangle"/>
          </a:ln>
        </p:spPr>
      </p:sp>
      <p:sp>
        <p:nvSpPr>
          <p:cNvPr id="53" name="Text 36"/>
          <p:cNvSpPr txBox="1"/>
          <p:nvPr/>
        </p:nvSpPr>
        <p:spPr>
          <a:xfrm>
            <a:off x="5440680" y="6089904"/>
            <a:ext cx="3858768" cy="630936"/>
          </a:xfrm>
          <a:prstGeom prst="rect">
            <a:avLst/>
          </a:prstGeom>
          <a:noFill/>
          <a:ln/>
        </p:spPr>
        <p:txBody>
          <a:bodyPr wrap="square" lIns="0" tIns="0" rIns="0" bIns="0" rtlCol="0" anchor="t"/>
          <a:lstStyle/>
          <a:p>
            <a:pPr marL="0" indent="0">
              <a:lnSpc>
                <a:spcPts val="2200"/>
              </a:lnSpc>
              <a:buNone/>
            </a:pPr>
            <a:r>
              <a:rPr lang="en-US" sz="1400" b="1" dirty="0">
                <a:solidFill>
                  <a:srgbClr val="000000"/>
                </a:solidFill>
                <a:latin typeface="Segoe UI" pitchFamily="34" charset="0"/>
                <a:ea typeface="Segoe UI" pitchFamily="34" charset="-122"/>
                <a:cs typeface="Segoe UI" pitchFamily="34" charset="-120"/>
              </a:rPr>
              <a:t>1 login</a:t>
            </a:r>
            <a:r>
              <a:rPr lang="en-US" sz="1400" dirty="0">
                <a:solidFill>
                  <a:srgbClr val="000000"/>
                </a:solidFill>
                <a:latin typeface="Segoe UI" pitchFamily="34" charset="0"/>
                <a:ea typeface="Segoe UI" pitchFamily="34" charset="-122"/>
                <a:cs typeface="Segoe UI" pitchFamily="34" charset="-120"/>
              </a:rPr>
              <a:t> · 1 identity source · policy enforced once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74904" y="475488"/>
            <a:ext cx="9308592" cy="576072"/>
          </a:xfrm>
          <a:prstGeom prst="rect">
            <a:avLst/>
          </a:prstGeom>
          <a:noFill/>
          <a:ln/>
        </p:spPr>
        <p:txBody>
          <a:bodyPr wrap="square" lIns="0" tIns="0" rIns="0" bIns="0" rtlCol="0" anchor="ctr"/>
          <a:lstStyle/>
          <a:p>
            <a:pPr marL="0" indent="0">
              <a:buNone/>
            </a:pPr>
            <a:r>
              <a:rPr lang="en-US" sz="2400" b="1" dirty="0">
                <a:solidFill>
                  <a:srgbClr val="000000"/>
                </a:solidFill>
                <a:latin typeface="Segoe UI" pitchFamily="34" charset="0"/>
                <a:ea typeface="Segoe UI" pitchFamily="34" charset="-122"/>
                <a:cs typeface="Segoe UI" pitchFamily="34" charset="-120"/>
              </a:rPr>
              <a:t>7. What a typical IAM provides</a:t>
            </a:r>
            <a:endParaRPr lang="en-US" sz="2400" dirty="0"/>
          </a:p>
        </p:txBody>
      </p:sp>
      <p:sp>
        <p:nvSpPr>
          <p:cNvPr id="3" name="Text 1"/>
          <p:cNvSpPr txBox="1"/>
          <p:nvPr/>
        </p:nvSpPr>
        <p:spPr>
          <a:xfrm>
            <a:off x="374904" y="1234440"/>
            <a:ext cx="9308592" cy="521208"/>
          </a:xfrm>
          <a:prstGeom prst="rect">
            <a:avLst/>
          </a:prstGeom>
          <a:noFill/>
          <a:ln/>
        </p:spPr>
        <p:txBody>
          <a:bodyPr wrap="square" lIns="0" tIns="0" rIns="0" bIns="0" rtlCol="0" anchor="t"/>
          <a:lstStyle/>
          <a:p>
            <a:pPr marL="0" indent="0">
              <a:buNone/>
            </a:pPr>
            <a:r>
              <a:rPr lang="en-US" sz="1400" dirty="0">
                <a:solidFill>
                  <a:srgbClr val="000000"/>
                </a:solidFill>
                <a:latin typeface="Segoe UI" pitchFamily="34" charset="0"/>
                <a:ea typeface="Segoe UI" pitchFamily="34" charset="-122"/>
                <a:cs typeface="Segoe UI" pitchFamily="34" charset="-120"/>
              </a:rPr>
              <a:t>Most IAM products offer the same core feature set. It falls into three groups:</a:t>
            </a:r>
            <a:endParaRPr lang="en-US" sz="1400" dirty="0"/>
          </a:p>
        </p:txBody>
      </p:sp>
      <p:sp>
        <p:nvSpPr>
          <p:cNvPr id="4" name="Shape 2"/>
          <p:cNvSpPr/>
          <p:nvPr/>
        </p:nvSpPr>
        <p:spPr>
          <a:xfrm>
            <a:off x="374904" y="2011680"/>
            <a:ext cx="2916936" cy="3840480"/>
          </a:xfrm>
          <a:prstGeom prst="rect">
            <a:avLst/>
          </a:prstGeom>
          <a:solidFill>
            <a:srgbClr val="FFFFFF"/>
          </a:solidFill>
          <a:ln w="9525">
            <a:solidFill>
              <a:srgbClr val="E1E1E1"/>
            </a:solidFill>
            <a:prstDash val="solid"/>
          </a:ln>
          <a:effectLst>
            <a:outerShdw blurRad="50800" dist="38100" dir="2700000" algn="bl" rotWithShape="0">
              <a:srgbClr val="000000">
                <a:alpha val="40000"/>
              </a:srgbClr>
            </a:outerShdw>
          </a:effectLst>
        </p:spPr>
      </p:sp>
      <p:sp>
        <p:nvSpPr>
          <p:cNvPr id="5" name="Shape 3"/>
          <p:cNvSpPr/>
          <p:nvPr/>
        </p:nvSpPr>
        <p:spPr>
          <a:xfrm>
            <a:off x="374904" y="2011680"/>
            <a:ext cx="2916936" cy="502920"/>
          </a:xfrm>
          <a:prstGeom prst="rect">
            <a:avLst/>
          </a:prstGeom>
          <a:solidFill>
            <a:srgbClr val="0078D4"/>
          </a:solidFill>
          <a:ln/>
        </p:spPr>
      </p:sp>
      <p:pic>
        <p:nvPicPr>
          <p:cNvPr id="6" name="Image 0" descr="preencoded.png"/>
          <p:cNvPicPr>
            <a:picLocks noChangeAspect="1"/>
          </p:cNvPicPr>
          <p:nvPr/>
        </p:nvPicPr>
        <p:blipFill>
          <a:blip r:embed="rId3"/>
          <a:stretch>
            <a:fillRect/>
          </a:stretch>
        </p:blipFill>
        <p:spPr>
          <a:xfrm>
            <a:off x="576072" y="2139696"/>
            <a:ext cx="246888" cy="246888"/>
          </a:xfrm>
          <a:prstGeom prst="rect">
            <a:avLst/>
          </a:prstGeom>
        </p:spPr>
      </p:pic>
      <p:sp>
        <p:nvSpPr>
          <p:cNvPr id="7" name="Text 4"/>
          <p:cNvSpPr txBox="1"/>
          <p:nvPr/>
        </p:nvSpPr>
        <p:spPr>
          <a:xfrm>
            <a:off x="941832" y="2011680"/>
            <a:ext cx="2231136" cy="502920"/>
          </a:xfrm>
          <a:prstGeom prst="rect">
            <a:avLst/>
          </a:prstGeom>
          <a:noFill/>
          <a:ln/>
        </p:spPr>
        <p:txBody>
          <a:bodyPr wrap="square" lIns="0" tIns="0" rIns="0" bIns="0" rtlCol="0" anchor="ctr"/>
          <a:lstStyle/>
          <a:p>
            <a:pPr marL="0" indent="0">
              <a:buNone/>
            </a:pPr>
            <a:r>
              <a:rPr lang="en-US" sz="1500" dirty="0">
                <a:solidFill>
                  <a:srgbClr val="FFFFFF"/>
                </a:solidFill>
                <a:latin typeface="Segoe UI" pitchFamily="34" charset="0"/>
                <a:ea typeface="Segoe UI" pitchFamily="34" charset="-122"/>
                <a:cs typeface="Segoe UI" pitchFamily="34" charset="-120"/>
              </a:rPr>
              <a:t>Authentication</a:t>
            </a:r>
            <a:endParaRPr lang="en-US" sz="1500" dirty="0"/>
          </a:p>
        </p:txBody>
      </p:sp>
      <p:sp>
        <p:nvSpPr>
          <p:cNvPr id="8" name="Shape 5"/>
          <p:cNvSpPr/>
          <p:nvPr/>
        </p:nvSpPr>
        <p:spPr>
          <a:xfrm>
            <a:off x="603504" y="2743200"/>
            <a:ext cx="502920" cy="502920"/>
          </a:xfrm>
          <a:prstGeom prst="ellipse">
            <a:avLst/>
          </a:prstGeom>
          <a:solidFill>
            <a:srgbClr val="D2D2D2"/>
          </a:solidFill>
          <a:ln/>
        </p:spPr>
      </p:sp>
      <p:pic>
        <p:nvPicPr>
          <p:cNvPr id="9" name="Image 1" descr="preencoded.png"/>
          <p:cNvPicPr>
            <a:picLocks noChangeAspect="1"/>
          </p:cNvPicPr>
          <p:nvPr/>
        </p:nvPicPr>
        <p:blipFill>
          <a:blip r:embed="rId4"/>
          <a:stretch>
            <a:fillRect/>
          </a:stretch>
        </p:blipFill>
        <p:spPr>
          <a:xfrm>
            <a:off x="729234" y="2868930"/>
            <a:ext cx="251460" cy="251460"/>
          </a:xfrm>
          <a:prstGeom prst="rect">
            <a:avLst/>
          </a:prstGeom>
        </p:spPr>
      </p:pic>
      <p:sp>
        <p:nvSpPr>
          <p:cNvPr id="10" name="Text 6"/>
          <p:cNvSpPr txBox="1"/>
          <p:nvPr/>
        </p:nvSpPr>
        <p:spPr>
          <a:xfrm>
            <a:off x="1243584" y="2743200"/>
            <a:ext cx="1911096" cy="502920"/>
          </a:xfrm>
          <a:prstGeom prst="rect">
            <a:avLst/>
          </a:prstGeom>
          <a:noFill/>
          <a:ln/>
        </p:spPr>
        <p:txBody>
          <a:bodyPr wrap="square" lIns="0" tIns="0" rIns="0" bIns="0" rtlCol="0" anchor="ctr"/>
          <a:lstStyle/>
          <a:p>
            <a:pPr marL="0" indent="0">
              <a:buNone/>
            </a:pPr>
            <a:r>
              <a:rPr lang="en-US" sz="1400" dirty="0">
                <a:solidFill>
                  <a:srgbClr val="000000"/>
                </a:solidFill>
                <a:latin typeface="Segoe UI" pitchFamily="34" charset="0"/>
                <a:ea typeface="Segoe UI" pitchFamily="34" charset="-122"/>
                <a:cs typeface="Segoe UI" pitchFamily="34" charset="-120"/>
              </a:rPr>
              <a:t>Single Sign-On (SSO)</a:t>
            </a:r>
            <a:endParaRPr lang="en-US" sz="1400" dirty="0"/>
          </a:p>
        </p:txBody>
      </p:sp>
      <p:sp>
        <p:nvSpPr>
          <p:cNvPr id="11" name="Shape 7"/>
          <p:cNvSpPr/>
          <p:nvPr/>
        </p:nvSpPr>
        <p:spPr>
          <a:xfrm>
            <a:off x="603504" y="3511296"/>
            <a:ext cx="502920" cy="502920"/>
          </a:xfrm>
          <a:prstGeom prst="ellipse">
            <a:avLst/>
          </a:prstGeom>
          <a:solidFill>
            <a:srgbClr val="D2D2D2"/>
          </a:solidFill>
          <a:ln/>
        </p:spPr>
      </p:sp>
      <p:pic>
        <p:nvPicPr>
          <p:cNvPr id="12" name="Image 2" descr="preencoded.png"/>
          <p:cNvPicPr>
            <a:picLocks noChangeAspect="1"/>
          </p:cNvPicPr>
          <p:nvPr/>
        </p:nvPicPr>
        <p:blipFill>
          <a:blip r:embed="rId5"/>
          <a:stretch>
            <a:fillRect/>
          </a:stretch>
        </p:blipFill>
        <p:spPr>
          <a:xfrm>
            <a:off x="729234" y="3637026"/>
            <a:ext cx="251460" cy="251460"/>
          </a:xfrm>
          <a:prstGeom prst="rect">
            <a:avLst/>
          </a:prstGeom>
        </p:spPr>
      </p:pic>
      <p:sp>
        <p:nvSpPr>
          <p:cNvPr id="13" name="Text 8"/>
          <p:cNvSpPr txBox="1"/>
          <p:nvPr/>
        </p:nvSpPr>
        <p:spPr>
          <a:xfrm>
            <a:off x="1243584" y="3511296"/>
            <a:ext cx="1911096" cy="502920"/>
          </a:xfrm>
          <a:prstGeom prst="rect">
            <a:avLst/>
          </a:prstGeom>
          <a:noFill/>
          <a:ln/>
        </p:spPr>
        <p:txBody>
          <a:bodyPr wrap="square" lIns="0" tIns="0" rIns="0" bIns="0" rtlCol="0" anchor="ctr"/>
          <a:lstStyle/>
          <a:p>
            <a:pPr marL="0" indent="0">
              <a:buNone/>
            </a:pPr>
            <a:r>
              <a:rPr lang="en-US" sz="1400" dirty="0">
                <a:solidFill>
                  <a:srgbClr val="000000"/>
                </a:solidFill>
                <a:latin typeface="Segoe UI" pitchFamily="34" charset="0"/>
                <a:ea typeface="Segoe UI" pitchFamily="34" charset="-122"/>
                <a:cs typeface="Segoe UI" pitchFamily="34" charset="-120"/>
              </a:rPr>
              <a:t>Multi-Factor Auth (MFA)</a:t>
            </a:r>
            <a:endParaRPr lang="en-US" sz="1400" dirty="0"/>
          </a:p>
        </p:txBody>
      </p:sp>
      <p:sp>
        <p:nvSpPr>
          <p:cNvPr id="14" name="Shape 9"/>
          <p:cNvSpPr/>
          <p:nvPr/>
        </p:nvSpPr>
        <p:spPr>
          <a:xfrm>
            <a:off x="603504" y="4279392"/>
            <a:ext cx="502920" cy="502920"/>
          </a:xfrm>
          <a:prstGeom prst="ellipse">
            <a:avLst/>
          </a:prstGeom>
          <a:solidFill>
            <a:srgbClr val="D2D2D2"/>
          </a:solidFill>
          <a:ln/>
        </p:spPr>
      </p:sp>
      <p:pic>
        <p:nvPicPr>
          <p:cNvPr id="15" name="Image 3" descr="preencoded.png"/>
          <p:cNvPicPr>
            <a:picLocks noChangeAspect="1"/>
          </p:cNvPicPr>
          <p:nvPr/>
        </p:nvPicPr>
        <p:blipFill>
          <a:blip r:embed="rId6"/>
          <a:stretch>
            <a:fillRect/>
          </a:stretch>
        </p:blipFill>
        <p:spPr>
          <a:xfrm>
            <a:off x="729234" y="4405122"/>
            <a:ext cx="251460" cy="251460"/>
          </a:xfrm>
          <a:prstGeom prst="rect">
            <a:avLst/>
          </a:prstGeom>
        </p:spPr>
      </p:pic>
      <p:sp>
        <p:nvSpPr>
          <p:cNvPr id="16" name="Text 10"/>
          <p:cNvSpPr txBox="1"/>
          <p:nvPr/>
        </p:nvSpPr>
        <p:spPr>
          <a:xfrm>
            <a:off x="1243584" y="4279392"/>
            <a:ext cx="1911096" cy="502920"/>
          </a:xfrm>
          <a:prstGeom prst="rect">
            <a:avLst/>
          </a:prstGeom>
          <a:noFill/>
          <a:ln/>
        </p:spPr>
        <p:txBody>
          <a:bodyPr wrap="square" lIns="0" tIns="0" rIns="0" bIns="0" rtlCol="0" anchor="ctr"/>
          <a:lstStyle/>
          <a:p>
            <a:pPr marL="0" indent="0">
              <a:buNone/>
            </a:pPr>
            <a:r>
              <a:rPr lang="en-US" sz="1400" dirty="0">
                <a:solidFill>
                  <a:srgbClr val="000000"/>
                </a:solidFill>
                <a:latin typeface="Segoe UI" pitchFamily="34" charset="0"/>
                <a:ea typeface="Segoe UI" pitchFamily="34" charset="-122"/>
                <a:cs typeface="Segoe UI" pitchFamily="34" charset="-120"/>
              </a:rPr>
              <a:t>Passwordless &amp; adaptive</a:t>
            </a:r>
            <a:endParaRPr lang="en-US" sz="1400" dirty="0"/>
          </a:p>
        </p:txBody>
      </p:sp>
      <p:sp>
        <p:nvSpPr>
          <p:cNvPr id="17" name="Shape 11"/>
          <p:cNvSpPr/>
          <p:nvPr/>
        </p:nvSpPr>
        <p:spPr>
          <a:xfrm>
            <a:off x="603504" y="5047488"/>
            <a:ext cx="502920" cy="502920"/>
          </a:xfrm>
          <a:prstGeom prst="ellipse">
            <a:avLst/>
          </a:prstGeom>
          <a:solidFill>
            <a:srgbClr val="D2D2D2"/>
          </a:solidFill>
          <a:ln/>
        </p:spPr>
      </p:sp>
      <p:pic>
        <p:nvPicPr>
          <p:cNvPr id="18" name="Image 4" descr="preencoded.png"/>
          <p:cNvPicPr>
            <a:picLocks noChangeAspect="1"/>
          </p:cNvPicPr>
          <p:nvPr/>
        </p:nvPicPr>
        <p:blipFill>
          <a:blip r:embed="rId7"/>
          <a:stretch>
            <a:fillRect/>
          </a:stretch>
        </p:blipFill>
        <p:spPr>
          <a:xfrm>
            <a:off x="729234" y="5173218"/>
            <a:ext cx="251460" cy="251460"/>
          </a:xfrm>
          <a:prstGeom prst="rect">
            <a:avLst/>
          </a:prstGeom>
        </p:spPr>
      </p:pic>
      <p:sp>
        <p:nvSpPr>
          <p:cNvPr id="19" name="Text 12"/>
          <p:cNvSpPr txBox="1"/>
          <p:nvPr/>
        </p:nvSpPr>
        <p:spPr>
          <a:xfrm>
            <a:off x="1243584" y="5047488"/>
            <a:ext cx="1911096" cy="502920"/>
          </a:xfrm>
          <a:prstGeom prst="rect">
            <a:avLst/>
          </a:prstGeom>
          <a:noFill/>
          <a:ln/>
        </p:spPr>
        <p:txBody>
          <a:bodyPr wrap="square" lIns="0" tIns="0" rIns="0" bIns="0" rtlCol="0" anchor="ctr"/>
          <a:lstStyle/>
          <a:p>
            <a:pPr marL="0" indent="0">
              <a:buNone/>
            </a:pPr>
            <a:r>
              <a:rPr lang="en-US" sz="1400" dirty="0">
                <a:solidFill>
                  <a:srgbClr val="000000"/>
                </a:solidFill>
                <a:latin typeface="Segoe UI" pitchFamily="34" charset="0"/>
                <a:ea typeface="Segoe UI" pitchFamily="34" charset="-122"/>
                <a:cs typeface="Segoe UI" pitchFamily="34" charset="-120"/>
              </a:rPr>
              <a:t>Identity federation</a:t>
            </a:r>
            <a:endParaRPr lang="en-US" sz="1400" dirty="0"/>
          </a:p>
        </p:txBody>
      </p:sp>
      <p:sp>
        <p:nvSpPr>
          <p:cNvPr id="20" name="Shape 13"/>
          <p:cNvSpPr/>
          <p:nvPr/>
        </p:nvSpPr>
        <p:spPr>
          <a:xfrm>
            <a:off x="3566160" y="2011680"/>
            <a:ext cx="2916936" cy="3840480"/>
          </a:xfrm>
          <a:prstGeom prst="rect">
            <a:avLst/>
          </a:prstGeom>
          <a:solidFill>
            <a:srgbClr val="FFFFFF"/>
          </a:solidFill>
          <a:ln w="9525">
            <a:solidFill>
              <a:srgbClr val="E1E1E1"/>
            </a:solidFill>
            <a:prstDash val="solid"/>
          </a:ln>
          <a:effectLst>
            <a:outerShdw blurRad="50800" dist="38100" dir="2700000" algn="bl" rotWithShape="0">
              <a:srgbClr val="000000">
                <a:alpha val="40000"/>
              </a:srgbClr>
            </a:outerShdw>
          </a:effectLst>
        </p:spPr>
      </p:sp>
      <p:sp>
        <p:nvSpPr>
          <p:cNvPr id="21" name="Shape 14"/>
          <p:cNvSpPr/>
          <p:nvPr/>
        </p:nvSpPr>
        <p:spPr>
          <a:xfrm>
            <a:off x="3566160" y="2011680"/>
            <a:ext cx="2916936" cy="502920"/>
          </a:xfrm>
          <a:prstGeom prst="rect">
            <a:avLst/>
          </a:prstGeom>
          <a:solidFill>
            <a:srgbClr val="0078D4"/>
          </a:solidFill>
          <a:ln/>
        </p:spPr>
      </p:sp>
      <p:pic>
        <p:nvPicPr>
          <p:cNvPr id="22" name="Image 5" descr="preencoded.png"/>
          <p:cNvPicPr>
            <a:picLocks noChangeAspect="1"/>
          </p:cNvPicPr>
          <p:nvPr/>
        </p:nvPicPr>
        <p:blipFill>
          <a:blip r:embed="rId8"/>
          <a:stretch>
            <a:fillRect/>
          </a:stretch>
        </p:blipFill>
        <p:spPr>
          <a:xfrm>
            <a:off x="3767328" y="2139696"/>
            <a:ext cx="246888" cy="246888"/>
          </a:xfrm>
          <a:prstGeom prst="rect">
            <a:avLst/>
          </a:prstGeom>
        </p:spPr>
      </p:pic>
      <p:sp>
        <p:nvSpPr>
          <p:cNvPr id="23" name="Text 15"/>
          <p:cNvSpPr txBox="1"/>
          <p:nvPr/>
        </p:nvSpPr>
        <p:spPr>
          <a:xfrm>
            <a:off x="4133088" y="2011680"/>
            <a:ext cx="2231136" cy="502920"/>
          </a:xfrm>
          <a:prstGeom prst="rect">
            <a:avLst/>
          </a:prstGeom>
          <a:noFill/>
          <a:ln/>
        </p:spPr>
        <p:txBody>
          <a:bodyPr wrap="square" lIns="0" tIns="0" rIns="0" bIns="0" rtlCol="0" anchor="ctr"/>
          <a:lstStyle/>
          <a:p>
            <a:pPr marL="0" indent="0">
              <a:buNone/>
            </a:pPr>
            <a:r>
              <a:rPr lang="en-US" sz="1500" dirty="0">
                <a:solidFill>
                  <a:srgbClr val="FFFFFF"/>
                </a:solidFill>
                <a:latin typeface="Segoe UI" pitchFamily="34" charset="0"/>
                <a:ea typeface="Segoe UI" pitchFamily="34" charset="-122"/>
                <a:cs typeface="Segoe UI" pitchFamily="34" charset="-120"/>
              </a:rPr>
              <a:t>Authorization</a:t>
            </a:r>
            <a:endParaRPr lang="en-US" sz="1500" dirty="0"/>
          </a:p>
        </p:txBody>
      </p:sp>
      <p:sp>
        <p:nvSpPr>
          <p:cNvPr id="24" name="Shape 16"/>
          <p:cNvSpPr/>
          <p:nvPr/>
        </p:nvSpPr>
        <p:spPr>
          <a:xfrm>
            <a:off x="3794760" y="2743200"/>
            <a:ext cx="502920" cy="502920"/>
          </a:xfrm>
          <a:prstGeom prst="ellipse">
            <a:avLst/>
          </a:prstGeom>
          <a:solidFill>
            <a:srgbClr val="D2D2D2"/>
          </a:solidFill>
          <a:ln/>
        </p:spPr>
      </p:sp>
      <p:pic>
        <p:nvPicPr>
          <p:cNvPr id="25" name="Image 6" descr="preencoded.png"/>
          <p:cNvPicPr>
            <a:picLocks noChangeAspect="1"/>
          </p:cNvPicPr>
          <p:nvPr/>
        </p:nvPicPr>
        <p:blipFill>
          <a:blip r:embed="rId9"/>
          <a:stretch>
            <a:fillRect/>
          </a:stretch>
        </p:blipFill>
        <p:spPr>
          <a:xfrm>
            <a:off x="3920490" y="2868930"/>
            <a:ext cx="251460" cy="251460"/>
          </a:xfrm>
          <a:prstGeom prst="rect">
            <a:avLst/>
          </a:prstGeom>
        </p:spPr>
      </p:pic>
      <p:sp>
        <p:nvSpPr>
          <p:cNvPr id="26" name="Text 17"/>
          <p:cNvSpPr txBox="1"/>
          <p:nvPr/>
        </p:nvSpPr>
        <p:spPr>
          <a:xfrm>
            <a:off x="4434840" y="2743200"/>
            <a:ext cx="1911096" cy="502920"/>
          </a:xfrm>
          <a:prstGeom prst="rect">
            <a:avLst/>
          </a:prstGeom>
          <a:noFill/>
          <a:ln/>
        </p:spPr>
        <p:txBody>
          <a:bodyPr wrap="square" lIns="0" tIns="0" rIns="0" bIns="0" rtlCol="0" anchor="ctr"/>
          <a:lstStyle/>
          <a:p>
            <a:pPr marL="0" indent="0">
              <a:buNone/>
            </a:pPr>
            <a:r>
              <a:rPr lang="en-US" sz="1400" dirty="0">
                <a:solidFill>
                  <a:srgbClr val="000000"/>
                </a:solidFill>
                <a:latin typeface="Segoe UI" pitchFamily="34" charset="0"/>
                <a:ea typeface="Segoe UI" pitchFamily="34" charset="-122"/>
                <a:cs typeface="Segoe UI" pitchFamily="34" charset="-120"/>
              </a:rPr>
              <a:t>Role-based access (RBAC)</a:t>
            </a:r>
            <a:endParaRPr lang="en-US" sz="1400" dirty="0"/>
          </a:p>
        </p:txBody>
      </p:sp>
      <p:sp>
        <p:nvSpPr>
          <p:cNvPr id="27" name="Shape 18"/>
          <p:cNvSpPr/>
          <p:nvPr/>
        </p:nvSpPr>
        <p:spPr>
          <a:xfrm>
            <a:off x="3794760" y="3511296"/>
            <a:ext cx="502920" cy="502920"/>
          </a:xfrm>
          <a:prstGeom prst="ellipse">
            <a:avLst/>
          </a:prstGeom>
          <a:solidFill>
            <a:srgbClr val="D2D2D2"/>
          </a:solidFill>
          <a:ln/>
        </p:spPr>
      </p:sp>
      <p:pic>
        <p:nvPicPr>
          <p:cNvPr id="28" name="Image 7" descr="preencoded.png"/>
          <p:cNvPicPr>
            <a:picLocks noChangeAspect="1"/>
          </p:cNvPicPr>
          <p:nvPr/>
        </p:nvPicPr>
        <p:blipFill>
          <a:blip r:embed="rId10"/>
          <a:stretch>
            <a:fillRect/>
          </a:stretch>
        </p:blipFill>
        <p:spPr>
          <a:xfrm>
            <a:off x="3920490" y="3637026"/>
            <a:ext cx="251460" cy="251460"/>
          </a:xfrm>
          <a:prstGeom prst="rect">
            <a:avLst/>
          </a:prstGeom>
        </p:spPr>
      </p:pic>
      <p:sp>
        <p:nvSpPr>
          <p:cNvPr id="29" name="Text 19"/>
          <p:cNvSpPr txBox="1"/>
          <p:nvPr/>
        </p:nvSpPr>
        <p:spPr>
          <a:xfrm>
            <a:off x="4434840" y="3511296"/>
            <a:ext cx="1911096" cy="502920"/>
          </a:xfrm>
          <a:prstGeom prst="rect">
            <a:avLst/>
          </a:prstGeom>
          <a:noFill/>
          <a:ln/>
        </p:spPr>
        <p:txBody>
          <a:bodyPr wrap="square" lIns="0" tIns="0" rIns="0" bIns="0" rtlCol="0" anchor="ctr"/>
          <a:lstStyle/>
          <a:p>
            <a:pPr marL="0" indent="0">
              <a:buNone/>
            </a:pPr>
            <a:r>
              <a:rPr lang="en-US" sz="1400" dirty="0">
                <a:solidFill>
                  <a:srgbClr val="000000"/>
                </a:solidFill>
                <a:latin typeface="Segoe UI" pitchFamily="34" charset="0"/>
                <a:ea typeface="Segoe UI" pitchFamily="34" charset="-122"/>
                <a:cs typeface="Segoe UI" pitchFamily="34" charset="-120"/>
              </a:rPr>
              <a:t>Fine-grained policies</a:t>
            </a:r>
            <a:endParaRPr lang="en-US" sz="1400" dirty="0"/>
          </a:p>
        </p:txBody>
      </p:sp>
      <p:sp>
        <p:nvSpPr>
          <p:cNvPr id="30" name="Shape 20"/>
          <p:cNvSpPr/>
          <p:nvPr/>
        </p:nvSpPr>
        <p:spPr>
          <a:xfrm>
            <a:off x="3794760" y="4279392"/>
            <a:ext cx="502920" cy="502920"/>
          </a:xfrm>
          <a:prstGeom prst="ellipse">
            <a:avLst/>
          </a:prstGeom>
          <a:solidFill>
            <a:srgbClr val="D2D2D2"/>
          </a:solidFill>
          <a:ln/>
        </p:spPr>
      </p:sp>
      <p:pic>
        <p:nvPicPr>
          <p:cNvPr id="31" name="Image 8" descr="preencoded.png"/>
          <p:cNvPicPr>
            <a:picLocks noChangeAspect="1"/>
          </p:cNvPicPr>
          <p:nvPr/>
        </p:nvPicPr>
        <p:blipFill>
          <a:blip r:embed="rId11"/>
          <a:stretch>
            <a:fillRect/>
          </a:stretch>
        </p:blipFill>
        <p:spPr>
          <a:xfrm>
            <a:off x="3920490" y="4405122"/>
            <a:ext cx="251460" cy="251460"/>
          </a:xfrm>
          <a:prstGeom prst="rect">
            <a:avLst/>
          </a:prstGeom>
        </p:spPr>
      </p:pic>
      <p:sp>
        <p:nvSpPr>
          <p:cNvPr id="32" name="Text 21"/>
          <p:cNvSpPr txBox="1"/>
          <p:nvPr/>
        </p:nvSpPr>
        <p:spPr>
          <a:xfrm>
            <a:off x="4434840" y="4279392"/>
            <a:ext cx="1911096" cy="502920"/>
          </a:xfrm>
          <a:prstGeom prst="rect">
            <a:avLst/>
          </a:prstGeom>
          <a:noFill/>
          <a:ln/>
        </p:spPr>
        <p:txBody>
          <a:bodyPr wrap="square" lIns="0" tIns="0" rIns="0" bIns="0" rtlCol="0" anchor="ctr"/>
          <a:lstStyle/>
          <a:p>
            <a:pPr marL="0" indent="0">
              <a:buNone/>
            </a:pPr>
            <a:r>
              <a:rPr lang="en-US" sz="1400" dirty="0">
                <a:solidFill>
                  <a:srgbClr val="000000"/>
                </a:solidFill>
                <a:latin typeface="Segoe UI" pitchFamily="34" charset="0"/>
                <a:ea typeface="Segoe UI" pitchFamily="34" charset="-122"/>
                <a:cs typeface="Segoe UI" pitchFamily="34" charset="-120"/>
              </a:rPr>
              <a:t>Delegated access &amp; consent</a:t>
            </a:r>
            <a:endParaRPr lang="en-US" sz="1400" dirty="0"/>
          </a:p>
        </p:txBody>
      </p:sp>
      <p:sp>
        <p:nvSpPr>
          <p:cNvPr id="33" name="Shape 22"/>
          <p:cNvSpPr/>
          <p:nvPr/>
        </p:nvSpPr>
        <p:spPr>
          <a:xfrm>
            <a:off x="3794760" y="5047488"/>
            <a:ext cx="502920" cy="502920"/>
          </a:xfrm>
          <a:prstGeom prst="ellipse">
            <a:avLst/>
          </a:prstGeom>
          <a:solidFill>
            <a:srgbClr val="D2D2D2"/>
          </a:solidFill>
          <a:ln/>
        </p:spPr>
      </p:sp>
      <p:pic>
        <p:nvPicPr>
          <p:cNvPr id="34" name="Image 9" descr="preencoded.png"/>
          <p:cNvPicPr>
            <a:picLocks noChangeAspect="1"/>
          </p:cNvPicPr>
          <p:nvPr/>
        </p:nvPicPr>
        <p:blipFill>
          <a:blip r:embed="rId12"/>
          <a:stretch>
            <a:fillRect/>
          </a:stretch>
        </p:blipFill>
        <p:spPr>
          <a:xfrm>
            <a:off x="3920490" y="5173218"/>
            <a:ext cx="251460" cy="251460"/>
          </a:xfrm>
          <a:prstGeom prst="rect">
            <a:avLst/>
          </a:prstGeom>
        </p:spPr>
      </p:pic>
      <p:sp>
        <p:nvSpPr>
          <p:cNvPr id="35" name="Text 23"/>
          <p:cNvSpPr txBox="1"/>
          <p:nvPr/>
        </p:nvSpPr>
        <p:spPr>
          <a:xfrm>
            <a:off x="4434840" y="5047488"/>
            <a:ext cx="1911096" cy="502920"/>
          </a:xfrm>
          <a:prstGeom prst="rect">
            <a:avLst/>
          </a:prstGeom>
          <a:noFill/>
          <a:ln/>
        </p:spPr>
        <p:txBody>
          <a:bodyPr wrap="square" lIns="0" tIns="0" rIns="0" bIns="0" rtlCol="0" anchor="ctr"/>
          <a:lstStyle/>
          <a:p>
            <a:pPr marL="0" indent="0">
              <a:buNone/>
            </a:pPr>
            <a:r>
              <a:rPr lang="en-US" sz="1400" dirty="0">
                <a:solidFill>
                  <a:srgbClr val="000000"/>
                </a:solidFill>
                <a:latin typeface="Segoe UI" pitchFamily="34" charset="0"/>
                <a:ea typeface="Segoe UI" pitchFamily="34" charset="-122"/>
                <a:cs typeface="Segoe UI" pitchFamily="34" charset="-120"/>
              </a:rPr>
              <a:t>Service-to-service security</a:t>
            </a:r>
            <a:endParaRPr lang="en-US" sz="1400" dirty="0"/>
          </a:p>
        </p:txBody>
      </p:sp>
      <p:sp>
        <p:nvSpPr>
          <p:cNvPr id="36" name="Shape 24"/>
          <p:cNvSpPr/>
          <p:nvPr/>
        </p:nvSpPr>
        <p:spPr>
          <a:xfrm>
            <a:off x="6757416" y="2011680"/>
            <a:ext cx="2916936" cy="3840480"/>
          </a:xfrm>
          <a:prstGeom prst="rect">
            <a:avLst/>
          </a:prstGeom>
          <a:solidFill>
            <a:srgbClr val="FFFFFF"/>
          </a:solidFill>
          <a:ln w="9525">
            <a:solidFill>
              <a:srgbClr val="E1E1E1"/>
            </a:solidFill>
            <a:prstDash val="solid"/>
          </a:ln>
          <a:effectLst>
            <a:outerShdw blurRad="50800" dist="38100" dir="2700000" algn="bl" rotWithShape="0">
              <a:srgbClr val="000000">
                <a:alpha val="40000"/>
              </a:srgbClr>
            </a:outerShdw>
          </a:effectLst>
        </p:spPr>
      </p:sp>
      <p:sp>
        <p:nvSpPr>
          <p:cNvPr id="37" name="Shape 25"/>
          <p:cNvSpPr/>
          <p:nvPr/>
        </p:nvSpPr>
        <p:spPr>
          <a:xfrm>
            <a:off x="6757416" y="2011680"/>
            <a:ext cx="2916936" cy="502920"/>
          </a:xfrm>
          <a:prstGeom prst="rect">
            <a:avLst/>
          </a:prstGeom>
          <a:solidFill>
            <a:srgbClr val="0078D4"/>
          </a:solidFill>
          <a:ln/>
        </p:spPr>
      </p:sp>
      <p:pic>
        <p:nvPicPr>
          <p:cNvPr id="38" name="Image 10" descr="preencoded.png"/>
          <p:cNvPicPr>
            <a:picLocks noChangeAspect="1"/>
          </p:cNvPicPr>
          <p:nvPr/>
        </p:nvPicPr>
        <p:blipFill>
          <a:blip r:embed="rId13"/>
          <a:stretch>
            <a:fillRect/>
          </a:stretch>
        </p:blipFill>
        <p:spPr>
          <a:xfrm>
            <a:off x="6958584" y="2139696"/>
            <a:ext cx="246888" cy="246888"/>
          </a:xfrm>
          <a:prstGeom prst="rect">
            <a:avLst/>
          </a:prstGeom>
        </p:spPr>
      </p:pic>
      <p:sp>
        <p:nvSpPr>
          <p:cNvPr id="39" name="Text 26"/>
          <p:cNvSpPr txBox="1"/>
          <p:nvPr/>
        </p:nvSpPr>
        <p:spPr>
          <a:xfrm>
            <a:off x="7324344" y="2011680"/>
            <a:ext cx="2231136" cy="502920"/>
          </a:xfrm>
          <a:prstGeom prst="rect">
            <a:avLst/>
          </a:prstGeom>
          <a:noFill/>
          <a:ln/>
        </p:spPr>
        <p:txBody>
          <a:bodyPr wrap="square" lIns="0" tIns="0" rIns="0" bIns="0" rtlCol="0" anchor="ctr"/>
          <a:lstStyle/>
          <a:p>
            <a:pPr marL="0" indent="0">
              <a:buNone/>
            </a:pPr>
            <a:r>
              <a:rPr lang="en-US" sz="1500" dirty="0">
                <a:solidFill>
                  <a:srgbClr val="FFFFFF"/>
                </a:solidFill>
                <a:latin typeface="Segoe UI" pitchFamily="34" charset="0"/>
                <a:ea typeface="Segoe UI" pitchFamily="34" charset="-122"/>
                <a:cs typeface="Segoe UI" pitchFamily="34" charset="-120"/>
              </a:rPr>
              <a:t>Governance</a:t>
            </a:r>
            <a:endParaRPr lang="en-US" sz="1500" dirty="0"/>
          </a:p>
        </p:txBody>
      </p:sp>
      <p:sp>
        <p:nvSpPr>
          <p:cNvPr id="40" name="Shape 27"/>
          <p:cNvSpPr/>
          <p:nvPr/>
        </p:nvSpPr>
        <p:spPr>
          <a:xfrm>
            <a:off x="6986016" y="2743200"/>
            <a:ext cx="502920" cy="502920"/>
          </a:xfrm>
          <a:prstGeom prst="ellipse">
            <a:avLst/>
          </a:prstGeom>
          <a:solidFill>
            <a:srgbClr val="D2D2D2"/>
          </a:solidFill>
          <a:ln/>
        </p:spPr>
      </p:sp>
      <p:pic>
        <p:nvPicPr>
          <p:cNvPr id="41" name="Image 11" descr="preencoded.png"/>
          <p:cNvPicPr>
            <a:picLocks noChangeAspect="1"/>
          </p:cNvPicPr>
          <p:nvPr/>
        </p:nvPicPr>
        <p:blipFill>
          <a:blip r:embed="rId14"/>
          <a:stretch>
            <a:fillRect/>
          </a:stretch>
        </p:blipFill>
        <p:spPr>
          <a:xfrm>
            <a:off x="7111746" y="2868930"/>
            <a:ext cx="251460" cy="251460"/>
          </a:xfrm>
          <a:prstGeom prst="rect">
            <a:avLst/>
          </a:prstGeom>
        </p:spPr>
      </p:pic>
      <p:sp>
        <p:nvSpPr>
          <p:cNvPr id="42" name="Text 28"/>
          <p:cNvSpPr txBox="1"/>
          <p:nvPr/>
        </p:nvSpPr>
        <p:spPr>
          <a:xfrm>
            <a:off x="7626096" y="2743200"/>
            <a:ext cx="1911096" cy="502920"/>
          </a:xfrm>
          <a:prstGeom prst="rect">
            <a:avLst/>
          </a:prstGeom>
          <a:noFill/>
          <a:ln/>
        </p:spPr>
        <p:txBody>
          <a:bodyPr wrap="square" lIns="0" tIns="0" rIns="0" bIns="0" rtlCol="0" anchor="ctr"/>
          <a:lstStyle/>
          <a:p>
            <a:pPr marL="0" indent="0">
              <a:buNone/>
            </a:pPr>
            <a:r>
              <a:rPr lang="en-US" sz="1400" dirty="0">
                <a:solidFill>
                  <a:srgbClr val="000000"/>
                </a:solidFill>
                <a:latin typeface="Segoe UI" pitchFamily="34" charset="0"/>
                <a:ea typeface="Segoe UI" pitchFamily="34" charset="-122"/>
                <a:cs typeface="Segoe UI" pitchFamily="34" charset="-120"/>
              </a:rPr>
              <a:t>User lifecycle</a:t>
            </a:r>
            <a:endParaRPr lang="en-US" sz="1400" dirty="0"/>
          </a:p>
        </p:txBody>
      </p:sp>
      <p:sp>
        <p:nvSpPr>
          <p:cNvPr id="43" name="Shape 29"/>
          <p:cNvSpPr/>
          <p:nvPr/>
        </p:nvSpPr>
        <p:spPr>
          <a:xfrm>
            <a:off x="6986016" y="3511296"/>
            <a:ext cx="502920" cy="502920"/>
          </a:xfrm>
          <a:prstGeom prst="ellipse">
            <a:avLst/>
          </a:prstGeom>
          <a:solidFill>
            <a:srgbClr val="D2D2D2"/>
          </a:solidFill>
          <a:ln/>
        </p:spPr>
      </p:sp>
      <p:pic>
        <p:nvPicPr>
          <p:cNvPr id="44" name="Image 12" descr="preencoded.png"/>
          <p:cNvPicPr>
            <a:picLocks noChangeAspect="1"/>
          </p:cNvPicPr>
          <p:nvPr/>
        </p:nvPicPr>
        <p:blipFill>
          <a:blip r:embed="rId15"/>
          <a:stretch>
            <a:fillRect/>
          </a:stretch>
        </p:blipFill>
        <p:spPr>
          <a:xfrm>
            <a:off x="7111746" y="3637026"/>
            <a:ext cx="251460" cy="251460"/>
          </a:xfrm>
          <a:prstGeom prst="rect">
            <a:avLst/>
          </a:prstGeom>
        </p:spPr>
      </p:pic>
      <p:sp>
        <p:nvSpPr>
          <p:cNvPr id="45" name="Text 30"/>
          <p:cNvSpPr txBox="1"/>
          <p:nvPr/>
        </p:nvSpPr>
        <p:spPr>
          <a:xfrm>
            <a:off x="7626096" y="3511296"/>
            <a:ext cx="1911096" cy="502920"/>
          </a:xfrm>
          <a:prstGeom prst="rect">
            <a:avLst/>
          </a:prstGeom>
          <a:noFill/>
          <a:ln/>
        </p:spPr>
        <p:txBody>
          <a:bodyPr wrap="square" lIns="0" tIns="0" rIns="0" bIns="0" rtlCol="0" anchor="ctr"/>
          <a:lstStyle/>
          <a:p>
            <a:pPr marL="0" indent="0">
              <a:buNone/>
            </a:pPr>
            <a:r>
              <a:rPr lang="en-US" sz="1400" dirty="0">
                <a:solidFill>
                  <a:srgbClr val="000000"/>
                </a:solidFill>
                <a:latin typeface="Segoe UI" pitchFamily="34" charset="0"/>
                <a:ea typeface="Segoe UI" pitchFamily="34" charset="-122"/>
                <a:cs typeface="Segoe UI" pitchFamily="34" charset="-120"/>
              </a:rPr>
              <a:t>Session control</a:t>
            </a:r>
            <a:endParaRPr lang="en-US" sz="1400" dirty="0"/>
          </a:p>
        </p:txBody>
      </p:sp>
      <p:sp>
        <p:nvSpPr>
          <p:cNvPr id="46" name="Shape 31"/>
          <p:cNvSpPr/>
          <p:nvPr/>
        </p:nvSpPr>
        <p:spPr>
          <a:xfrm>
            <a:off x="6986016" y="4279392"/>
            <a:ext cx="502920" cy="502920"/>
          </a:xfrm>
          <a:prstGeom prst="ellipse">
            <a:avLst/>
          </a:prstGeom>
          <a:solidFill>
            <a:srgbClr val="D2D2D2"/>
          </a:solidFill>
          <a:ln/>
        </p:spPr>
      </p:sp>
      <p:pic>
        <p:nvPicPr>
          <p:cNvPr id="47" name="Image 13" descr="preencoded.png"/>
          <p:cNvPicPr>
            <a:picLocks noChangeAspect="1"/>
          </p:cNvPicPr>
          <p:nvPr/>
        </p:nvPicPr>
        <p:blipFill>
          <a:blip r:embed="rId16"/>
          <a:stretch>
            <a:fillRect/>
          </a:stretch>
        </p:blipFill>
        <p:spPr>
          <a:xfrm>
            <a:off x="7111746" y="4405122"/>
            <a:ext cx="251460" cy="251460"/>
          </a:xfrm>
          <a:prstGeom prst="rect">
            <a:avLst/>
          </a:prstGeom>
        </p:spPr>
      </p:pic>
      <p:sp>
        <p:nvSpPr>
          <p:cNvPr id="48" name="Text 32"/>
          <p:cNvSpPr txBox="1"/>
          <p:nvPr/>
        </p:nvSpPr>
        <p:spPr>
          <a:xfrm>
            <a:off x="7626096" y="4279392"/>
            <a:ext cx="1911096" cy="502920"/>
          </a:xfrm>
          <a:prstGeom prst="rect">
            <a:avLst/>
          </a:prstGeom>
          <a:noFill/>
          <a:ln/>
        </p:spPr>
        <p:txBody>
          <a:bodyPr wrap="square" lIns="0" tIns="0" rIns="0" bIns="0" rtlCol="0" anchor="ctr"/>
          <a:lstStyle/>
          <a:p>
            <a:pPr marL="0" indent="0">
              <a:buNone/>
            </a:pPr>
            <a:r>
              <a:rPr lang="en-US" sz="1400" dirty="0">
                <a:solidFill>
                  <a:srgbClr val="000000"/>
                </a:solidFill>
                <a:latin typeface="Segoe UI" pitchFamily="34" charset="0"/>
                <a:ea typeface="Segoe UI" pitchFamily="34" charset="-122"/>
                <a:cs typeface="Segoe UI" pitchFamily="34" charset="-120"/>
              </a:rPr>
              <a:t>Credential policies</a:t>
            </a:r>
            <a:endParaRPr lang="en-US" sz="1400" dirty="0"/>
          </a:p>
        </p:txBody>
      </p:sp>
      <p:sp>
        <p:nvSpPr>
          <p:cNvPr id="49" name="Shape 33"/>
          <p:cNvSpPr/>
          <p:nvPr/>
        </p:nvSpPr>
        <p:spPr>
          <a:xfrm>
            <a:off x="6986016" y="5047488"/>
            <a:ext cx="502920" cy="502920"/>
          </a:xfrm>
          <a:prstGeom prst="ellipse">
            <a:avLst/>
          </a:prstGeom>
          <a:solidFill>
            <a:srgbClr val="D2D2D2"/>
          </a:solidFill>
          <a:ln/>
        </p:spPr>
      </p:sp>
      <p:pic>
        <p:nvPicPr>
          <p:cNvPr id="50" name="Image 14" descr="preencoded.png"/>
          <p:cNvPicPr>
            <a:picLocks noChangeAspect="1"/>
          </p:cNvPicPr>
          <p:nvPr/>
        </p:nvPicPr>
        <p:blipFill>
          <a:blip r:embed="rId17"/>
          <a:stretch>
            <a:fillRect/>
          </a:stretch>
        </p:blipFill>
        <p:spPr>
          <a:xfrm>
            <a:off x="7111746" y="5173218"/>
            <a:ext cx="251460" cy="251460"/>
          </a:xfrm>
          <a:prstGeom prst="rect">
            <a:avLst/>
          </a:prstGeom>
        </p:spPr>
      </p:pic>
      <p:sp>
        <p:nvSpPr>
          <p:cNvPr id="51" name="Text 34"/>
          <p:cNvSpPr txBox="1"/>
          <p:nvPr/>
        </p:nvSpPr>
        <p:spPr>
          <a:xfrm>
            <a:off x="7626096" y="5047488"/>
            <a:ext cx="1911096" cy="502920"/>
          </a:xfrm>
          <a:prstGeom prst="rect">
            <a:avLst/>
          </a:prstGeom>
          <a:noFill/>
          <a:ln/>
        </p:spPr>
        <p:txBody>
          <a:bodyPr wrap="square" lIns="0" tIns="0" rIns="0" bIns="0" rtlCol="0" anchor="ctr"/>
          <a:lstStyle/>
          <a:p>
            <a:pPr marL="0" indent="0">
              <a:buNone/>
            </a:pPr>
            <a:r>
              <a:rPr lang="en-US" sz="1400" dirty="0">
                <a:solidFill>
                  <a:srgbClr val="000000"/>
                </a:solidFill>
                <a:latin typeface="Segoe UI" pitchFamily="34" charset="0"/>
                <a:ea typeface="Segoe UI" pitchFamily="34" charset="-122"/>
                <a:cs typeface="Segoe UI" pitchFamily="34" charset="-120"/>
              </a:rPr>
              <a:t>Audit &amp; reporting</a:t>
            </a:r>
            <a:endParaRPr lang="en-US" sz="1400" dirty="0"/>
          </a:p>
        </p:txBody>
      </p:sp>
      <p:sp>
        <p:nvSpPr>
          <p:cNvPr id="52" name="Text 35"/>
          <p:cNvSpPr txBox="1"/>
          <p:nvPr/>
        </p:nvSpPr>
        <p:spPr>
          <a:xfrm>
            <a:off x="374904" y="6089904"/>
            <a:ext cx="9308592" cy="630936"/>
          </a:xfrm>
          <a:prstGeom prst="rect">
            <a:avLst/>
          </a:prstGeom>
          <a:noFill/>
          <a:ln/>
        </p:spPr>
        <p:txBody>
          <a:bodyPr wrap="square" lIns="0" tIns="0" rIns="0" bIns="0" rtlCol="0" anchor="t"/>
          <a:lstStyle/>
          <a:p>
            <a:pPr marL="0" indent="0">
              <a:lnSpc>
                <a:spcPts val="2200"/>
              </a:lnSpc>
              <a:buNone/>
            </a:pPr>
            <a:r>
              <a:rPr lang="en-US" sz="1400" dirty="0">
                <a:solidFill>
                  <a:srgbClr val="000000"/>
                </a:solidFill>
                <a:latin typeface="Segoe UI" pitchFamily="34" charset="0"/>
                <a:ea typeface="Segoe UI" pitchFamily="34" charset="-122"/>
                <a:cs typeface="Segoe UI" pitchFamily="34" charset="-120"/>
              </a:rPr>
              <a:t>The next three slides take each group in turn, with a </a:t>
            </a:r>
            <a:r>
              <a:rPr lang="en-US" sz="1400" b="1" dirty="0">
                <a:solidFill>
                  <a:srgbClr val="000000"/>
                </a:solidFill>
                <a:latin typeface="Segoe UI" pitchFamily="34" charset="0"/>
                <a:ea typeface="Segoe UI" pitchFamily="34" charset="-122"/>
                <a:cs typeface="Segoe UI" pitchFamily="34" charset="-120"/>
              </a:rPr>
              <a:t>banking example</a:t>
            </a:r>
            <a:r>
              <a:rPr lang="en-US" sz="1400" dirty="0">
                <a:solidFill>
                  <a:srgbClr val="000000"/>
                </a:solidFill>
                <a:latin typeface="Segoe UI" pitchFamily="34" charset="0"/>
                <a:ea typeface="Segoe UI" pitchFamily="34" charset="-122"/>
                <a:cs typeface="Segoe UI" pitchFamily="34" charset="-120"/>
              </a:rPr>
              <a:t> for every feature.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74904" y="475488"/>
            <a:ext cx="9308592" cy="576072"/>
          </a:xfrm>
          <a:prstGeom prst="rect">
            <a:avLst/>
          </a:prstGeom>
          <a:noFill/>
          <a:ln/>
        </p:spPr>
        <p:txBody>
          <a:bodyPr wrap="square" lIns="0" tIns="0" rIns="0" bIns="0" rtlCol="0" anchor="ctr"/>
          <a:lstStyle/>
          <a:p>
            <a:pPr marL="0" indent="0">
              <a:buNone/>
            </a:pPr>
            <a:r>
              <a:rPr lang="en-US" sz="2400" b="1" dirty="0">
                <a:solidFill>
                  <a:srgbClr val="000000"/>
                </a:solidFill>
                <a:latin typeface="Segoe UI" pitchFamily="34" charset="0"/>
                <a:ea typeface="Segoe UI" pitchFamily="34" charset="-122"/>
                <a:cs typeface="Segoe UI" pitchFamily="34" charset="-120"/>
              </a:rPr>
              <a:t>8. Authentication features: proving who you are</a:t>
            </a:r>
            <a:endParaRPr lang="en-US" sz="2400" dirty="0"/>
          </a:p>
        </p:txBody>
      </p:sp>
      <p:sp>
        <p:nvSpPr>
          <p:cNvPr id="3" name="Text 1"/>
          <p:cNvSpPr txBox="1"/>
          <p:nvPr/>
        </p:nvSpPr>
        <p:spPr>
          <a:xfrm>
            <a:off x="374904" y="1234440"/>
            <a:ext cx="9308592" cy="521208"/>
          </a:xfrm>
          <a:prstGeom prst="rect">
            <a:avLst/>
          </a:prstGeom>
          <a:noFill/>
          <a:ln/>
        </p:spPr>
        <p:txBody>
          <a:bodyPr wrap="square" lIns="0" tIns="0" rIns="0" bIns="0" rtlCol="0" anchor="t"/>
          <a:lstStyle/>
          <a:p>
            <a:pPr marL="0" indent="0">
              <a:buNone/>
            </a:pPr>
            <a:r>
              <a:rPr lang="en-US" sz="1400" dirty="0">
                <a:solidFill>
                  <a:srgbClr val="000000"/>
                </a:solidFill>
                <a:latin typeface="Segoe UI" pitchFamily="34" charset="0"/>
                <a:ea typeface="Segoe UI" pitchFamily="34" charset="-122"/>
                <a:cs typeface="Segoe UI" pitchFamily="34" charset="-120"/>
              </a:rPr>
              <a:t>How the IAM verifies a user, once, for every service in the system:</a:t>
            </a:r>
            <a:endParaRPr lang="en-US" sz="1400" dirty="0"/>
          </a:p>
        </p:txBody>
      </p:sp>
      <p:sp>
        <p:nvSpPr>
          <p:cNvPr id="4" name="Shape 2"/>
          <p:cNvSpPr/>
          <p:nvPr/>
        </p:nvSpPr>
        <p:spPr>
          <a:xfrm>
            <a:off x="374904" y="2011680"/>
            <a:ext cx="4517136" cy="1783080"/>
          </a:xfrm>
          <a:prstGeom prst="rect">
            <a:avLst/>
          </a:prstGeom>
          <a:solidFill>
            <a:srgbClr val="FFFFFF"/>
          </a:solidFill>
          <a:ln w="9525">
            <a:solidFill>
              <a:srgbClr val="E1E1E1"/>
            </a:solidFill>
            <a:prstDash val="solid"/>
          </a:ln>
          <a:effectLst>
            <a:outerShdw blurRad="50800" dist="38100" dir="2700000" algn="bl" rotWithShape="0">
              <a:srgbClr val="000000">
                <a:alpha val="40000"/>
              </a:srgbClr>
            </a:outerShdw>
          </a:effectLst>
        </p:spPr>
      </p:sp>
      <p:sp>
        <p:nvSpPr>
          <p:cNvPr id="5" name="Shape 3"/>
          <p:cNvSpPr/>
          <p:nvPr/>
        </p:nvSpPr>
        <p:spPr>
          <a:xfrm>
            <a:off x="603504" y="2240280"/>
            <a:ext cx="548640" cy="548640"/>
          </a:xfrm>
          <a:prstGeom prst="ellipse">
            <a:avLst/>
          </a:prstGeom>
          <a:solidFill>
            <a:srgbClr val="D2D2D2"/>
          </a:solidFill>
          <a:ln/>
        </p:spPr>
      </p:sp>
      <p:pic>
        <p:nvPicPr>
          <p:cNvPr id="6" name="Image 0" descr="preencoded.png"/>
          <p:cNvPicPr>
            <a:picLocks noChangeAspect="1"/>
          </p:cNvPicPr>
          <p:nvPr/>
        </p:nvPicPr>
        <p:blipFill>
          <a:blip r:embed="rId3"/>
          <a:stretch>
            <a:fillRect/>
          </a:stretch>
        </p:blipFill>
        <p:spPr>
          <a:xfrm>
            <a:off x="740664" y="2377440"/>
            <a:ext cx="274320" cy="274320"/>
          </a:xfrm>
          <a:prstGeom prst="rect">
            <a:avLst/>
          </a:prstGeom>
        </p:spPr>
      </p:pic>
      <p:sp>
        <p:nvSpPr>
          <p:cNvPr id="7" name="Text 4"/>
          <p:cNvSpPr txBox="1"/>
          <p:nvPr/>
        </p:nvSpPr>
        <p:spPr>
          <a:xfrm>
            <a:off x="1335024" y="2212848"/>
            <a:ext cx="3374136" cy="292608"/>
          </a:xfrm>
          <a:prstGeom prst="rect">
            <a:avLst/>
          </a:prstGeom>
          <a:noFill/>
          <a:ln/>
        </p:spPr>
        <p:txBody>
          <a:bodyPr wrap="square" lIns="0" tIns="0" rIns="0" bIns="0" rtlCol="0" anchor="t"/>
          <a:lstStyle/>
          <a:p>
            <a:pPr marL="0" indent="0">
              <a:buNone/>
            </a:pPr>
            <a:r>
              <a:rPr lang="en-US" sz="1400" dirty="0">
                <a:solidFill>
                  <a:srgbClr val="000000"/>
                </a:solidFill>
                <a:latin typeface="Segoe UI Semibold" pitchFamily="34" charset="0"/>
                <a:ea typeface="Segoe UI Semibold" pitchFamily="34" charset="-122"/>
                <a:cs typeface="Segoe UI Semibold" pitchFamily="34" charset="-120"/>
              </a:rPr>
              <a:t>Single Sign-On (SSO)</a:t>
            </a:r>
            <a:endParaRPr lang="en-US" sz="1400" dirty="0"/>
          </a:p>
        </p:txBody>
      </p:sp>
      <p:sp>
        <p:nvSpPr>
          <p:cNvPr id="8" name="Text 5"/>
          <p:cNvSpPr txBox="1"/>
          <p:nvPr/>
        </p:nvSpPr>
        <p:spPr>
          <a:xfrm>
            <a:off x="1335024" y="2514600"/>
            <a:ext cx="3374136" cy="292608"/>
          </a:xfrm>
          <a:prstGeom prst="rect">
            <a:avLst/>
          </a:prstGeom>
          <a:noFill/>
          <a:ln/>
        </p:spPr>
        <p:txBody>
          <a:bodyPr wrap="square" lIns="0" tIns="0" rIns="0" bIns="0" rtlCol="0" anchor="t"/>
          <a:lstStyle/>
          <a:p>
            <a:pPr marL="0" indent="0">
              <a:buNone/>
            </a:pPr>
            <a:r>
              <a:rPr lang="en-US" sz="1200" dirty="0">
                <a:solidFill>
                  <a:srgbClr val="5A5A5A"/>
                </a:solidFill>
                <a:latin typeface="Segoe UI" pitchFamily="34" charset="0"/>
                <a:ea typeface="Segoe UI" pitchFamily="34" charset="-122"/>
                <a:cs typeface="Segoe UI" pitchFamily="34" charset="-120"/>
              </a:rPr>
              <a:t>Log in once; every app trusts that login.</a:t>
            </a:r>
            <a:endParaRPr lang="en-US" sz="1200" dirty="0"/>
          </a:p>
        </p:txBody>
      </p:sp>
      <p:sp>
        <p:nvSpPr>
          <p:cNvPr id="9" name="Shape 6"/>
          <p:cNvSpPr/>
          <p:nvPr/>
        </p:nvSpPr>
        <p:spPr>
          <a:xfrm>
            <a:off x="603504" y="2971800"/>
            <a:ext cx="4059936" cy="640080"/>
          </a:xfrm>
          <a:prstGeom prst="rect">
            <a:avLst/>
          </a:prstGeom>
          <a:solidFill>
            <a:srgbClr val="CFE4F7"/>
          </a:solidFill>
          <a:ln/>
        </p:spPr>
      </p:sp>
      <p:sp>
        <p:nvSpPr>
          <p:cNvPr id="10" name="Shape 7"/>
          <p:cNvSpPr/>
          <p:nvPr/>
        </p:nvSpPr>
        <p:spPr>
          <a:xfrm>
            <a:off x="713232" y="3035808"/>
            <a:ext cx="731520" cy="219456"/>
          </a:xfrm>
          <a:prstGeom prst="roundRect">
            <a:avLst>
              <a:gd name="adj" fmla="val 25000"/>
            </a:avLst>
          </a:prstGeom>
          <a:solidFill>
            <a:srgbClr val="0078D4"/>
          </a:solidFill>
          <a:ln/>
        </p:spPr>
      </p:sp>
      <p:sp>
        <p:nvSpPr>
          <p:cNvPr id="11" name="Text 8"/>
          <p:cNvSpPr txBox="1"/>
          <p:nvPr/>
        </p:nvSpPr>
        <p:spPr>
          <a:xfrm>
            <a:off x="713232" y="3035808"/>
            <a:ext cx="731520" cy="219456"/>
          </a:xfrm>
          <a:prstGeom prst="rect">
            <a:avLst/>
          </a:prstGeom>
          <a:noFill/>
          <a:ln/>
        </p:spPr>
        <p:txBody>
          <a:bodyPr wrap="square" lIns="0" tIns="0" rIns="0" bIns="0" rtlCol="0" anchor="ctr"/>
          <a:lstStyle/>
          <a:p>
            <a:pPr marL="0" indent="0" algn="ctr">
              <a:buNone/>
            </a:pPr>
            <a:r>
              <a:rPr lang="en-US" sz="1000" dirty="0">
                <a:solidFill>
                  <a:srgbClr val="FFFFFF"/>
                </a:solidFill>
                <a:latin typeface="Segoe UI Semibold" pitchFamily="34" charset="0"/>
                <a:ea typeface="Segoe UI Semibold" pitchFamily="34" charset="-122"/>
                <a:cs typeface="Segoe UI Semibold" pitchFamily="34" charset="-120"/>
              </a:rPr>
              <a:t>EXAMPLE</a:t>
            </a:r>
            <a:endParaRPr lang="en-US" sz="1000" dirty="0"/>
          </a:p>
        </p:txBody>
      </p:sp>
      <p:sp>
        <p:nvSpPr>
          <p:cNvPr id="12" name="Text 9"/>
          <p:cNvSpPr txBox="1"/>
          <p:nvPr/>
        </p:nvSpPr>
        <p:spPr>
          <a:xfrm>
            <a:off x="1563624" y="3017520"/>
            <a:ext cx="3008376" cy="566928"/>
          </a:xfrm>
          <a:prstGeom prst="rect">
            <a:avLst/>
          </a:prstGeom>
          <a:noFill/>
          <a:ln/>
        </p:spPr>
        <p:txBody>
          <a:bodyPr wrap="square" lIns="0" tIns="0" rIns="0" bIns="0" rtlCol="0" anchor="t"/>
          <a:lstStyle/>
          <a:p>
            <a:pPr marL="0" indent="0">
              <a:lnSpc>
                <a:spcPts val="1600"/>
              </a:lnSpc>
              <a:buNone/>
            </a:pPr>
            <a:r>
              <a:rPr lang="en-US" sz="1200" dirty="0">
                <a:solidFill>
                  <a:srgbClr val="000000"/>
                </a:solidFill>
                <a:latin typeface="Segoe UI" pitchFamily="34" charset="0"/>
                <a:ea typeface="Segoe UI" pitchFamily="34" charset="-122"/>
                <a:cs typeface="Segoe UI" pitchFamily="34" charset="-120"/>
              </a:rPr>
              <a:t>Sign in to net banking once, then open bill pay with no second login.</a:t>
            </a:r>
            <a:endParaRPr lang="en-US" sz="1200" dirty="0"/>
          </a:p>
        </p:txBody>
      </p:sp>
      <p:sp>
        <p:nvSpPr>
          <p:cNvPr id="13" name="Shape 10"/>
          <p:cNvSpPr/>
          <p:nvPr/>
        </p:nvSpPr>
        <p:spPr>
          <a:xfrm>
            <a:off x="5166360" y="2011680"/>
            <a:ext cx="4517136" cy="1783080"/>
          </a:xfrm>
          <a:prstGeom prst="rect">
            <a:avLst/>
          </a:prstGeom>
          <a:solidFill>
            <a:srgbClr val="FFFFFF"/>
          </a:solidFill>
          <a:ln w="9525">
            <a:solidFill>
              <a:srgbClr val="E1E1E1"/>
            </a:solidFill>
            <a:prstDash val="solid"/>
          </a:ln>
          <a:effectLst>
            <a:outerShdw blurRad="50800" dist="38100" dir="2700000" algn="bl" rotWithShape="0">
              <a:srgbClr val="000000">
                <a:alpha val="40000"/>
              </a:srgbClr>
            </a:outerShdw>
          </a:effectLst>
        </p:spPr>
      </p:sp>
      <p:sp>
        <p:nvSpPr>
          <p:cNvPr id="14" name="Shape 11"/>
          <p:cNvSpPr/>
          <p:nvPr/>
        </p:nvSpPr>
        <p:spPr>
          <a:xfrm>
            <a:off x="5394960" y="2240280"/>
            <a:ext cx="548640" cy="548640"/>
          </a:xfrm>
          <a:prstGeom prst="ellipse">
            <a:avLst/>
          </a:prstGeom>
          <a:solidFill>
            <a:srgbClr val="D2D2D2"/>
          </a:solidFill>
          <a:ln/>
        </p:spPr>
      </p:sp>
      <p:pic>
        <p:nvPicPr>
          <p:cNvPr id="15" name="Image 1" descr="preencoded.png"/>
          <p:cNvPicPr>
            <a:picLocks noChangeAspect="1"/>
          </p:cNvPicPr>
          <p:nvPr/>
        </p:nvPicPr>
        <p:blipFill>
          <a:blip r:embed="rId4"/>
          <a:stretch>
            <a:fillRect/>
          </a:stretch>
        </p:blipFill>
        <p:spPr>
          <a:xfrm>
            <a:off x="5532120" y="2377440"/>
            <a:ext cx="274320" cy="274320"/>
          </a:xfrm>
          <a:prstGeom prst="rect">
            <a:avLst/>
          </a:prstGeom>
        </p:spPr>
      </p:pic>
      <p:sp>
        <p:nvSpPr>
          <p:cNvPr id="16" name="Text 12"/>
          <p:cNvSpPr txBox="1"/>
          <p:nvPr/>
        </p:nvSpPr>
        <p:spPr>
          <a:xfrm>
            <a:off x="6126480" y="2212848"/>
            <a:ext cx="3374136" cy="292608"/>
          </a:xfrm>
          <a:prstGeom prst="rect">
            <a:avLst/>
          </a:prstGeom>
          <a:noFill/>
          <a:ln/>
        </p:spPr>
        <p:txBody>
          <a:bodyPr wrap="square" lIns="0" tIns="0" rIns="0" bIns="0" rtlCol="0" anchor="t"/>
          <a:lstStyle/>
          <a:p>
            <a:pPr marL="0" indent="0">
              <a:buNone/>
            </a:pPr>
            <a:r>
              <a:rPr lang="en-US" sz="1400" dirty="0">
                <a:solidFill>
                  <a:srgbClr val="000000"/>
                </a:solidFill>
                <a:latin typeface="Segoe UI Semibold" pitchFamily="34" charset="0"/>
                <a:ea typeface="Segoe UI Semibold" pitchFamily="34" charset="-122"/>
                <a:cs typeface="Segoe UI Semibold" pitchFamily="34" charset="-120"/>
              </a:rPr>
              <a:t>Multi-Factor Auth (MFA)</a:t>
            </a:r>
            <a:endParaRPr lang="en-US" sz="1400" dirty="0"/>
          </a:p>
        </p:txBody>
      </p:sp>
      <p:sp>
        <p:nvSpPr>
          <p:cNvPr id="17" name="Text 13"/>
          <p:cNvSpPr txBox="1"/>
          <p:nvPr/>
        </p:nvSpPr>
        <p:spPr>
          <a:xfrm>
            <a:off x="6126480" y="2514600"/>
            <a:ext cx="3374136" cy="292608"/>
          </a:xfrm>
          <a:prstGeom prst="rect">
            <a:avLst/>
          </a:prstGeom>
          <a:noFill/>
          <a:ln/>
        </p:spPr>
        <p:txBody>
          <a:bodyPr wrap="square" lIns="0" tIns="0" rIns="0" bIns="0" rtlCol="0" anchor="t"/>
          <a:lstStyle/>
          <a:p>
            <a:pPr marL="0" indent="0">
              <a:buNone/>
            </a:pPr>
            <a:r>
              <a:rPr lang="en-US" sz="1200" dirty="0">
                <a:solidFill>
                  <a:srgbClr val="5A5A5A"/>
                </a:solidFill>
                <a:latin typeface="Segoe UI" pitchFamily="34" charset="0"/>
                <a:ea typeface="Segoe UI" pitchFamily="34" charset="-122"/>
                <a:cs typeface="Segoe UI" pitchFamily="34" charset="-120"/>
              </a:rPr>
              <a:t>A second proof on top of the password.</a:t>
            </a:r>
            <a:endParaRPr lang="en-US" sz="1200" dirty="0"/>
          </a:p>
        </p:txBody>
      </p:sp>
      <p:sp>
        <p:nvSpPr>
          <p:cNvPr id="18" name="Shape 14"/>
          <p:cNvSpPr/>
          <p:nvPr/>
        </p:nvSpPr>
        <p:spPr>
          <a:xfrm>
            <a:off x="5394960" y="2971800"/>
            <a:ext cx="4059936" cy="640080"/>
          </a:xfrm>
          <a:prstGeom prst="rect">
            <a:avLst/>
          </a:prstGeom>
          <a:solidFill>
            <a:srgbClr val="CFE4F7"/>
          </a:solidFill>
          <a:ln/>
        </p:spPr>
      </p:sp>
      <p:sp>
        <p:nvSpPr>
          <p:cNvPr id="19" name="Shape 15"/>
          <p:cNvSpPr/>
          <p:nvPr/>
        </p:nvSpPr>
        <p:spPr>
          <a:xfrm>
            <a:off x="5504688" y="3035808"/>
            <a:ext cx="731520" cy="219456"/>
          </a:xfrm>
          <a:prstGeom prst="roundRect">
            <a:avLst>
              <a:gd name="adj" fmla="val 25000"/>
            </a:avLst>
          </a:prstGeom>
          <a:solidFill>
            <a:srgbClr val="0078D4"/>
          </a:solidFill>
          <a:ln/>
        </p:spPr>
      </p:sp>
      <p:sp>
        <p:nvSpPr>
          <p:cNvPr id="20" name="Text 16"/>
          <p:cNvSpPr txBox="1"/>
          <p:nvPr/>
        </p:nvSpPr>
        <p:spPr>
          <a:xfrm>
            <a:off x="5504688" y="3035808"/>
            <a:ext cx="731520" cy="219456"/>
          </a:xfrm>
          <a:prstGeom prst="rect">
            <a:avLst/>
          </a:prstGeom>
          <a:noFill/>
          <a:ln/>
        </p:spPr>
        <p:txBody>
          <a:bodyPr wrap="square" lIns="0" tIns="0" rIns="0" bIns="0" rtlCol="0" anchor="ctr"/>
          <a:lstStyle/>
          <a:p>
            <a:pPr marL="0" indent="0" algn="ctr">
              <a:buNone/>
            </a:pPr>
            <a:r>
              <a:rPr lang="en-US" sz="1000" dirty="0">
                <a:solidFill>
                  <a:srgbClr val="FFFFFF"/>
                </a:solidFill>
                <a:latin typeface="Segoe UI Semibold" pitchFamily="34" charset="0"/>
                <a:ea typeface="Segoe UI Semibold" pitchFamily="34" charset="-122"/>
                <a:cs typeface="Segoe UI Semibold" pitchFamily="34" charset="-120"/>
              </a:rPr>
              <a:t>EXAMPLE</a:t>
            </a:r>
            <a:endParaRPr lang="en-US" sz="1000" dirty="0"/>
          </a:p>
        </p:txBody>
      </p:sp>
      <p:sp>
        <p:nvSpPr>
          <p:cNvPr id="21" name="Text 17"/>
          <p:cNvSpPr txBox="1"/>
          <p:nvPr/>
        </p:nvSpPr>
        <p:spPr>
          <a:xfrm>
            <a:off x="6355080" y="3017520"/>
            <a:ext cx="3008376" cy="566928"/>
          </a:xfrm>
          <a:prstGeom prst="rect">
            <a:avLst/>
          </a:prstGeom>
          <a:noFill/>
          <a:ln/>
        </p:spPr>
        <p:txBody>
          <a:bodyPr wrap="square" lIns="0" tIns="0" rIns="0" bIns="0" rtlCol="0" anchor="t"/>
          <a:lstStyle/>
          <a:p>
            <a:pPr marL="0" indent="0">
              <a:lnSpc>
                <a:spcPts val="1600"/>
              </a:lnSpc>
              <a:buNone/>
            </a:pPr>
            <a:r>
              <a:rPr lang="en-US" sz="1200" dirty="0">
                <a:solidFill>
                  <a:srgbClr val="000000"/>
                </a:solidFill>
                <a:latin typeface="Segoe UI" pitchFamily="34" charset="0"/>
                <a:ea typeface="Segoe UI" pitchFamily="34" charset="-122"/>
                <a:cs typeface="Segoe UI" pitchFamily="34" charset="-120"/>
              </a:rPr>
              <a:t>An OTP to the registered phone before a new payee can be added.</a:t>
            </a:r>
            <a:endParaRPr lang="en-US" sz="1200" dirty="0"/>
          </a:p>
        </p:txBody>
      </p:sp>
      <p:sp>
        <p:nvSpPr>
          <p:cNvPr id="22" name="Shape 18"/>
          <p:cNvSpPr/>
          <p:nvPr/>
        </p:nvSpPr>
        <p:spPr>
          <a:xfrm>
            <a:off x="374904" y="4023360"/>
            <a:ext cx="4517136" cy="1783080"/>
          </a:xfrm>
          <a:prstGeom prst="rect">
            <a:avLst/>
          </a:prstGeom>
          <a:solidFill>
            <a:srgbClr val="FFFFFF"/>
          </a:solidFill>
          <a:ln w="9525">
            <a:solidFill>
              <a:srgbClr val="E1E1E1"/>
            </a:solidFill>
            <a:prstDash val="solid"/>
          </a:ln>
          <a:effectLst>
            <a:outerShdw blurRad="50800" dist="38100" dir="2700000" algn="bl" rotWithShape="0">
              <a:srgbClr val="000000">
                <a:alpha val="40000"/>
              </a:srgbClr>
            </a:outerShdw>
          </a:effectLst>
        </p:spPr>
      </p:sp>
      <p:sp>
        <p:nvSpPr>
          <p:cNvPr id="23" name="Shape 19"/>
          <p:cNvSpPr/>
          <p:nvPr/>
        </p:nvSpPr>
        <p:spPr>
          <a:xfrm>
            <a:off x="603504" y="4251960"/>
            <a:ext cx="548640" cy="548640"/>
          </a:xfrm>
          <a:prstGeom prst="ellipse">
            <a:avLst/>
          </a:prstGeom>
          <a:solidFill>
            <a:srgbClr val="D2D2D2"/>
          </a:solidFill>
          <a:ln/>
        </p:spPr>
      </p:sp>
      <p:pic>
        <p:nvPicPr>
          <p:cNvPr id="24" name="Image 2" descr="preencoded.png"/>
          <p:cNvPicPr>
            <a:picLocks noChangeAspect="1"/>
          </p:cNvPicPr>
          <p:nvPr/>
        </p:nvPicPr>
        <p:blipFill>
          <a:blip r:embed="rId5"/>
          <a:stretch>
            <a:fillRect/>
          </a:stretch>
        </p:blipFill>
        <p:spPr>
          <a:xfrm>
            <a:off x="740664" y="4389120"/>
            <a:ext cx="274320" cy="274320"/>
          </a:xfrm>
          <a:prstGeom prst="rect">
            <a:avLst/>
          </a:prstGeom>
        </p:spPr>
      </p:pic>
      <p:sp>
        <p:nvSpPr>
          <p:cNvPr id="25" name="Text 20"/>
          <p:cNvSpPr txBox="1"/>
          <p:nvPr/>
        </p:nvSpPr>
        <p:spPr>
          <a:xfrm>
            <a:off x="1335024" y="4224528"/>
            <a:ext cx="3374136" cy="292608"/>
          </a:xfrm>
          <a:prstGeom prst="rect">
            <a:avLst/>
          </a:prstGeom>
          <a:noFill/>
          <a:ln/>
        </p:spPr>
        <p:txBody>
          <a:bodyPr wrap="square" lIns="0" tIns="0" rIns="0" bIns="0" rtlCol="0" anchor="t"/>
          <a:lstStyle/>
          <a:p>
            <a:pPr marL="0" indent="0">
              <a:buNone/>
            </a:pPr>
            <a:r>
              <a:rPr lang="en-US" sz="1400" dirty="0">
                <a:solidFill>
                  <a:srgbClr val="000000"/>
                </a:solidFill>
                <a:latin typeface="Segoe UI Semibold" pitchFamily="34" charset="0"/>
                <a:ea typeface="Segoe UI Semibold" pitchFamily="34" charset="-122"/>
                <a:cs typeface="Segoe UI Semibold" pitchFamily="34" charset="-120"/>
              </a:rPr>
              <a:t>Passwordless &amp; adaptive</a:t>
            </a:r>
            <a:endParaRPr lang="en-US" sz="1400" dirty="0"/>
          </a:p>
        </p:txBody>
      </p:sp>
      <p:sp>
        <p:nvSpPr>
          <p:cNvPr id="26" name="Text 21"/>
          <p:cNvSpPr txBox="1"/>
          <p:nvPr/>
        </p:nvSpPr>
        <p:spPr>
          <a:xfrm>
            <a:off x="1335024" y="4526280"/>
            <a:ext cx="3374136" cy="292608"/>
          </a:xfrm>
          <a:prstGeom prst="rect">
            <a:avLst/>
          </a:prstGeom>
          <a:noFill/>
          <a:ln/>
        </p:spPr>
        <p:txBody>
          <a:bodyPr wrap="square" lIns="0" tIns="0" rIns="0" bIns="0" rtlCol="0" anchor="t"/>
          <a:lstStyle/>
          <a:p>
            <a:pPr marL="0" indent="0">
              <a:buNone/>
            </a:pPr>
            <a:r>
              <a:rPr lang="en-US" sz="1200" dirty="0">
                <a:solidFill>
                  <a:srgbClr val="5A5A5A"/>
                </a:solidFill>
                <a:latin typeface="Segoe UI" pitchFamily="34" charset="0"/>
                <a:ea typeface="Segoe UI" pitchFamily="34" charset="-122"/>
                <a:cs typeface="Segoe UI" pitchFamily="34" charset="-120"/>
              </a:rPr>
              <a:t>Passkeys, plus extra checks when risk rises.</a:t>
            </a:r>
            <a:endParaRPr lang="en-US" sz="1200" dirty="0"/>
          </a:p>
        </p:txBody>
      </p:sp>
      <p:sp>
        <p:nvSpPr>
          <p:cNvPr id="27" name="Shape 22"/>
          <p:cNvSpPr/>
          <p:nvPr/>
        </p:nvSpPr>
        <p:spPr>
          <a:xfrm>
            <a:off x="603504" y="4983480"/>
            <a:ext cx="4059936" cy="640080"/>
          </a:xfrm>
          <a:prstGeom prst="rect">
            <a:avLst/>
          </a:prstGeom>
          <a:solidFill>
            <a:srgbClr val="CFE4F7"/>
          </a:solidFill>
          <a:ln/>
        </p:spPr>
      </p:sp>
      <p:sp>
        <p:nvSpPr>
          <p:cNvPr id="28" name="Shape 23"/>
          <p:cNvSpPr/>
          <p:nvPr/>
        </p:nvSpPr>
        <p:spPr>
          <a:xfrm>
            <a:off x="713232" y="5047488"/>
            <a:ext cx="731520" cy="219456"/>
          </a:xfrm>
          <a:prstGeom prst="roundRect">
            <a:avLst>
              <a:gd name="adj" fmla="val 25000"/>
            </a:avLst>
          </a:prstGeom>
          <a:solidFill>
            <a:srgbClr val="0078D4"/>
          </a:solidFill>
          <a:ln/>
        </p:spPr>
      </p:sp>
      <p:sp>
        <p:nvSpPr>
          <p:cNvPr id="29" name="Text 24"/>
          <p:cNvSpPr txBox="1"/>
          <p:nvPr/>
        </p:nvSpPr>
        <p:spPr>
          <a:xfrm>
            <a:off x="713232" y="5047488"/>
            <a:ext cx="731520" cy="219456"/>
          </a:xfrm>
          <a:prstGeom prst="rect">
            <a:avLst/>
          </a:prstGeom>
          <a:noFill/>
          <a:ln/>
        </p:spPr>
        <p:txBody>
          <a:bodyPr wrap="square" lIns="0" tIns="0" rIns="0" bIns="0" rtlCol="0" anchor="ctr"/>
          <a:lstStyle/>
          <a:p>
            <a:pPr marL="0" indent="0" algn="ctr">
              <a:buNone/>
            </a:pPr>
            <a:r>
              <a:rPr lang="en-US" sz="1000" dirty="0">
                <a:solidFill>
                  <a:srgbClr val="FFFFFF"/>
                </a:solidFill>
                <a:latin typeface="Segoe UI Semibold" pitchFamily="34" charset="0"/>
                <a:ea typeface="Segoe UI Semibold" pitchFamily="34" charset="-122"/>
                <a:cs typeface="Segoe UI Semibold" pitchFamily="34" charset="-120"/>
              </a:rPr>
              <a:t>EXAMPLE</a:t>
            </a:r>
            <a:endParaRPr lang="en-US" sz="1000" dirty="0"/>
          </a:p>
        </p:txBody>
      </p:sp>
      <p:sp>
        <p:nvSpPr>
          <p:cNvPr id="30" name="Text 25"/>
          <p:cNvSpPr txBox="1"/>
          <p:nvPr/>
        </p:nvSpPr>
        <p:spPr>
          <a:xfrm>
            <a:off x="1563624" y="5029200"/>
            <a:ext cx="3008376" cy="566928"/>
          </a:xfrm>
          <a:prstGeom prst="rect">
            <a:avLst/>
          </a:prstGeom>
          <a:noFill/>
          <a:ln/>
        </p:spPr>
        <p:txBody>
          <a:bodyPr wrap="square" lIns="0" tIns="0" rIns="0" bIns="0" rtlCol="0" anchor="t"/>
          <a:lstStyle/>
          <a:p>
            <a:pPr marL="0" indent="0">
              <a:lnSpc>
                <a:spcPts val="1600"/>
              </a:lnSpc>
              <a:buNone/>
            </a:pPr>
            <a:r>
              <a:rPr lang="en-US" sz="1200" dirty="0">
                <a:solidFill>
                  <a:srgbClr val="000000"/>
                </a:solidFill>
                <a:latin typeface="Segoe UI" pitchFamily="34" charset="0"/>
                <a:ea typeface="Segoe UI" pitchFamily="34" charset="-122"/>
                <a:cs typeface="Segoe UI" pitchFamily="34" charset="-120"/>
              </a:rPr>
              <a:t>A login from a new country triggers a step-up MFA challenge.</a:t>
            </a:r>
            <a:endParaRPr lang="en-US" sz="1200" dirty="0"/>
          </a:p>
        </p:txBody>
      </p:sp>
      <p:sp>
        <p:nvSpPr>
          <p:cNvPr id="31" name="Shape 26"/>
          <p:cNvSpPr/>
          <p:nvPr/>
        </p:nvSpPr>
        <p:spPr>
          <a:xfrm>
            <a:off x="5166360" y="4023360"/>
            <a:ext cx="4517136" cy="1783080"/>
          </a:xfrm>
          <a:prstGeom prst="rect">
            <a:avLst/>
          </a:prstGeom>
          <a:solidFill>
            <a:srgbClr val="FFFFFF"/>
          </a:solidFill>
          <a:ln w="9525">
            <a:solidFill>
              <a:srgbClr val="E1E1E1"/>
            </a:solidFill>
            <a:prstDash val="solid"/>
          </a:ln>
          <a:effectLst>
            <a:outerShdw blurRad="50800" dist="38100" dir="2700000" algn="bl" rotWithShape="0">
              <a:srgbClr val="000000">
                <a:alpha val="40000"/>
              </a:srgbClr>
            </a:outerShdw>
          </a:effectLst>
        </p:spPr>
      </p:sp>
      <p:sp>
        <p:nvSpPr>
          <p:cNvPr id="32" name="Shape 27"/>
          <p:cNvSpPr/>
          <p:nvPr/>
        </p:nvSpPr>
        <p:spPr>
          <a:xfrm>
            <a:off x="5394960" y="4251960"/>
            <a:ext cx="548640" cy="548640"/>
          </a:xfrm>
          <a:prstGeom prst="ellipse">
            <a:avLst/>
          </a:prstGeom>
          <a:solidFill>
            <a:srgbClr val="D2D2D2"/>
          </a:solidFill>
          <a:ln/>
        </p:spPr>
      </p:sp>
      <p:pic>
        <p:nvPicPr>
          <p:cNvPr id="33" name="Image 3" descr="preencoded.png"/>
          <p:cNvPicPr>
            <a:picLocks noChangeAspect="1"/>
          </p:cNvPicPr>
          <p:nvPr/>
        </p:nvPicPr>
        <p:blipFill>
          <a:blip r:embed="rId6"/>
          <a:stretch>
            <a:fillRect/>
          </a:stretch>
        </p:blipFill>
        <p:spPr>
          <a:xfrm>
            <a:off x="5532120" y="4389120"/>
            <a:ext cx="274320" cy="274320"/>
          </a:xfrm>
          <a:prstGeom prst="rect">
            <a:avLst/>
          </a:prstGeom>
        </p:spPr>
      </p:pic>
      <p:sp>
        <p:nvSpPr>
          <p:cNvPr id="34" name="Text 28"/>
          <p:cNvSpPr txBox="1"/>
          <p:nvPr/>
        </p:nvSpPr>
        <p:spPr>
          <a:xfrm>
            <a:off x="6126480" y="4224528"/>
            <a:ext cx="3374136" cy="292608"/>
          </a:xfrm>
          <a:prstGeom prst="rect">
            <a:avLst/>
          </a:prstGeom>
          <a:noFill/>
          <a:ln/>
        </p:spPr>
        <p:txBody>
          <a:bodyPr wrap="square" lIns="0" tIns="0" rIns="0" bIns="0" rtlCol="0" anchor="t"/>
          <a:lstStyle/>
          <a:p>
            <a:pPr marL="0" indent="0">
              <a:buNone/>
            </a:pPr>
            <a:r>
              <a:rPr lang="en-US" sz="1400" dirty="0">
                <a:solidFill>
                  <a:srgbClr val="000000"/>
                </a:solidFill>
                <a:latin typeface="Segoe UI Semibold" pitchFamily="34" charset="0"/>
                <a:ea typeface="Segoe UI Semibold" pitchFamily="34" charset="-122"/>
                <a:cs typeface="Segoe UI Semibold" pitchFamily="34" charset="-120"/>
              </a:rPr>
              <a:t>Identity federation</a:t>
            </a:r>
            <a:endParaRPr lang="en-US" sz="1400" dirty="0"/>
          </a:p>
        </p:txBody>
      </p:sp>
      <p:sp>
        <p:nvSpPr>
          <p:cNvPr id="35" name="Text 29"/>
          <p:cNvSpPr txBox="1"/>
          <p:nvPr/>
        </p:nvSpPr>
        <p:spPr>
          <a:xfrm>
            <a:off x="6126480" y="4526280"/>
            <a:ext cx="3374136" cy="292608"/>
          </a:xfrm>
          <a:prstGeom prst="rect">
            <a:avLst/>
          </a:prstGeom>
          <a:noFill/>
          <a:ln/>
        </p:spPr>
        <p:txBody>
          <a:bodyPr wrap="square" lIns="0" tIns="0" rIns="0" bIns="0" rtlCol="0" anchor="t"/>
          <a:lstStyle/>
          <a:p>
            <a:pPr marL="0" indent="0">
              <a:buNone/>
            </a:pPr>
            <a:r>
              <a:rPr lang="en-US" sz="1200" dirty="0">
                <a:solidFill>
                  <a:srgbClr val="5A5A5A"/>
                </a:solidFill>
                <a:latin typeface="Segoe UI" pitchFamily="34" charset="0"/>
                <a:ea typeface="Segoe UI" pitchFamily="34" charset="-122"/>
                <a:cs typeface="Segoe UI" pitchFamily="34" charset="-120"/>
              </a:rPr>
              <a:t>Reuse identities from a trusted provider.</a:t>
            </a:r>
            <a:endParaRPr lang="en-US" sz="1200" dirty="0"/>
          </a:p>
        </p:txBody>
      </p:sp>
      <p:sp>
        <p:nvSpPr>
          <p:cNvPr id="36" name="Shape 30"/>
          <p:cNvSpPr/>
          <p:nvPr/>
        </p:nvSpPr>
        <p:spPr>
          <a:xfrm>
            <a:off x="5394960" y="4983480"/>
            <a:ext cx="4059936" cy="640080"/>
          </a:xfrm>
          <a:prstGeom prst="rect">
            <a:avLst/>
          </a:prstGeom>
          <a:solidFill>
            <a:srgbClr val="CFE4F7"/>
          </a:solidFill>
          <a:ln/>
        </p:spPr>
      </p:sp>
      <p:sp>
        <p:nvSpPr>
          <p:cNvPr id="37" name="Shape 31"/>
          <p:cNvSpPr/>
          <p:nvPr/>
        </p:nvSpPr>
        <p:spPr>
          <a:xfrm>
            <a:off x="5504688" y="5047488"/>
            <a:ext cx="731520" cy="219456"/>
          </a:xfrm>
          <a:prstGeom prst="roundRect">
            <a:avLst>
              <a:gd name="adj" fmla="val 25000"/>
            </a:avLst>
          </a:prstGeom>
          <a:solidFill>
            <a:srgbClr val="0078D4"/>
          </a:solidFill>
          <a:ln/>
        </p:spPr>
      </p:sp>
      <p:sp>
        <p:nvSpPr>
          <p:cNvPr id="38" name="Text 32"/>
          <p:cNvSpPr txBox="1"/>
          <p:nvPr/>
        </p:nvSpPr>
        <p:spPr>
          <a:xfrm>
            <a:off x="5504688" y="5047488"/>
            <a:ext cx="731520" cy="219456"/>
          </a:xfrm>
          <a:prstGeom prst="rect">
            <a:avLst/>
          </a:prstGeom>
          <a:noFill/>
          <a:ln/>
        </p:spPr>
        <p:txBody>
          <a:bodyPr wrap="square" lIns="0" tIns="0" rIns="0" bIns="0" rtlCol="0" anchor="ctr"/>
          <a:lstStyle/>
          <a:p>
            <a:pPr marL="0" indent="0" algn="ctr">
              <a:buNone/>
            </a:pPr>
            <a:r>
              <a:rPr lang="en-US" sz="1000" dirty="0">
                <a:solidFill>
                  <a:srgbClr val="FFFFFF"/>
                </a:solidFill>
                <a:latin typeface="Segoe UI Semibold" pitchFamily="34" charset="0"/>
                <a:ea typeface="Segoe UI Semibold" pitchFamily="34" charset="-122"/>
                <a:cs typeface="Segoe UI Semibold" pitchFamily="34" charset="-120"/>
              </a:rPr>
              <a:t>EXAMPLE</a:t>
            </a:r>
            <a:endParaRPr lang="en-US" sz="1000" dirty="0"/>
          </a:p>
        </p:txBody>
      </p:sp>
      <p:sp>
        <p:nvSpPr>
          <p:cNvPr id="39" name="Text 33"/>
          <p:cNvSpPr txBox="1"/>
          <p:nvPr/>
        </p:nvSpPr>
        <p:spPr>
          <a:xfrm>
            <a:off x="6355080" y="5029200"/>
            <a:ext cx="3008376" cy="566928"/>
          </a:xfrm>
          <a:prstGeom prst="rect">
            <a:avLst/>
          </a:prstGeom>
          <a:noFill/>
          <a:ln/>
        </p:spPr>
        <p:txBody>
          <a:bodyPr wrap="square" lIns="0" tIns="0" rIns="0" bIns="0" rtlCol="0" anchor="t"/>
          <a:lstStyle/>
          <a:p>
            <a:pPr marL="0" indent="0">
              <a:lnSpc>
                <a:spcPts val="1600"/>
              </a:lnSpc>
              <a:buNone/>
            </a:pPr>
            <a:r>
              <a:rPr lang="en-US" sz="1200" dirty="0">
                <a:solidFill>
                  <a:srgbClr val="000000"/>
                </a:solidFill>
                <a:latin typeface="Segoe UI" pitchFamily="34" charset="0"/>
                <a:ea typeface="Segoe UI" pitchFamily="34" charset="-122"/>
                <a:cs typeface="Segoe UI" pitchFamily="34" charset="-120"/>
              </a:rPr>
              <a:t>Staff sign in with corporate Active Directory; customers with Google.</a:t>
            </a:r>
            <a:endParaRPr lang="en-US" sz="1200" dirty="0"/>
          </a:p>
        </p:txBody>
      </p:sp>
      <p:sp>
        <p:nvSpPr>
          <p:cNvPr id="40" name="Text 34"/>
          <p:cNvSpPr txBox="1"/>
          <p:nvPr/>
        </p:nvSpPr>
        <p:spPr>
          <a:xfrm>
            <a:off x="374904" y="6089904"/>
            <a:ext cx="9308592" cy="630936"/>
          </a:xfrm>
          <a:prstGeom prst="rect">
            <a:avLst/>
          </a:prstGeom>
          <a:noFill/>
          <a:ln/>
        </p:spPr>
        <p:txBody>
          <a:bodyPr wrap="square" lIns="0" tIns="0" rIns="0" bIns="0" rtlCol="0" anchor="t"/>
          <a:lstStyle/>
          <a:p>
            <a:pPr marL="0" indent="0">
              <a:lnSpc>
                <a:spcPts val="2200"/>
              </a:lnSpc>
              <a:buNone/>
            </a:pPr>
            <a:r>
              <a:rPr lang="en-US" sz="1400" dirty="0">
                <a:solidFill>
                  <a:srgbClr val="000000"/>
                </a:solidFill>
                <a:latin typeface="Segoe UI" pitchFamily="34" charset="0"/>
                <a:ea typeface="Segoe UI" pitchFamily="34" charset="-122"/>
                <a:cs typeface="Segoe UI" pitchFamily="34" charset="-120"/>
              </a:rPr>
              <a:t>Result: </a:t>
            </a:r>
            <a:r>
              <a:rPr lang="en-US" sz="1400" b="1" dirty="0">
                <a:solidFill>
                  <a:srgbClr val="000000"/>
                </a:solidFill>
                <a:latin typeface="Segoe UI" pitchFamily="34" charset="0"/>
                <a:ea typeface="Segoe UI" pitchFamily="34" charset="-122"/>
                <a:cs typeface="Segoe UI" pitchFamily="34" charset="-120"/>
              </a:rPr>
              <a:t>one strong login</a:t>
            </a:r>
            <a:r>
              <a:rPr lang="en-US" sz="1400" dirty="0">
                <a:solidFill>
                  <a:srgbClr val="000000"/>
                </a:solidFill>
                <a:latin typeface="Segoe UI" pitchFamily="34" charset="0"/>
                <a:ea typeface="Segoe UI" pitchFamily="34" charset="-122"/>
                <a:cs typeface="Segoe UI" pitchFamily="34" charset="-120"/>
              </a:rPr>
              <a:t> instead of four weak ones, with MFA applied the same way everywhere.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74904" y="475488"/>
            <a:ext cx="9308592" cy="576072"/>
          </a:xfrm>
          <a:prstGeom prst="rect">
            <a:avLst/>
          </a:prstGeom>
          <a:noFill/>
          <a:ln/>
        </p:spPr>
        <p:txBody>
          <a:bodyPr wrap="square" lIns="0" tIns="0" rIns="0" bIns="0" rtlCol="0" anchor="ctr"/>
          <a:lstStyle/>
          <a:p>
            <a:pPr marL="0" indent="0">
              <a:buNone/>
            </a:pPr>
            <a:r>
              <a:rPr lang="en-US" sz="2400" b="1" dirty="0">
                <a:solidFill>
                  <a:srgbClr val="000000"/>
                </a:solidFill>
                <a:latin typeface="Segoe UI" pitchFamily="34" charset="0"/>
                <a:ea typeface="Segoe UI" pitchFamily="34" charset="-122"/>
                <a:cs typeface="Segoe UI" pitchFamily="34" charset="-120"/>
              </a:rPr>
              <a:t>9. Authorization features: deciding what you can do</a:t>
            </a:r>
            <a:endParaRPr lang="en-US" sz="2400" dirty="0"/>
          </a:p>
        </p:txBody>
      </p:sp>
      <p:sp>
        <p:nvSpPr>
          <p:cNvPr id="3" name="Text 1"/>
          <p:cNvSpPr txBox="1"/>
          <p:nvPr/>
        </p:nvSpPr>
        <p:spPr>
          <a:xfrm>
            <a:off x="374904" y="1234440"/>
            <a:ext cx="9308592" cy="521208"/>
          </a:xfrm>
          <a:prstGeom prst="rect">
            <a:avLst/>
          </a:prstGeom>
          <a:noFill/>
          <a:ln/>
        </p:spPr>
        <p:txBody>
          <a:bodyPr wrap="square" lIns="0" tIns="0" rIns="0" bIns="0" rtlCol="0" anchor="t"/>
          <a:lstStyle/>
          <a:p>
            <a:pPr marL="0" indent="0">
              <a:buNone/>
            </a:pPr>
            <a:r>
              <a:rPr lang="en-US" sz="1400" dirty="0">
                <a:solidFill>
                  <a:srgbClr val="000000"/>
                </a:solidFill>
                <a:latin typeface="Segoe UI" pitchFamily="34" charset="0"/>
                <a:ea typeface="Segoe UI" pitchFamily="34" charset="-122"/>
                <a:cs typeface="Segoe UI" pitchFamily="34" charset="-120"/>
              </a:rPr>
              <a:t>Once identity is known, the IAM decides what each user or service is allowed to do:</a:t>
            </a:r>
            <a:endParaRPr lang="en-US" sz="1400" dirty="0"/>
          </a:p>
        </p:txBody>
      </p:sp>
      <p:sp>
        <p:nvSpPr>
          <p:cNvPr id="4" name="Shape 2"/>
          <p:cNvSpPr/>
          <p:nvPr/>
        </p:nvSpPr>
        <p:spPr>
          <a:xfrm>
            <a:off x="374904" y="2011680"/>
            <a:ext cx="9308592" cy="3822192"/>
          </a:xfrm>
          <a:prstGeom prst="rect">
            <a:avLst/>
          </a:prstGeom>
          <a:solidFill>
            <a:srgbClr val="FFFFFF"/>
          </a:solidFill>
          <a:ln w="9525">
            <a:solidFill>
              <a:srgbClr val="E1E1E1"/>
            </a:solidFill>
            <a:prstDash val="solid"/>
          </a:ln>
          <a:effectLst>
            <a:outerShdw blurRad="50800" dist="38100" dir="2700000" algn="bl" rotWithShape="0">
              <a:srgbClr val="000000">
                <a:alpha val="40000"/>
              </a:srgbClr>
            </a:outerShdw>
          </a:effectLst>
        </p:spPr>
      </p:sp>
      <p:sp>
        <p:nvSpPr>
          <p:cNvPr id="5" name="Shape 3"/>
          <p:cNvSpPr/>
          <p:nvPr/>
        </p:nvSpPr>
        <p:spPr>
          <a:xfrm>
            <a:off x="374904" y="2011680"/>
            <a:ext cx="9308592" cy="457200"/>
          </a:xfrm>
          <a:prstGeom prst="rect">
            <a:avLst/>
          </a:prstGeom>
          <a:solidFill>
            <a:srgbClr val="0078D4"/>
          </a:solidFill>
          <a:ln/>
        </p:spPr>
      </p:sp>
      <p:sp>
        <p:nvSpPr>
          <p:cNvPr id="6" name="Text 4"/>
          <p:cNvSpPr txBox="1"/>
          <p:nvPr/>
        </p:nvSpPr>
        <p:spPr>
          <a:xfrm>
            <a:off x="649224" y="2011680"/>
            <a:ext cx="2788920" cy="457200"/>
          </a:xfrm>
          <a:prstGeom prst="rect">
            <a:avLst/>
          </a:prstGeom>
          <a:noFill/>
          <a:ln/>
        </p:spPr>
        <p:txBody>
          <a:bodyPr wrap="square" lIns="0" tIns="0" rIns="0" bIns="0" rtlCol="0" anchor="ctr"/>
          <a:lstStyle/>
          <a:p>
            <a:pPr marL="0" indent="0">
              <a:buNone/>
            </a:pPr>
            <a:r>
              <a:rPr lang="en-US" sz="1400" dirty="0">
                <a:solidFill>
                  <a:srgbClr val="FFFFFF"/>
                </a:solidFill>
                <a:latin typeface="Segoe UI Semibold" pitchFamily="34" charset="0"/>
                <a:ea typeface="Segoe UI Semibold" pitchFamily="34" charset="-122"/>
                <a:cs typeface="Segoe UI Semibold" pitchFamily="34" charset="-120"/>
              </a:rPr>
              <a:t>Feature</a:t>
            </a:r>
            <a:endParaRPr lang="en-US" sz="1400" dirty="0"/>
          </a:p>
        </p:txBody>
      </p:sp>
      <p:sp>
        <p:nvSpPr>
          <p:cNvPr id="7" name="Text 5"/>
          <p:cNvSpPr txBox="1"/>
          <p:nvPr/>
        </p:nvSpPr>
        <p:spPr>
          <a:xfrm>
            <a:off x="3438144" y="2011680"/>
            <a:ext cx="2743200" cy="457200"/>
          </a:xfrm>
          <a:prstGeom prst="rect">
            <a:avLst/>
          </a:prstGeom>
          <a:noFill/>
          <a:ln/>
        </p:spPr>
        <p:txBody>
          <a:bodyPr wrap="square" lIns="0" tIns="0" rIns="0" bIns="0" rtlCol="0" anchor="ctr"/>
          <a:lstStyle/>
          <a:p>
            <a:pPr marL="0" indent="0">
              <a:buNone/>
            </a:pPr>
            <a:r>
              <a:rPr lang="en-US" sz="1400" dirty="0">
                <a:solidFill>
                  <a:srgbClr val="FFFFFF"/>
                </a:solidFill>
                <a:latin typeface="Segoe UI Semibold" pitchFamily="34" charset="0"/>
                <a:ea typeface="Segoe UI Semibold" pitchFamily="34" charset="-122"/>
                <a:cs typeface="Segoe UI Semibold" pitchFamily="34" charset="-120"/>
              </a:rPr>
              <a:t>What it does</a:t>
            </a:r>
            <a:endParaRPr lang="en-US" sz="1400" dirty="0"/>
          </a:p>
        </p:txBody>
      </p:sp>
      <p:sp>
        <p:nvSpPr>
          <p:cNvPr id="8" name="Text 6"/>
          <p:cNvSpPr txBox="1"/>
          <p:nvPr/>
        </p:nvSpPr>
        <p:spPr>
          <a:xfrm>
            <a:off x="6272784" y="2011680"/>
            <a:ext cx="3502152" cy="457200"/>
          </a:xfrm>
          <a:prstGeom prst="rect">
            <a:avLst/>
          </a:prstGeom>
          <a:noFill/>
          <a:ln/>
        </p:spPr>
        <p:txBody>
          <a:bodyPr wrap="square" lIns="0" tIns="0" rIns="0" bIns="0" rtlCol="0" anchor="ctr"/>
          <a:lstStyle/>
          <a:p>
            <a:pPr marL="0" indent="0">
              <a:buNone/>
            </a:pPr>
            <a:r>
              <a:rPr lang="en-US" sz="1400" dirty="0">
                <a:solidFill>
                  <a:srgbClr val="FFFFFF"/>
                </a:solidFill>
                <a:latin typeface="Segoe UI Semibold" pitchFamily="34" charset="0"/>
                <a:ea typeface="Segoe UI Semibold" pitchFamily="34" charset="-122"/>
                <a:cs typeface="Segoe UI Semibold" pitchFamily="34" charset="-120"/>
              </a:rPr>
              <a:t>Banking example</a:t>
            </a:r>
            <a:endParaRPr lang="en-US" sz="1400" dirty="0"/>
          </a:p>
        </p:txBody>
      </p:sp>
      <p:sp>
        <p:nvSpPr>
          <p:cNvPr id="9" name="Shape 7"/>
          <p:cNvSpPr/>
          <p:nvPr/>
        </p:nvSpPr>
        <p:spPr>
          <a:xfrm>
            <a:off x="603504" y="2660904"/>
            <a:ext cx="457200" cy="457200"/>
          </a:xfrm>
          <a:prstGeom prst="ellipse">
            <a:avLst/>
          </a:prstGeom>
          <a:solidFill>
            <a:srgbClr val="D2D2D2"/>
          </a:solidFill>
          <a:ln/>
        </p:spPr>
      </p:sp>
      <p:pic>
        <p:nvPicPr>
          <p:cNvPr id="10" name="Image 0" descr="preencoded.png"/>
          <p:cNvPicPr>
            <a:picLocks noChangeAspect="1"/>
          </p:cNvPicPr>
          <p:nvPr/>
        </p:nvPicPr>
        <p:blipFill>
          <a:blip r:embed="rId3"/>
          <a:stretch>
            <a:fillRect/>
          </a:stretch>
        </p:blipFill>
        <p:spPr>
          <a:xfrm>
            <a:off x="717804" y="2775204"/>
            <a:ext cx="228600" cy="228600"/>
          </a:xfrm>
          <a:prstGeom prst="rect">
            <a:avLst/>
          </a:prstGeom>
        </p:spPr>
      </p:pic>
      <p:sp>
        <p:nvSpPr>
          <p:cNvPr id="11" name="Text 8"/>
          <p:cNvSpPr txBox="1"/>
          <p:nvPr/>
        </p:nvSpPr>
        <p:spPr>
          <a:xfrm>
            <a:off x="1197864" y="2468880"/>
            <a:ext cx="2148840" cy="841248"/>
          </a:xfrm>
          <a:prstGeom prst="rect">
            <a:avLst/>
          </a:prstGeom>
          <a:noFill/>
          <a:ln/>
        </p:spPr>
        <p:txBody>
          <a:bodyPr wrap="square" lIns="0" tIns="0" rIns="0" bIns="0" rtlCol="0" anchor="ctr"/>
          <a:lstStyle/>
          <a:p>
            <a:pPr marL="0" indent="0">
              <a:buNone/>
            </a:pPr>
            <a:r>
              <a:rPr lang="en-US" sz="1400" dirty="0">
                <a:solidFill>
                  <a:srgbClr val="000000"/>
                </a:solidFill>
                <a:latin typeface="Segoe UI Semibold" pitchFamily="34" charset="0"/>
                <a:ea typeface="Segoe UI Semibold" pitchFamily="34" charset="-122"/>
                <a:cs typeface="Segoe UI Semibold" pitchFamily="34" charset="-120"/>
              </a:rPr>
              <a:t>Role-based access (RBAC)</a:t>
            </a:r>
            <a:endParaRPr lang="en-US" sz="1400" dirty="0"/>
          </a:p>
        </p:txBody>
      </p:sp>
      <p:sp>
        <p:nvSpPr>
          <p:cNvPr id="12" name="Text 9"/>
          <p:cNvSpPr txBox="1"/>
          <p:nvPr/>
        </p:nvSpPr>
        <p:spPr>
          <a:xfrm>
            <a:off x="3438144" y="2468880"/>
            <a:ext cx="2514600" cy="841248"/>
          </a:xfrm>
          <a:prstGeom prst="rect">
            <a:avLst/>
          </a:prstGeom>
          <a:noFill/>
          <a:ln/>
        </p:spPr>
        <p:txBody>
          <a:bodyPr wrap="square" lIns="0" tIns="0" rIns="0" bIns="0" rtlCol="0" anchor="ctr"/>
          <a:lstStyle/>
          <a:p>
            <a:pPr marL="0" indent="0">
              <a:lnSpc>
                <a:spcPts val="1600"/>
              </a:lnSpc>
              <a:buNone/>
            </a:pPr>
            <a:r>
              <a:rPr lang="en-US" sz="1200" dirty="0">
                <a:solidFill>
                  <a:srgbClr val="5A5A5A"/>
                </a:solidFill>
                <a:latin typeface="Segoe UI" pitchFamily="34" charset="0"/>
                <a:ea typeface="Segoe UI" pitchFamily="34" charset="-122"/>
                <a:cs typeface="Segoe UI" pitchFamily="34" charset="-120"/>
              </a:rPr>
              <a:t>Permissions grouped into roles that users are given.</a:t>
            </a:r>
            <a:endParaRPr lang="en-US" sz="1200" dirty="0"/>
          </a:p>
        </p:txBody>
      </p:sp>
      <p:sp>
        <p:nvSpPr>
          <p:cNvPr id="13" name="Text 10"/>
          <p:cNvSpPr txBox="1"/>
          <p:nvPr/>
        </p:nvSpPr>
        <p:spPr>
          <a:xfrm>
            <a:off x="6272784" y="2468880"/>
            <a:ext cx="3182112" cy="841248"/>
          </a:xfrm>
          <a:prstGeom prst="rect">
            <a:avLst/>
          </a:prstGeom>
          <a:noFill/>
          <a:ln/>
        </p:spPr>
        <p:txBody>
          <a:bodyPr wrap="square" lIns="0" tIns="0" rIns="0" bIns="0" rtlCol="0" anchor="ctr"/>
          <a:lstStyle/>
          <a:p>
            <a:pPr marL="0" indent="0">
              <a:lnSpc>
                <a:spcPts val="1600"/>
              </a:lnSpc>
              <a:buNone/>
            </a:pPr>
            <a:r>
              <a:rPr lang="en-US" sz="1200" dirty="0">
                <a:solidFill>
                  <a:srgbClr val="000000"/>
                </a:solidFill>
                <a:latin typeface="Segoe UI" pitchFamily="34" charset="0"/>
                <a:ea typeface="Segoe UI" pitchFamily="34" charset="-122"/>
                <a:cs typeface="Segoe UI" pitchFamily="34" charset="-120"/>
              </a:rPr>
              <a:t>A teller can view accounts; only a branch manager can approve a loan.</a:t>
            </a:r>
            <a:endParaRPr lang="en-US" sz="1200" dirty="0"/>
          </a:p>
        </p:txBody>
      </p:sp>
      <p:sp>
        <p:nvSpPr>
          <p:cNvPr id="14" name="Shape 11"/>
          <p:cNvSpPr/>
          <p:nvPr/>
        </p:nvSpPr>
        <p:spPr>
          <a:xfrm>
            <a:off x="384048" y="3310128"/>
            <a:ext cx="9290304" cy="841248"/>
          </a:xfrm>
          <a:prstGeom prst="rect">
            <a:avLst/>
          </a:prstGeom>
          <a:solidFill>
            <a:srgbClr val="F3F3F3"/>
          </a:solidFill>
          <a:ln/>
        </p:spPr>
      </p:sp>
      <p:sp>
        <p:nvSpPr>
          <p:cNvPr id="15" name="Shape 12"/>
          <p:cNvSpPr/>
          <p:nvPr/>
        </p:nvSpPr>
        <p:spPr>
          <a:xfrm>
            <a:off x="603504" y="3502152"/>
            <a:ext cx="457200" cy="457200"/>
          </a:xfrm>
          <a:prstGeom prst="ellipse">
            <a:avLst/>
          </a:prstGeom>
          <a:solidFill>
            <a:srgbClr val="D2D2D2"/>
          </a:solidFill>
          <a:ln/>
        </p:spPr>
      </p:sp>
      <p:pic>
        <p:nvPicPr>
          <p:cNvPr id="16" name="Image 1" descr="preencoded.png"/>
          <p:cNvPicPr>
            <a:picLocks noChangeAspect="1"/>
          </p:cNvPicPr>
          <p:nvPr/>
        </p:nvPicPr>
        <p:blipFill>
          <a:blip r:embed="rId4"/>
          <a:stretch>
            <a:fillRect/>
          </a:stretch>
        </p:blipFill>
        <p:spPr>
          <a:xfrm>
            <a:off x="717804" y="3616452"/>
            <a:ext cx="228600" cy="228600"/>
          </a:xfrm>
          <a:prstGeom prst="rect">
            <a:avLst/>
          </a:prstGeom>
        </p:spPr>
      </p:pic>
      <p:sp>
        <p:nvSpPr>
          <p:cNvPr id="17" name="Text 13"/>
          <p:cNvSpPr txBox="1"/>
          <p:nvPr/>
        </p:nvSpPr>
        <p:spPr>
          <a:xfrm>
            <a:off x="1197864" y="3310128"/>
            <a:ext cx="2148840" cy="841248"/>
          </a:xfrm>
          <a:prstGeom prst="rect">
            <a:avLst/>
          </a:prstGeom>
          <a:noFill/>
          <a:ln/>
        </p:spPr>
        <p:txBody>
          <a:bodyPr wrap="square" lIns="0" tIns="0" rIns="0" bIns="0" rtlCol="0" anchor="ctr"/>
          <a:lstStyle/>
          <a:p>
            <a:pPr marL="0" indent="0">
              <a:buNone/>
            </a:pPr>
            <a:r>
              <a:rPr lang="en-US" sz="1400" dirty="0">
                <a:solidFill>
                  <a:srgbClr val="000000"/>
                </a:solidFill>
                <a:latin typeface="Segoe UI Semibold" pitchFamily="34" charset="0"/>
                <a:ea typeface="Segoe UI Semibold" pitchFamily="34" charset="-122"/>
                <a:cs typeface="Segoe UI Semibold" pitchFamily="34" charset="-120"/>
              </a:rPr>
              <a:t>Fine-grained policies</a:t>
            </a:r>
            <a:endParaRPr lang="en-US" sz="1400" dirty="0"/>
          </a:p>
        </p:txBody>
      </p:sp>
      <p:sp>
        <p:nvSpPr>
          <p:cNvPr id="18" name="Text 14"/>
          <p:cNvSpPr txBox="1"/>
          <p:nvPr/>
        </p:nvSpPr>
        <p:spPr>
          <a:xfrm>
            <a:off x="3438144" y="3310128"/>
            <a:ext cx="2514600" cy="841248"/>
          </a:xfrm>
          <a:prstGeom prst="rect">
            <a:avLst/>
          </a:prstGeom>
          <a:noFill/>
          <a:ln/>
        </p:spPr>
        <p:txBody>
          <a:bodyPr wrap="square" lIns="0" tIns="0" rIns="0" bIns="0" rtlCol="0" anchor="ctr"/>
          <a:lstStyle/>
          <a:p>
            <a:pPr marL="0" indent="0">
              <a:lnSpc>
                <a:spcPts val="1600"/>
              </a:lnSpc>
              <a:buNone/>
            </a:pPr>
            <a:r>
              <a:rPr lang="en-US" sz="1200" dirty="0">
                <a:solidFill>
                  <a:srgbClr val="5A5A5A"/>
                </a:solidFill>
                <a:latin typeface="Segoe UI" pitchFamily="34" charset="0"/>
                <a:ea typeface="Segoe UI" pitchFamily="34" charset="-122"/>
                <a:cs typeface="Segoe UI" pitchFamily="34" charset="-120"/>
              </a:rPr>
              <a:t>Rules on attributes like amount, time or location.</a:t>
            </a:r>
            <a:endParaRPr lang="en-US" sz="1200" dirty="0"/>
          </a:p>
        </p:txBody>
      </p:sp>
      <p:sp>
        <p:nvSpPr>
          <p:cNvPr id="19" name="Text 15"/>
          <p:cNvSpPr txBox="1"/>
          <p:nvPr/>
        </p:nvSpPr>
        <p:spPr>
          <a:xfrm>
            <a:off x="6272784" y="3310128"/>
            <a:ext cx="3182112" cy="841248"/>
          </a:xfrm>
          <a:prstGeom prst="rect">
            <a:avLst/>
          </a:prstGeom>
          <a:noFill/>
          <a:ln/>
        </p:spPr>
        <p:txBody>
          <a:bodyPr wrap="square" lIns="0" tIns="0" rIns="0" bIns="0" rtlCol="0" anchor="ctr"/>
          <a:lstStyle/>
          <a:p>
            <a:pPr marL="0" indent="0">
              <a:lnSpc>
                <a:spcPts val="1600"/>
              </a:lnSpc>
              <a:buNone/>
            </a:pPr>
            <a:r>
              <a:rPr lang="en-US" sz="1200" dirty="0">
                <a:solidFill>
                  <a:srgbClr val="000000"/>
                </a:solidFill>
                <a:latin typeface="Segoe UI" pitchFamily="34" charset="0"/>
                <a:ea typeface="Segoe UI" pitchFamily="34" charset="-122"/>
                <a:cs typeface="Segoe UI" pitchFamily="34" charset="-120"/>
              </a:rPr>
              <a:t>Payments over $10,000 need a manager, and only in business hours.</a:t>
            </a:r>
            <a:endParaRPr lang="en-US" sz="1200" dirty="0"/>
          </a:p>
        </p:txBody>
      </p:sp>
      <p:sp>
        <p:nvSpPr>
          <p:cNvPr id="20" name="Shape 16"/>
          <p:cNvSpPr/>
          <p:nvPr/>
        </p:nvSpPr>
        <p:spPr>
          <a:xfrm>
            <a:off x="603504" y="4343400"/>
            <a:ext cx="457200" cy="457200"/>
          </a:xfrm>
          <a:prstGeom prst="ellipse">
            <a:avLst/>
          </a:prstGeom>
          <a:solidFill>
            <a:srgbClr val="D2D2D2"/>
          </a:solidFill>
          <a:ln/>
        </p:spPr>
      </p:sp>
      <p:pic>
        <p:nvPicPr>
          <p:cNvPr id="21" name="Image 2" descr="preencoded.png"/>
          <p:cNvPicPr>
            <a:picLocks noChangeAspect="1"/>
          </p:cNvPicPr>
          <p:nvPr/>
        </p:nvPicPr>
        <p:blipFill>
          <a:blip r:embed="rId5"/>
          <a:stretch>
            <a:fillRect/>
          </a:stretch>
        </p:blipFill>
        <p:spPr>
          <a:xfrm>
            <a:off x="717804" y="4457700"/>
            <a:ext cx="228600" cy="228600"/>
          </a:xfrm>
          <a:prstGeom prst="rect">
            <a:avLst/>
          </a:prstGeom>
        </p:spPr>
      </p:pic>
      <p:sp>
        <p:nvSpPr>
          <p:cNvPr id="22" name="Text 17"/>
          <p:cNvSpPr txBox="1"/>
          <p:nvPr/>
        </p:nvSpPr>
        <p:spPr>
          <a:xfrm>
            <a:off x="1197864" y="4151376"/>
            <a:ext cx="2148840" cy="841248"/>
          </a:xfrm>
          <a:prstGeom prst="rect">
            <a:avLst/>
          </a:prstGeom>
          <a:noFill/>
          <a:ln/>
        </p:spPr>
        <p:txBody>
          <a:bodyPr wrap="square" lIns="0" tIns="0" rIns="0" bIns="0" rtlCol="0" anchor="ctr"/>
          <a:lstStyle/>
          <a:p>
            <a:pPr marL="0" indent="0">
              <a:buNone/>
            </a:pPr>
            <a:r>
              <a:rPr lang="en-US" sz="1400" dirty="0">
                <a:solidFill>
                  <a:srgbClr val="000000"/>
                </a:solidFill>
                <a:latin typeface="Segoe UI Semibold" pitchFamily="34" charset="0"/>
                <a:ea typeface="Segoe UI Semibold" pitchFamily="34" charset="-122"/>
                <a:cs typeface="Segoe UI Semibold" pitchFamily="34" charset="-120"/>
              </a:rPr>
              <a:t>Delegated access &amp; consent</a:t>
            </a:r>
            <a:endParaRPr lang="en-US" sz="1400" dirty="0"/>
          </a:p>
        </p:txBody>
      </p:sp>
      <p:sp>
        <p:nvSpPr>
          <p:cNvPr id="23" name="Text 18"/>
          <p:cNvSpPr txBox="1"/>
          <p:nvPr/>
        </p:nvSpPr>
        <p:spPr>
          <a:xfrm>
            <a:off x="3438144" y="4151376"/>
            <a:ext cx="2514600" cy="841248"/>
          </a:xfrm>
          <a:prstGeom prst="rect">
            <a:avLst/>
          </a:prstGeom>
          <a:noFill/>
          <a:ln/>
        </p:spPr>
        <p:txBody>
          <a:bodyPr wrap="square" lIns="0" tIns="0" rIns="0" bIns="0" rtlCol="0" anchor="ctr"/>
          <a:lstStyle/>
          <a:p>
            <a:pPr marL="0" indent="0">
              <a:lnSpc>
                <a:spcPts val="1600"/>
              </a:lnSpc>
              <a:buNone/>
            </a:pPr>
            <a:r>
              <a:rPr lang="en-US" sz="1200" dirty="0">
                <a:solidFill>
                  <a:srgbClr val="5A5A5A"/>
                </a:solidFill>
                <a:latin typeface="Segoe UI" pitchFamily="34" charset="0"/>
                <a:ea typeface="Segoe UI" pitchFamily="34" charset="-122"/>
                <a:cs typeface="Segoe UI" pitchFamily="34" charset="-120"/>
              </a:rPr>
              <a:t>An app acts for a user, within scopes they approve.</a:t>
            </a:r>
            <a:endParaRPr lang="en-US" sz="1200" dirty="0"/>
          </a:p>
        </p:txBody>
      </p:sp>
      <p:sp>
        <p:nvSpPr>
          <p:cNvPr id="24" name="Text 19"/>
          <p:cNvSpPr txBox="1"/>
          <p:nvPr/>
        </p:nvSpPr>
        <p:spPr>
          <a:xfrm>
            <a:off x="6272784" y="4151376"/>
            <a:ext cx="3182112" cy="841248"/>
          </a:xfrm>
          <a:prstGeom prst="rect">
            <a:avLst/>
          </a:prstGeom>
          <a:noFill/>
          <a:ln/>
        </p:spPr>
        <p:txBody>
          <a:bodyPr wrap="square" lIns="0" tIns="0" rIns="0" bIns="0" rtlCol="0" anchor="ctr"/>
          <a:lstStyle/>
          <a:p>
            <a:pPr marL="0" indent="0">
              <a:lnSpc>
                <a:spcPts val="1600"/>
              </a:lnSpc>
              <a:buNone/>
            </a:pPr>
            <a:r>
              <a:rPr lang="en-US" sz="1200" dirty="0">
                <a:solidFill>
                  <a:srgbClr val="000000"/>
                </a:solidFill>
                <a:latin typeface="Segoe UI" pitchFamily="34" charset="0"/>
                <a:ea typeface="Segoe UI" pitchFamily="34" charset="-122"/>
                <a:cs typeface="Segoe UI" pitchFamily="34" charset="-120"/>
              </a:rPr>
              <a:t>A budgeting app can read balances but can never move money.</a:t>
            </a:r>
            <a:endParaRPr lang="en-US" sz="1200" dirty="0"/>
          </a:p>
        </p:txBody>
      </p:sp>
      <p:sp>
        <p:nvSpPr>
          <p:cNvPr id="25" name="Shape 20"/>
          <p:cNvSpPr/>
          <p:nvPr/>
        </p:nvSpPr>
        <p:spPr>
          <a:xfrm>
            <a:off x="384048" y="4992624"/>
            <a:ext cx="9290304" cy="841248"/>
          </a:xfrm>
          <a:prstGeom prst="rect">
            <a:avLst/>
          </a:prstGeom>
          <a:solidFill>
            <a:srgbClr val="F3F3F3"/>
          </a:solidFill>
          <a:ln/>
        </p:spPr>
      </p:sp>
      <p:sp>
        <p:nvSpPr>
          <p:cNvPr id="26" name="Shape 21"/>
          <p:cNvSpPr/>
          <p:nvPr/>
        </p:nvSpPr>
        <p:spPr>
          <a:xfrm>
            <a:off x="603504" y="5184648"/>
            <a:ext cx="457200" cy="457200"/>
          </a:xfrm>
          <a:prstGeom prst="ellipse">
            <a:avLst/>
          </a:prstGeom>
          <a:solidFill>
            <a:srgbClr val="D2D2D2"/>
          </a:solidFill>
          <a:ln/>
        </p:spPr>
      </p:sp>
      <p:pic>
        <p:nvPicPr>
          <p:cNvPr id="27" name="Image 3" descr="preencoded.png"/>
          <p:cNvPicPr>
            <a:picLocks noChangeAspect="1"/>
          </p:cNvPicPr>
          <p:nvPr/>
        </p:nvPicPr>
        <p:blipFill>
          <a:blip r:embed="rId6"/>
          <a:stretch>
            <a:fillRect/>
          </a:stretch>
        </p:blipFill>
        <p:spPr>
          <a:xfrm>
            <a:off x="717804" y="5298948"/>
            <a:ext cx="228600" cy="228600"/>
          </a:xfrm>
          <a:prstGeom prst="rect">
            <a:avLst/>
          </a:prstGeom>
        </p:spPr>
      </p:pic>
      <p:sp>
        <p:nvSpPr>
          <p:cNvPr id="28" name="Text 22"/>
          <p:cNvSpPr txBox="1"/>
          <p:nvPr/>
        </p:nvSpPr>
        <p:spPr>
          <a:xfrm>
            <a:off x="1197864" y="4992624"/>
            <a:ext cx="2148840" cy="841248"/>
          </a:xfrm>
          <a:prstGeom prst="rect">
            <a:avLst/>
          </a:prstGeom>
          <a:noFill/>
          <a:ln/>
        </p:spPr>
        <p:txBody>
          <a:bodyPr wrap="square" lIns="0" tIns="0" rIns="0" bIns="0" rtlCol="0" anchor="ctr"/>
          <a:lstStyle/>
          <a:p>
            <a:pPr marL="0" indent="0">
              <a:buNone/>
            </a:pPr>
            <a:r>
              <a:rPr lang="en-US" sz="1400" dirty="0">
                <a:solidFill>
                  <a:srgbClr val="000000"/>
                </a:solidFill>
                <a:latin typeface="Segoe UI Semibold" pitchFamily="34" charset="0"/>
                <a:ea typeface="Segoe UI Semibold" pitchFamily="34" charset="-122"/>
                <a:cs typeface="Segoe UI Semibold" pitchFamily="34" charset="-120"/>
              </a:rPr>
              <a:t>Service-to-service security</a:t>
            </a:r>
            <a:endParaRPr lang="en-US" sz="1400" dirty="0"/>
          </a:p>
        </p:txBody>
      </p:sp>
      <p:sp>
        <p:nvSpPr>
          <p:cNvPr id="29" name="Text 23"/>
          <p:cNvSpPr txBox="1"/>
          <p:nvPr/>
        </p:nvSpPr>
        <p:spPr>
          <a:xfrm>
            <a:off x="3438144" y="4992624"/>
            <a:ext cx="2514600" cy="841248"/>
          </a:xfrm>
          <a:prstGeom prst="rect">
            <a:avLst/>
          </a:prstGeom>
          <a:noFill/>
          <a:ln/>
        </p:spPr>
        <p:txBody>
          <a:bodyPr wrap="square" lIns="0" tIns="0" rIns="0" bIns="0" rtlCol="0" anchor="ctr"/>
          <a:lstStyle/>
          <a:p>
            <a:pPr marL="0" indent="0">
              <a:lnSpc>
                <a:spcPts val="1600"/>
              </a:lnSpc>
              <a:buNone/>
            </a:pPr>
            <a:r>
              <a:rPr lang="en-US" sz="1200" dirty="0">
                <a:solidFill>
                  <a:srgbClr val="5A5A5A"/>
                </a:solidFill>
                <a:latin typeface="Segoe UI" pitchFamily="34" charset="0"/>
                <a:ea typeface="Segoe UI" pitchFamily="34" charset="-122"/>
                <a:cs typeface="Segoe UI" pitchFamily="34" charset="-120"/>
              </a:rPr>
              <a:t>Machine identities get their own short-lived tokens.</a:t>
            </a:r>
            <a:endParaRPr lang="en-US" sz="1200" dirty="0"/>
          </a:p>
        </p:txBody>
      </p:sp>
      <p:sp>
        <p:nvSpPr>
          <p:cNvPr id="30" name="Text 24"/>
          <p:cNvSpPr txBox="1"/>
          <p:nvPr/>
        </p:nvSpPr>
        <p:spPr>
          <a:xfrm>
            <a:off x="6272784" y="4992624"/>
            <a:ext cx="3182112" cy="841248"/>
          </a:xfrm>
          <a:prstGeom prst="rect">
            <a:avLst/>
          </a:prstGeom>
          <a:noFill/>
          <a:ln/>
        </p:spPr>
        <p:txBody>
          <a:bodyPr wrap="square" lIns="0" tIns="0" rIns="0" bIns="0" rtlCol="0" anchor="ctr"/>
          <a:lstStyle/>
          <a:p>
            <a:pPr marL="0" indent="0">
              <a:lnSpc>
                <a:spcPts val="1600"/>
              </a:lnSpc>
              <a:buNone/>
            </a:pPr>
            <a:r>
              <a:rPr lang="en-US" sz="1200" dirty="0">
                <a:solidFill>
                  <a:srgbClr val="000000"/>
                </a:solidFill>
                <a:latin typeface="Segoe UI" pitchFamily="34" charset="0"/>
                <a:ea typeface="Segoe UI" pitchFamily="34" charset="-122"/>
                <a:cs typeface="Segoe UI" pitchFamily="34" charset="-120"/>
              </a:rPr>
              <a:t>Payment Service calls Notification Service with its own token, not a shared API key.</a:t>
            </a:r>
            <a:endParaRPr lang="en-US" sz="1200" dirty="0"/>
          </a:p>
        </p:txBody>
      </p:sp>
      <p:sp>
        <p:nvSpPr>
          <p:cNvPr id="31" name="Text 25"/>
          <p:cNvSpPr txBox="1"/>
          <p:nvPr/>
        </p:nvSpPr>
        <p:spPr>
          <a:xfrm>
            <a:off x="374904" y="6089904"/>
            <a:ext cx="9308592" cy="630936"/>
          </a:xfrm>
          <a:prstGeom prst="rect">
            <a:avLst/>
          </a:prstGeom>
          <a:noFill/>
          <a:ln/>
        </p:spPr>
        <p:txBody>
          <a:bodyPr wrap="square" lIns="0" tIns="0" rIns="0" bIns="0" rtlCol="0" anchor="t"/>
          <a:lstStyle/>
          <a:p>
            <a:pPr marL="0" indent="0">
              <a:lnSpc>
                <a:spcPts val="2200"/>
              </a:lnSpc>
              <a:buNone/>
            </a:pPr>
            <a:r>
              <a:rPr lang="en-US" sz="1400" dirty="0">
                <a:solidFill>
                  <a:srgbClr val="000000"/>
                </a:solidFill>
                <a:latin typeface="Segoe UI" pitchFamily="34" charset="0"/>
                <a:ea typeface="Segoe UI" pitchFamily="34" charset="-122"/>
                <a:cs typeface="Segoe UI" pitchFamily="34" charset="-120"/>
              </a:rPr>
              <a:t>Authorization is checked on </a:t>
            </a:r>
            <a:r>
              <a:rPr lang="en-US" sz="1400" b="1" dirty="0">
                <a:solidFill>
                  <a:srgbClr val="000000"/>
                </a:solidFill>
                <a:latin typeface="Segoe UI" pitchFamily="34" charset="0"/>
                <a:ea typeface="Segoe UI" pitchFamily="34" charset="-122"/>
                <a:cs typeface="Segoe UI" pitchFamily="34" charset="-120"/>
              </a:rPr>
              <a:t>every request</a:t>
            </a:r>
            <a:r>
              <a:rPr lang="en-US" sz="1400" dirty="0">
                <a:solidFill>
                  <a:srgbClr val="000000"/>
                </a:solidFill>
                <a:latin typeface="Segoe UI" pitchFamily="34" charset="0"/>
                <a:ea typeface="Segoe UI" pitchFamily="34" charset="-122"/>
                <a:cs typeface="Segoe UI" pitchFamily="34" charset="-120"/>
              </a:rPr>
              <a:t>, so the rules live in one place and every service enforces the same ones.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74904" y="475488"/>
            <a:ext cx="9308592" cy="576072"/>
          </a:xfrm>
          <a:prstGeom prst="rect">
            <a:avLst/>
          </a:prstGeom>
          <a:noFill/>
          <a:ln/>
        </p:spPr>
        <p:txBody>
          <a:bodyPr wrap="square" lIns="0" tIns="0" rIns="0" bIns="0" rtlCol="0" anchor="ctr"/>
          <a:lstStyle/>
          <a:p>
            <a:pPr marL="0" indent="0">
              <a:buNone/>
            </a:pPr>
            <a:r>
              <a:rPr lang="en-US" sz="2400" b="1" dirty="0">
                <a:solidFill>
                  <a:srgbClr val="000000"/>
                </a:solidFill>
                <a:latin typeface="Segoe UI" pitchFamily="34" charset="0"/>
                <a:ea typeface="Segoe UI" pitchFamily="34" charset="-122"/>
                <a:cs typeface="Segoe UI" pitchFamily="34" charset="-120"/>
              </a:rPr>
              <a:t>10. Governance features: keeping it under control</a:t>
            </a:r>
            <a:endParaRPr lang="en-US" sz="2400" dirty="0"/>
          </a:p>
        </p:txBody>
      </p:sp>
      <p:sp>
        <p:nvSpPr>
          <p:cNvPr id="3" name="Text 1"/>
          <p:cNvSpPr txBox="1"/>
          <p:nvPr/>
        </p:nvSpPr>
        <p:spPr>
          <a:xfrm>
            <a:off x="374904" y="1234440"/>
            <a:ext cx="9308592" cy="521208"/>
          </a:xfrm>
          <a:prstGeom prst="rect">
            <a:avLst/>
          </a:prstGeom>
          <a:noFill/>
          <a:ln/>
        </p:spPr>
        <p:txBody>
          <a:bodyPr wrap="square" lIns="0" tIns="0" rIns="0" bIns="0" rtlCol="0" anchor="t"/>
          <a:lstStyle/>
          <a:p>
            <a:pPr marL="0" indent="0">
              <a:buNone/>
            </a:pPr>
            <a:r>
              <a:rPr lang="en-US" sz="1400" dirty="0">
                <a:solidFill>
                  <a:srgbClr val="000000"/>
                </a:solidFill>
                <a:latin typeface="Segoe UI" pitchFamily="34" charset="0"/>
                <a:ea typeface="Segoe UI" pitchFamily="34" charset="-122"/>
                <a:cs typeface="Segoe UI" pitchFamily="34" charset="-120"/>
              </a:rPr>
              <a:t>The operational side that auditors, support and security teams depend on:</a:t>
            </a:r>
            <a:endParaRPr lang="en-US" sz="1400" dirty="0"/>
          </a:p>
        </p:txBody>
      </p:sp>
      <p:sp>
        <p:nvSpPr>
          <p:cNvPr id="4" name="Shape 2"/>
          <p:cNvSpPr/>
          <p:nvPr/>
        </p:nvSpPr>
        <p:spPr>
          <a:xfrm>
            <a:off x="374904" y="2011680"/>
            <a:ext cx="2157984" cy="3840480"/>
          </a:xfrm>
          <a:prstGeom prst="rect">
            <a:avLst/>
          </a:prstGeom>
          <a:solidFill>
            <a:srgbClr val="FFFFFF"/>
          </a:solidFill>
          <a:ln w="9525">
            <a:solidFill>
              <a:srgbClr val="E1E1E1"/>
            </a:solidFill>
            <a:prstDash val="solid"/>
          </a:ln>
          <a:effectLst>
            <a:outerShdw blurRad="50800" dist="38100" dir="2700000" algn="bl" rotWithShape="0">
              <a:srgbClr val="000000">
                <a:alpha val="40000"/>
              </a:srgbClr>
            </a:outerShdw>
          </a:effectLst>
        </p:spPr>
      </p:sp>
      <p:sp>
        <p:nvSpPr>
          <p:cNvPr id="5" name="Shape 3"/>
          <p:cNvSpPr/>
          <p:nvPr/>
        </p:nvSpPr>
        <p:spPr>
          <a:xfrm>
            <a:off x="557784" y="2212848"/>
            <a:ext cx="566928" cy="566928"/>
          </a:xfrm>
          <a:prstGeom prst="ellipse">
            <a:avLst/>
          </a:prstGeom>
          <a:solidFill>
            <a:srgbClr val="D2D2D2"/>
          </a:solidFill>
          <a:ln/>
        </p:spPr>
      </p:sp>
      <p:pic>
        <p:nvPicPr>
          <p:cNvPr id="6" name="Image 0" descr="preencoded.png"/>
          <p:cNvPicPr>
            <a:picLocks noChangeAspect="1"/>
          </p:cNvPicPr>
          <p:nvPr/>
        </p:nvPicPr>
        <p:blipFill>
          <a:blip r:embed="rId3"/>
          <a:stretch>
            <a:fillRect/>
          </a:stretch>
        </p:blipFill>
        <p:spPr>
          <a:xfrm>
            <a:off x="699516" y="2354580"/>
            <a:ext cx="283464" cy="283464"/>
          </a:xfrm>
          <a:prstGeom prst="rect">
            <a:avLst/>
          </a:prstGeom>
        </p:spPr>
      </p:pic>
      <p:sp>
        <p:nvSpPr>
          <p:cNvPr id="7" name="Text 4"/>
          <p:cNvSpPr txBox="1"/>
          <p:nvPr/>
        </p:nvSpPr>
        <p:spPr>
          <a:xfrm>
            <a:off x="557784" y="2926080"/>
            <a:ext cx="1883664" cy="310896"/>
          </a:xfrm>
          <a:prstGeom prst="rect">
            <a:avLst/>
          </a:prstGeom>
          <a:noFill/>
          <a:ln/>
        </p:spPr>
        <p:txBody>
          <a:bodyPr wrap="square" lIns="0" tIns="0" rIns="0" bIns="0" rtlCol="0" anchor="ctr"/>
          <a:lstStyle/>
          <a:p>
            <a:pPr marL="0" indent="0">
              <a:buNone/>
            </a:pPr>
            <a:r>
              <a:rPr lang="en-US" sz="1400" dirty="0">
                <a:solidFill>
                  <a:srgbClr val="000000"/>
                </a:solidFill>
                <a:latin typeface="Segoe UI Semibold" pitchFamily="34" charset="0"/>
                <a:ea typeface="Segoe UI Semibold" pitchFamily="34" charset="-122"/>
                <a:cs typeface="Segoe UI Semibold" pitchFamily="34" charset="-120"/>
              </a:rPr>
              <a:t>User lifecycle</a:t>
            </a:r>
            <a:endParaRPr lang="en-US" sz="1400" dirty="0"/>
          </a:p>
        </p:txBody>
      </p:sp>
      <p:sp>
        <p:nvSpPr>
          <p:cNvPr id="8" name="Text 5"/>
          <p:cNvSpPr txBox="1"/>
          <p:nvPr/>
        </p:nvSpPr>
        <p:spPr>
          <a:xfrm>
            <a:off x="557784" y="3310128"/>
            <a:ext cx="1837944" cy="822960"/>
          </a:xfrm>
          <a:prstGeom prst="rect">
            <a:avLst/>
          </a:prstGeom>
          <a:noFill/>
          <a:ln/>
        </p:spPr>
        <p:txBody>
          <a:bodyPr wrap="square" lIns="0" tIns="0" rIns="0" bIns="0" rtlCol="0" anchor="t"/>
          <a:lstStyle/>
          <a:p>
            <a:pPr marL="0" indent="0">
              <a:lnSpc>
                <a:spcPts val="1700"/>
              </a:lnSpc>
              <a:buNone/>
            </a:pPr>
            <a:r>
              <a:rPr lang="en-US" sz="1200" dirty="0">
                <a:solidFill>
                  <a:srgbClr val="5A5A5A"/>
                </a:solidFill>
                <a:latin typeface="Segoe UI" pitchFamily="34" charset="0"/>
                <a:ea typeface="Segoe UI" pitchFamily="34" charset="-122"/>
                <a:cs typeface="Segoe UI" pitchFamily="34" charset="-120"/>
              </a:rPr>
              <a:t>Onboard, change and remove access in one place.</a:t>
            </a:r>
            <a:endParaRPr lang="en-US" sz="1200" dirty="0"/>
          </a:p>
        </p:txBody>
      </p:sp>
      <p:sp>
        <p:nvSpPr>
          <p:cNvPr id="9" name="Shape 6"/>
          <p:cNvSpPr/>
          <p:nvPr/>
        </p:nvSpPr>
        <p:spPr>
          <a:xfrm>
            <a:off x="557784" y="4206240"/>
            <a:ext cx="1792224" cy="0"/>
          </a:xfrm>
          <a:prstGeom prst="line">
            <a:avLst/>
          </a:prstGeom>
          <a:noFill/>
          <a:ln w="9525">
            <a:solidFill>
              <a:srgbClr val="E1E1E1"/>
            </a:solidFill>
            <a:prstDash val="solid"/>
          </a:ln>
        </p:spPr>
      </p:sp>
      <p:sp>
        <p:nvSpPr>
          <p:cNvPr id="10" name="Shape 7"/>
          <p:cNvSpPr/>
          <p:nvPr/>
        </p:nvSpPr>
        <p:spPr>
          <a:xfrm>
            <a:off x="557784" y="4343400"/>
            <a:ext cx="731520" cy="219456"/>
          </a:xfrm>
          <a:prstGeom prst="roundRect">
            <a:avLst>
              <a:gd name="adj" fmla="val 25000"/>
            </a:avLst>
          </a:prstGeom>
          <a:solidFill>
            <a:srgbClr val="0078D4"/>
          </a:solidFill>
          <a:ln/>
        </p:spPr>
      </p:sp>
      <p:sp>
        <p:nvSpPr>
          <p:cNvPr id="11" name="Text 8"/>
          <p:cNvSpPr txBox="1"/>
          <p:nvPr/>
        </p:nvSpPr>
        <p:spPr>
          <a:xfrm>
            <a:off x="557784" y="4343400"/>
            <a:ext cx="731520" cy="219456"/>
          </a:xfrm>
          <a:prstGeom prst="rect">
            <a:avLst/>
          </a:prstGeom>
          <a:noFill/>
          <a:ln/>
        </p:spPr>
        <p:txBody>
          <a:bodyPr wrap="square" lIns="0" tIns="0" rIns="0" bIns="0" rtlCol="0" anchor="ctr"/>
          <a:lstStyle/>
          <a:p>
            <a:pPr marL="0" indent="0" algn="ctr">
              <a:buNone/>
            </a:pPr>
            <a:r>
              <a:rPr lang="en-US" sz="1000" dirty="0">
                <a:solidFill>
                  <a:srgbClr val="FFFFFF"/>
                </a:solidFill>
                <a:latin typeface="Segoe UI Semibold" pitchFamily="34" charset="0"/>
                <a:ea typeface="Segoe UI Semibold" pitchFamily="34" charset="-122"/>
                <a:cs typeface="Segoe UI Semibold" pitchFamily="34" charset="-120"/>
              </a:rPr>
              <a:t>EXAMPLE</a:t>
            </a:r>
            <a:endParaRPr lang="en-US" sz="1000" dirty="0"/>
          </a:p>
        </p:txBody>
      </p:sp>
      <p:sp>
        <p:nvSpPr>
          <p:cNvPr id="12" name="Text 9"/>
          <p:cNvSpPr txBox="1"/>
          <p:nvPr/>
        </p:nvSpPr>
        <p:spPr>
          <a:xfrm>
            <a:off x="557784" y="4681728"/>
            <a:ext cx="1837944" cy="1051560"/>
          </a:xfrm>
          <a:prstGeom prst="rect">
            <a:avLst/>
          </a:prstGeom>
          <a:noFill/>
          <a:ln/>
        </p:spPr>
        <p:txBody>
          <a:bodyPr wrap="square" lIns="0" tIns="0" rIns="0" bIns="0" rtlCol="0" anchor="t"/>
          <a:lstStyle/>
          <a:p>
            <a:pPr marL="0" indent="0">
              <a:lnSpc>
                <a:spcPts val="1700"/>
              </a:lnSpc>
              <a:buNone/>
            </a:pPr>
            <a:r>
              <a:rPr lang="en-US" sz="1200" dirty="0">
                <a:solidFill>
                  <a:srgbClr val="000000"/>
                </a:solidFill>
                <a:latin typeface="Segoe UI" pitchFamily="34" charset="0"/>
                <a:ea typeface="Segoe UI" pitchFamily="34" charset="-122"/>
                <a:cs typeface="Segoe UI" pitchFamily="34" charset="-120"/>
              </a:rPr>
              <a:t>A new teller has access on day one, revoked the day they leave.</a:t>
            </a:r>
            <a:endParaRPr lang="en-US" sz="1200" dirty="0"/>
          </a:p>
        </p:txBody>
      </p:sp>
      <p:sp>
        <p:nvSpPr>
          <p:cNvPr id="13" name="Shape 10"/>
          <p:cNvSpPr/>
          <p:nvPr/>
        </p:nvSpPr>
        <p:spPr>
          <a:xfrm>
            <a:off x="2761488" y="2011680"/>
            <a:ext cx="2157984" cy="3840480"/>
          </a:xfrm>
          <a:prstGeom prst="rect">
            <a:avLst/>
          </a:prstGeom>
          <a:solidFill>
            <a:srgbClr val="FFFFFF"/>
          </a:solidFill>
          <a:ln w="9525">
            <a:solidFill>
              <a:srgbClr val="E1E1E1"/>
            </a:solidFill>
            <a:prstDash val="solid"/>
          </a:ln>
          <a:effectLst>
            <a:outerShdw blurRad="50800" dist="38100" dir="2700000" algn="bl" rotWithShape="0">
              <a:srgbClr val="000000">
                <a:alpha val="40000"/>
              </a:srgbClr>
            </a:outerShdw>
          </a:effectLst>
        </p:spPr>
      </p:sp>
      <p:sp>
        <p:nvSpPr>
          <p:cNvPr id="14" name="Shape 11"/>
          <p:cNvSpPr/>
          <p:nvPr/>
        </p:nvSpPr>
        <p:spPr>
          <a:xfrm>
            <a:off x="2944368" y="2212848"/>
            <a:ext cx="566928" cy="566928"/>
          </a:xfrm>
          <a:prstGeom prst="ellipse">
            <a:avLst/>
          </a:prstGeom>
          <a:solidFill>
            <a:srgbClr val="D2D2D2"/>
          </a:solidFill>
          <a:ln/>
        </p:spPr>
      </p:sp>
      <p:pic>
        <p:nvPicPr>
          <p:cNvPr id="15" name="Image 1" descr="preencoded.png"/>
          <p:cNvPicPr>
            <a:picLocks noChangeAspect="1"/>
          </p:cNvPicPr>
          <p:nvPr/>
        </p:nvPicPr>
        <p:blipFill>
          <a:blip r:embed="rId4"/>
          <a:stretch>
            <a:fillRect/>
          </a:stretch>
        </p:blipFill>
        <p:spPr>
          <a:xfrm>
            <a:off x="3086100" y="2354580"/>
            <a:ext cx="283464" cy="283464"/>
          </a:xfrm>
          <a:prstGeom prst="rect">
            <a:avLst/>
          </a:prstGeom>
        </p:spPr>
      </p:pic>
      <p:sp>
        <p:nvSpPr>
          <p:cNvPr id="16" name="Text 12"/>
          <p:cNvSpPr txBox="1"/>
          <p:nvPr/>
        </p:nvSpPr>
        <p:spPr>
          <a:xfrm>
            <a:off x="2944368" y="2926080"/>
            <a:ext cx="1883664" cy="310896"/>
          </a:xfrm>
          <a:prstGeom prst="rect">
            <a:avLst/>
          </a:prstGeom>
          <a:noFill/>
          <a:ln/>
        </p:spPr>
        <p:txBody>
          <a:bodyPr wrap="square" lIns="0" tIns="0" rIns="0" bIns="0" rtlCol="0" anchor="ctr"/>
          <a:lstStyle/>
          <a:p>
            <a:pPr marL="0" indent="0">
              <a:buNone/>
            </a:pPr>
            <a:r>
              <a:rPr lang="en-US" sz="1400" dirty="0">
                <a:solidFill>
                  <a:srgbClr val="000000"/>
                </a:solidFill>
                <a:latin typeface="Segoe UI Semibold" pitchFamily="34" charset="0"/>
                <a:ea typeface="Segoe UI Semibold" pitchFamily="34" charset="-122"/>
                <a:cs typeface="Segoe UI Semibold" pitchFamily="34" charset="-120"/>
              </a:rPr>
              <a:t>Session control</a:t>
            </a:r>
            <a:endParaRPr lang="en-US" sz="1400" dirty="0"/>
          </a:p>
        </p:txBody>
      </p:sp>
      <p:sp>
        <p:nvSpPr>
          <p:cNvPr id="17" name="Text 13"/>
          <p:cNvSpPr txBox="1"/>
          <p:nvPr/>
        </p:nvSpPr>
        <p:spPr>
          <a:xfrm>
            <a:off x="2944368" y="3310128"/>
            <a:ext cx="1837944" cy="822960"/>
          </a:xfrm>
          <a:prstGeom prst="rect">
            <a:avLst/>
          </a:prstGeom>
          <a:noFill/>
          <a:ln/>
        </p:spPr>
        <p:txBody>
          <a:bodyPr wrap="square" lIns="0" tIns="0" rIns="0" bIns="0" rtlCol="0" anchor="t"/>
          <a:lstStyle/>
          <a:p>
            <a:pPr marL="0" indent="0">
              <a:lnSpc>
                <a:spcPts val="1700"/>
              </a:lnSpc>
              <a:buNone/>
            </a:pPr>
            <a:r>
              <a:rPr lang="en-US" sz="1200" dirty="0">
                <a:solidFill>
                  <a:srgbClr val="5A5A5A"/>
                </a:solidFill>
                <a:latin typeface="Segoe UI" pitchFamily="34" charset="0"/>
                <a:ea typeface="Segoe UI" pitchFamily="34" charset="-122"/>
                <a:cs typeface="Segoe UI" pitchFamily="34" charset="-120"/>
              </a:rPr>
              <a:t>See every active session and end it centrally.</a:t>
            </a:r>
            <a:endParaRPr lang="en-US" sz="1200" dirty="0"/>
          </a:p>
        </p:txBody>
      </p:sp>
      <p:sp>
        <p:nvSpPr>
          <p:cNvPr id="18" name="Shape 14"/>
          <p:cNvSpPr/>
          <p:nvPr/>
        </p:nvSpPr>
        <p:spPr>
          <a:xfrm>
            <a:off x="2944368" y="4206240"/>
            <a:ext cx="1792224" cy="0"/>
          </a:xfrm>
          <a:prstGeom prst="line">
            <a:avLst/>
          </a:prstGeom>
          <a:noFill/>
          <a:ln w="9525">
            <a:solidFill>
              <a:srgbClr val="E1E1E1"/>
            </a:solidFill>
            <a:prstDash val="solid"/>
          </a:ln>
        </p:spPr>
      </p:sp>
      <p:sp>
        <p:nvSpPr>
          <p:cNvPr id="19" name="Shape 15"/>
          <p:cNvSpPr/>
          <p:nvPr/>
        </p:nvSpPr>
        <p:spPr>
          <a:xfrm>
            <a:off x="2944368" y="4343400"/>
            <a:ext cx="731520" cy="219456"/>
          </a:xfrm>
          <a:prstGeom prst="roundRect">
            <a:avLst>
              <a:gd name="adj" fmla="val 25000"/>
            </a:avLst>
          </a:prstGeom>
          <a:solidFill>
            <a:srgbClr val="0078D4"/>
          </a:solidFill>
          <a:ln/>
        </p:spPr>
      </p:sp>
      <p:sp>
        <p:nvSpPr>
          <p:cNvPr id="20" name="Text 16"/>
          <p:cNvSpPr txBox="1"/>
          <p:nvPr/>
        </p:nvSpPr>
        <p:spPr>
          <a:xfrm>
            <a:off x="2944368" y="4343400"/>
            <a:ext cx="731520" cy="219456"/>
          </a:xfrm>
          <a:prstGeom prst="rect">
            <a:avLst/>
          </a:prstGeom>
          <a:noFill/>
          <a:ln/>
        </p:spPr>
        <p:txBody>
          <a:bodyPr wrap="square" lIns="0" tIns="0" rIns="0" bIns="0" rtlCol="0" anchor="ctr"/>
          <a:lstStyle/>
          <a:p>
            <a:pPr marL="0" indent="0" algn="ctr">
              <a:buNone/>
            </a:pPr>
            <a:r>
              <a:rPr lang="en-US" sz="1000" dirty="0">
                <a:solidFill>
                  <a:srgbClr val="FFFFFF"/>
                </a:solidFill>
                <a:latin typeface="Segoe UI Semibold" pitchFamily="34" charset="0"/>
                <a:ea typeface="Segoe UI Semibold" pitchFamily="34" charset="-122"/>
                <a:cs typeface="Segoe UI Semibold" pitchFamily="34" charset="-120"/>
              </a:rPr>
              <a:t>EXAMPLE</a:t>
            </a:r>
            <a:endParaRPr lang="en-US" sz="1000" dirty="0"/>
          </a:p>
        </p:txBody>
      </p:sp>
      <p:sp>
        <p:nvSpPr>
          <p:cNvPr id="21" name="Text 17"/>
          <p:cNvSpPr txBox="1"/>
          <p:nvPr/>
        </p:nvSpPr>
        <p:spPr>
          <a:xfrm>
            <a:off x="2944368" y="4681728"/>
            <a:ext cx="1837944" cy="1051560"/>
          </a:xfrm>
          <a:prstGeom prst="rect">
            <a:avLst/>
          </a:prstGeom>
          <a:noFill/>
          <a:ln/>
        </p:spPr>
        <p:txBody>
          <a:bodyPr wrap="square" lIns="0" tIns="0" rIns="0" bIns="0" rtlCol="0" anchor="t"/>
          <a:lstStyle/>
          <a:p>
            <a:pPr marL="0" indent="0">
              <a:lnSpc>
                <a:spcPts val="1700"/>
              </a:lnSpc>
              <a:buNone/>
            </a:pPr>
            <a:r>
              <a:rPr lang="en-US" sz="1200" dirty="0">
                <a:solidFill>
                  <a:srgbClr val="000000"/>
                </a:solidFill>
                <a:latin typeface="Segoe UI" pitchFamily="34" charset="0"/>
                <a:ea typeface="Segoe UI" pitchFamily="34" charset="-122"/>
                <a:cs typeface="Segoe UI" pitchFamily="34" charset="-120"/>
              </a:rPr>
              <a:t>Support ends a stolen session, and every service logs the user out.</a:t>
            </a:r>
            <a:endParaRPr lang="en-US" sz="1200" dirty="0"/>
          </a:p>
        </p:txBody>
      </p:sp>
      <p:sp>
        <p:nvSpPr>
          <p:cNvPr id="22" name="Shape 18"/>
          <p:cNvSpPr/>
          <p:nvPr/>
        </p:nvSpPr>
        <p:spPr>
          <a:xfrm>
            <a:off x="5148072" y="2011680"/>
            <a:ext cx="2157984" cy="3840480"/>
          </a:xfrm>
          <a:prstGeom prst="rect">
            <a:avLst/>
          </a:prstGeom>
          <a:solidFill>
            <a:srgbClr val="FFFFFF"/>
          </a:solidFill>
          <a:ln w="9525">
            <a:solidFill>
              <a:srgbClr val="E1E1E1"/>
            </a:solidFill>
            <a:prstDash val="solid"/>
          </a:ln>
          <a:effectLst>
            <a:outerShdw blurRad="50800" dist="38100" dir="2700000" algn="bl" rotWithShape="0">
              <a:srgbClr val="000000">
                <a:alpha val="40000"/>
              </a:srgbClr>
            </a:outerShdw>
          </a:effectLst>
        </p:spPr>
      </p:sp>
      <p:sp>
        <p:nvSpPr>
          <p:cNvPr id="23" name="Shape 19"/>
          <p:cNvSpPr/>
          <p:nvPr/>
        </p:nvSpPr>
        <p:spPr>
          <a:xfrm>
            <a:off x="5330952" y="2212848"/>
            <a:ext cx="566928" cy="566928"/>
          </a:xfrm>
          <a:prstGeom prst="ellipse">
            <a:avLst/>
          </a:prstGeom>
          <a:solidFill>
            <a:srgbClr val="D2D2D2"/>
          </a:solidFill>
          <a:ln/>
        </p:spPr>
      </p:sp>
      <p:pic>
        <p:nvPicPr>
          <p:cNvPr id="24" name="Image 2" descr="preencoded.png"/>
          <p:cNvPicPr>
            <a:picLocks noChangeAspect="1"/>
          </p:cNvPicPr>
          <p:nvPr/>
        </p:nvPicPr>
        <p:blipFill>
          <a:blip r:embed="rId5"/>
          <a:stretch>
            <a:fillRect/>
          </a:stretch>
        </p:blipFill>
        <p:spPr>
          <a:xfrm>
            <a:off x="5472684" y="2354580"/>
            <a:ext cx="283464" cy="283464"/>
          </a:xfrm>
          <a:prstGeom prst="rect">
            <a:avLst/>
          </a:prstGeom>
        </p:spPr>
      </p:pic>
      <p:sp>
        <p:nvSpPr>
          <p:cNvPr id="25" name="Text 20"/>
          <p:cNvSpPr txBox="1"/>
          <p:nvPr/>
        </p:nvSpPr>
        <p:spPr>
          <a:xfrm>
            <a:off x="5330952" y="2926080"/>
            <a:ext cx="1883664" cy="310896"/>
          </a:xfrm>
          <a:prstGeom prst="rect">
            <a:avLst/>
          </a:prstGeom>
          <a:noFill/>
          <a:ln/>
        </p:spPr>
        <p:txBody>
          <a:bodyPr wrap="square" lIns="0" tIns="0" rIns="0" bIns="0" rtlCol="0" anchor="ctr"/>
          <a:lstStyle/>
          <a:p>
            <a:pPr marL="0" indent="0">
              <a:buNone/>
            </a:pPr>
            <a:r>
              <a:rPr lang="en-US" sz="1400" dirty="0">
                <a:solidFill>
                  <a:srgbClr val="000000"/>
                </a:solidFill>
                <a:latin typeface="Segoe UI Semibold" pitchFamily="34" charset="0"/>
                <a:ea typeface="Segoe UI Semibold" pitchFamily="34" charset="-122"/>
                <a:cs typeface="Segoe UI Semibold" pitchFamily="34" charset="-120"/>
              </a:rPr>
              <a:t>Credential policies</a:t>
            </a:r>
            <a:endParaRPr lang="en-US" sz="1400" dirty="0"/>
          </a:p>
        </p:txBody>
      </p:sp>
      <p:sp>
        <p:nvSpPr>
          <p:cNvPr id="26" name="Text 21"/>
          <p:cNvSpPr txBox="1"/>
          <p:nvPr/>
        </p:nvSpPr>
        <p:spPr>
          <a:xfrm>
            <a:off x="5330952" y="3310128"/>
            <a:ext cx="1837944" cy="822960"/>
          </a:xfrm>
          <a:prstGeom prst="rect">
            <a:avLst/>
          </a:prstGeom>
          <a:noFill/>
          <a:ln/>
        </p:spPr>
        <p:txBody>
          <a:bodyPr wrap="square" lIns="0" tIns="0" rIns="0" bIns="0" rtlCol="0" anchor="t"/>
          <a:lstStyle/>
          <a:p>
            <a:pPr marL="0" indent="0">
              <a:lnSpc>
                <a:spcPts val="1700"/>
              </a:lnSpc>
              <a:buNone/>
            </a:pPr>
            <a:r>
              <a:rPr lang="en-US" sz="1200" dirty="0">
                <a:solidFill>
                  <a:srgbClr val="5A5A5A"/>
                </a:solidFill>
                <a:latin typeface="Segoe UI" pitchFamily="34" charset="0"/>
                <a:ea typeface="Segoe UI" pitchFamily="34" charset="-122"/>
                <a:cs typeface="Segoe UI" pitchFamily="34" charset="-120"/>
              </a:rPr>
              <a:t>Password rules and brute-force lockouts, set once.</a:t>
            </a:r>
            <a:endParaRPr lang="en-US" sz="1200" dirty="0"/>
          </a:p>
        </p:txBody>
      </p:sp>
      <p:sp>
        <p:nvSpPr>
          <p:cNvPr id="27" name="Shape 22"/>
          <p:cNvSpPr/>
          <p:nvPr/>
        </p:nvSpPr>
        <p:spPr>
          <a:xfrm>
            <a:off x="5330952" y="4206240"/>
            <a:ext cx="1792224" cy="0"/>
          </a:xfrm>
          <a:prstGeom prst="line">
            <a:avLst/>
          </a:prstGeom>
          <a:noFill/>
          <a:ln w="9525">
            <a:solidFill>
              <a:srgbClr val="E1E1E1"/>
            </a:solidFill>
            <a:prstDash val="solid"/>
          </a:ln>
        </p:spPr>
      </p:sp>
      <p:sp>
        <p:nvSpPr>
          <p:cNvPr id="28" name="Shape 23"/>
          <p:cNvSpPr/>
          <p:nvPr/>
        </p:nvSpPr>
        <p:spPr>
          <a:xfrm>
            <a:off x="5330952" y="4343400"/>
            <a:ext cx="731520" cy="219456"/>
          </a:xfrm>
          <a:prstGeom prst="roundRect">
            <a:avLst>
              <a:gd name="adj" fmla="val 25000"/>
            </a:avLst>
          </a:prstGeom>
          <a:solidFill>
            <a:srgbClr val="0078D4"/>
          </a:solidFill>
          <a:ln/>
        </p:spPr>
      </p:sp>
      <p:sp>
        <p:nvSpPr>
          <p:cNvPr id="29" name="Text 24"/>
          <p:cNvSpPr txBox="1"/>
          <p:nvPr/>
        </p:nvSpPr>
        <p:spPr>
          <a:xfrm>
            <a:off x="5330952" y="4343400"/>
            <a:ext cx="731520" cy="219456"/>
          </a:xfrm>
          <a:prstGeom prst="rect">
            <a:avLst/>
          </a:prstGeom>
          <a:noFill/>
          <a:ln/>
        </p:spPr>
        <p:txBody>
          <a:bodyPr wrap="square" lIns="0" tIns="0" rIns="0" bIns="0" rtlCol="0" anchor="ctr"/>
          <a:lstStyle/>
          <a:p>
            <a:pPr marL="0" indent="0" algn="ctr">
              <a:buNone/>
            </a:pPr>
            <a:r>
              <a:rPr lang="en-US" sz="1000" dirty="0">
                <a:solidFill>
                  <a:srgbClr val="FFFFFF"/>
                </a:solidFill>
                <a:latin typeface="Segoe UI Semibold" pitchFamily="34" charset="0"/>
                <a:ea typeface="Segoe UI Semibold" pitchFamily="34" charset="-122"/>
                <a:cs typeface="Segoe UI Semibold" pitchFamily="34" charset="-120"/>
              </a:rPr>
              <a:t>EXAMPLE</a:t>
            </a:r>
            <a:endParaRPr lang="en-US" sz="1000" dirty="0"/>
          </a:p>
        </p:txBody>
      </p:sp>
      <p:sp>
        <p:nvSpPr>
          <p:cNvPr id="30" name="Text 25"/>
          <p:cNvSpPr txBox="1"/>
          <p:nvPr/>
        </p:nvSpPr>
        <p:spPr>
          <a:xfrm>
            <a:off x="5330952" y="4681728"/>
            <a:ext cx="1837944" cy="1051560"/>
          </a:xfrm>
          <a:prstGeom prst="rect">
            <a:avLst/>
          </a:prstGeom>
          <a:noFill/>
          <a:ln/>
        </p:spPr>
        <p:txBody>
          <a:bodyPr wrap="square" lIns="0" tIns="0" rIns="0" bIns="0" rtlCol="0" anchor="t"/>
          <a:lstStyle/>
          <a:p>
            <a:pPr marL="0" indent="0">
              <a:lnSpc>
                <a:spcPts val="1700"/>
              </a:lnSpc>
              <a:buNone/>
            </a:pPr>
            <a:r>
              <a:rPr lang="en-US" sz="1200" dirty="0">
                <a:solidFill>
                  <a:srgbClr val="000000"/>
                </a:solidFill>
                <a:latin typeface="Segoe UI" pitchFamily="34" charset="0"/>
                <a:ea typeface="Segoe UI" pitchFamily="34" charset="-122"/>
                <a:cs typeface="Segoe UI" pitchFamily="34" charset="-120"/>
              </a:rPr>
              <a:t>Five wrong passwords lock the account for 15 minutes.</a:t>
            </a:r>
            <a:endParaRPr lang="en-US" sz="1200" dirty="0"/>
          </a:p>
        </p:txBody>
      </p:sp>
      <p:sp>
        <p:nvSpPr>
          <p:cNvPr id="31" name="Shape 26"/>
          <p:cNvSpPr/>
          <p:nvPr/>
        </p:nvSpPr>
        <p:spPr>
          <a:xfrm>
            <a:off x="7534656" y="2011680"/>
            <a:ext cx="2157984" cy="3840480"/>
          </a:xfrm>
          <a:prstGeom prst="rect">
            <a:avLst/>
          </a:prstGeom>
          <a:solidFill>
            <a:srgbClr val="FFFFFF"/>
          </a:solidFill>
          <a:ln w="9525">
            <a:solidFill>
              <a:srgbClr val="E1E1E1"/>
            </a:solidFill>
            <a:prstDash val="solid"/>
          </a:ln>
          <a:effectLst>
            <a:outerShdw blurRad="50800" dist="38100" dir="2700000" algn="bl" rotWithShape="0">
              <a:srgbClr val="000000">
                <a:alpha val="40000"/>
              </a:srgbClr>
            </a:outerShdw>
          </a:effectLst>
        </p:spPr>
      </p:sp>
      <p:sp>
        <p:nvSpPr>
          <p:cNvPr id="32" name="Shape 27"/>
          <p:cNvSpPr/>
          <p:nvPr/>
        </p:nvSpPr>
        <p:spPr>
          <a:xfrm>
            <a:off x="7717536" y="2212848"/>
            <a:ext cx="566928" cy="566928"/>
          </a:xfrm>
          <a:prstGeom prst="ellipse">
            <a:avLst/>
          </a:prstGeom>
          <a:solidFill>
            <a:srgbClr val="D2D2D2"/>
          </a:solidFill>
          <a:ln/>
        </p:spPr>
      </p:sp>
      <p:pic>
        <p:nvPicPr>
          <p:cNvPr id="33" name="Image 3" descr="preencoded.png"/>
          <p:cNvPicPr>
            <a:picLocks noChangeAspect="1"/>
          </p:cNvPicPr>
          <p:nvPr/>
        </p:nvPicPr>
        <p:blipFill>
          <a:blip r:embed="rId6"/>
          <a:stretch>
            <a:fillRect/>
          </a:stretch>
        </p:blipFill>
        <p:spPr>
          <a:xfrm>
            <a:off x="7859268" y="2354580"/>
            <a:ext cx="283464" cy="283464"/>
          </a:xfrm>
          <a:prstGeom prst="rect">
            <a:avLst/>
          </a:prstGeom>
        </p:spPr>
      </p:pic>
      <p:sp>
        <p:nvSpPr>
          <p:cNvPr id="34" name="Text 28"/>
          <p:cNvSpPr txBox="1"/>
          <p:nvPr/>
        </p:nvSpPr>
        <p:spPr>
          <a:xfrm>
            <a:off x="7717536" y="2926080"/>
            <a:ext cx="1883664" cy="310896"/>
          </a:xfrm>
          <a:prstGeom prst="rect">
            <a:avLst/>
          </a:prstGeom>
          <a:noFill/>
          <a:ln/>
        </p:spPr>
        <p:txBody>
          <a:bodyPr wrap="square" lIns="0" tIns="0" rIns="0" bIns="0" rtlCol="0" anchor="ctr"/>
          <a:lstStyle/>
          <a:p>
            <a:pPr marL="0" indent="0">
              <a:buNone/>
            </a:pPr>
            <a:r>
              <a:rPr lang="en-US" sz="1400" dirty="0">
                <a:solidFill>
                  <a:srgbClr val="000000"/>
                </a:solidFill>
                <a:latin typeface="Segoe UI Semibold" pitchFamily="34" charset="0"/>
                <a:ea typeface="Segoe UI Semibold" pitchFamily="34" charset="-122"/>
                <a:cs typeface="Segoe UI Semibold" pitchFamily="34" charset="-120"/>
              </a:rPr>
              <a:t>Audit &amp; reporting</a:t>
            </a:r>
            <a:endParaRPr lang="en-US" sz="1400" dirty="0"/>
          </a:p>
        </p:txBody>
      </p:sp>
      <p:sp>
        <p:nvSpPr>
          <p:cNvPr id="35" name="Text 29"/>
          <p:cNvSpPr txBox="1"/>
          <p:nvPr/>
        </p:nvSpPr>
        <p:spPr>
          <a:xfrm>
            <a:off x="7717536" y="3310128"/>
            <a:ext cx="1837944" cy="822960"/>
          </a:xfrm>
          <a:prstGeom prst="rect">
            <a:avLst/>
          </a:prstGeom>
          <a:noFill/>
          <a:ln/>
        </p:spPr>
        <p:txBody>
          <a:bodyPr wrap="square" lIns="0" tIns="0" rIns="0" bIns="0" rtlCol="0" anchor="t"/>
          <a:lstStyle/>
          <a:p>
            <a:pPr marL="0" indent="0">
              <a:lnSpc>
                <a:spcPts val="1700"/>
              </a:lnSpc>
              <a:buNone/>
            </a:pPr>
            <a:r>
              <a:rPr lang="en-US" sz="1200" dirty="0">
                <a:solidFill>
                  <a:srgbClr val="5A5A5A"/>
                </a:solidFill>
                <a:latin typeface="Segoe UI" pitchFamily="34" charset="0"/>
                <a:ea typeface="Segoe UI" pitchFamily="34" charset="-122"/>
                <a:cs typeface="Segoe UI" pitchFamily="34" charset="-120"/>
              </a:rPr>
              <a:t>Every login, grant and admin change recorded.</a:t>
            </a:r>
            <a:endParaRPr lang="en-US" sz="1200" dirty="0"/>
          </a:p>
        </p:txBody>
      </p:sp>
      <p:sp>
        <p:nvSpPr>
          <p:cNvPr id="36" name="Shape 30"/>
          <p:cNvSpPr/>
          <p:nvPr/>
        </p:nvSpPr>
        <p:spPr>
          <a:xfrm>
            <a:off x="7717536" y="4206240"/>
            <a:ext cx="1792224" cy="0"/>
          </a:xfrm>
          <a:prstGeom prst="line">
            <a:avLst/>
          </a:prstGeom>
          <a:noFill/>
          <a:ln w="9525">
            <a:solidFill>
              <a:srgbClr val="E1E1E1"/>
            </a:solidFill>
            <a:prstDash val="solid"/>
          </a:ln>
        </p:spPr>
      </p:sp>
      <p:sp>
        <p:nvSpPr>
          <p:cNvPr id="37" name="Shape 31"/>
          <p:cNvSpPr/>
          <p:nvPr/>
        </p:nvSpPr>
        <p:spPr>
          <a:xfrm>
            <a:off x="7717536" y="4343400"/>
            <a:ext cx="731520" cy="219456"/>
          </a:xfrm>
          <a:prstGeom prst="roundRect">
            <a:avLst>
              <a:gd name="adj" fmla="val 25000"/>
            </a:avLst>
          </a:prstGeom>
          <a:solidFill>
            <a:srgbClr val="0078D4"/>
          </a:solidFill>
          <a:ln/>
        </p:spPr>
      </p:sp>
      <p:sp>
        <p:nvSpPr>
          <p:cNvPr id="38" name="Text 32"/>
          <p:cNvSpPr txBox="1"/>
          <p:nvPr/>
        </p:nvSpPr>
        <p:spPr>
          <a:xfrm>
            <a:off x="7717536" y="4343400"/>
            <a:ext cx="731520" cy="219456"/>
          </a:xfrm>
          <a:prstGeom prst="rect">
            <a:avLst/>
          </a:prstGeom>
          <a:noFill/>
          <a:ln/>
        </p:spPr>
        <p:txBody>
          <a:bodyPr wrap="square" lIns="0" tIns="0" rIns="0" bIns="0" rtlCol="0" anchor="ctr"/>
          <a:lstStyle/>
          <a:p>
            <a:pPr marL="0" indent="0" algn="ctr">
              <a:buNone/>
            </a:pPr>
            <a:r>
              <a:rPr lang="en-US" sz="1000" dirty="0">
                <a:solidFill>
                  <a:srgbClr val="FFFFFF"/>
                </a:solidFill>
                <a:latin typeface="Segoe UI Semibold" pitchFamily="34" charset="0"/>
                <a:ea typeface="Segoe UI Semibold" pitchFamily="34" charset="-122"/>
                <a:cs typeface="Segoe UI Semibold" pitchFamily="34" charset="-120"/>
              </a:rPr>
              <a:t>EXAMPLE</a:t>
            </a:r>
            <a:endParaRPr lang="en-US" sz="1000" dirty="0"/>
          </a:p>
        </p:txBody>
      </p:sp>
      <p:sp>
        <p:nvSpPr>
          <p:cNvPr id="39" name="Text 33"/>
          <p:cNvSpPr txBox="1"/>
          <p:nvPr/>
        </p:nvSpPr>
        <p:spPr>
          <a:xfrm>
            <a:off x="7717536" y="4681728"/>
            <a:ext cx="1837944" cy="1051560"/>
          </a:xfrm>
          <a:prstGeom prst="rect">
            <a:avLst/>
          </a:prstGeom>
          <a:noFill/>
          <a:ln/>
        </p:spPr>
        <p:txBody>
          <a:bodyPr wrap="square" lIns="0" tIns="0" rIns="0" bIns="0" rtlCol="0" anchor="t"/>
          <a:lstStyle/>
          <a:p>
            <a:pPr marL="0" indent="0">
              <a:lnSpc>
                <a:spcPts val="1700"/>
              </a:lnSpc>
              <a:buNone/>
            </a:pPr>
            <a:r>
              <a:rPr lang="en-US" sz="1200" dirty="0">
                <a:solidFill>
                  <a:srgbClr val="000000"/>
                </a:solidFill>
                <a:latin typeface="Segoe UI" pitchFamily="34" charset="0"/>
                <a:ea typeface="Segoe UI" pitchFamily="34" charset="-122"/>
                <a:cs typeface="Segoe UI" pitchFamily="34" charset="-120"/>
              </a:rPr>
              <a:t>Compliance asks who approved payment #4812, and from which IP.</a:t>
            </a:r>
            <a:endParaRPr lang="en-US" sz="1200" dirty="0"/>
          </a:p>
        </p:txBody>
      </p:sp>
      <p:sp>
        <p:nvSpPr>
          <p:cNvPr id="40" name="Text 34"/>
          <p:cNvSpPr txBox="1"/>
          <p:nvPr/>
        </p:nvSpPr>
        <p:spPr>
          <a:xfrm>
            <a:off x="374904" y="6089904"/>
            <a:ext cx="9308592" cy="630936"/>
          </a:xfrm>
          <a:prstGeom prst="rect">
            <a:avLst/>
          </a:prstGeom>
          <a:noFill/>
          <a:ln/>
        </p:spPr>
        <p:txBody>
          <a:bodyPr wrap="square" lIns="0" tIns="0" rIns="0" bIns="0" rtlCol="0" anchor="t"/>
          <a:lstStyle/>
          <a:p>
            <a:pPr marL="0" indent="0">
              <a:lnSpc>
                <a:spcPts val="2200"/>
              </a:lnSpc>
              <a:buNone/>
            </a:pPr>
            <a:r>
              <a:rPr lang="en-US" sz="1400" dirty="0">
                <a:solidFill>
                  <a:srgbClr val="000000"/>
                </a:solidFill>
                <a:latin typeface="Segoe UI" pitchFamily="34" charset="0"/>
                <a:ea typeface="Segoe UI" pitchFamily="34" charset="-122"/>
                <a:cs typeface="Segoe UI" pitchFamily="34" charset="-120"/>
              </a:rPr>
              <a:t>Without these, access </a:t>
            </a:r>
            <a:r>
              <a:rPr lang="en-US" sz="1400" b="1" dirty="0">
                <a:solidFill>
                  <a:srgbClr val="000000"/>
                </a:solidFill>
                <a:latin typeface="Segoe UI" pitchFamily="34" charset="0"/>
                <a:ea typeface="Segoe UI" pitchFamily="34" charset="-122"/>
                <a:cs typeface="Segoe UI" pitchFamily="34" charset="-120"/>
              </a:rPr>
              <a:t>drifts</a:t>
            </a:r>
            <a:r>
              <a:rPr lang="en-US" sz="1400" dirty="0">
                <a:solidFill>
                  <a:srgbClr val="000000"/>
                </a:solidFill>
                <a:latin typeface="Segoe UI" pitchFamily="34" charset="0"/>
                <a:ea typeface="Segoe UI" pitchFamily="34" charset="-122"/>
                <a:cs typeface="Segoe UI" pitchFamily="34" charset="-120"/>
              </a:rPr>
              <a:t>: leavers keep logins, stolen sessions stay open and nobody can answer the auditor.</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74904" y="475488"/>
            <a:ext cx="9308592" cy="576072"/>
          </a:xfrm>
          <a:prstGeom prst="rect">
            <a:avLst/>
          </a:prstGeom>
          <a:noFill/>
          <a:ln/>
        </p:spPr>
        <p:txBody>
          <a:bodyPr wrap="square" lIns="0" tIns="0" rIns="0" bIns="0" rtlCol="0" anchor="ctr"/>
          <a:lstStyle/>
          <a:p>
            <a:pPr marL="0" indent="0">
              <a:buNone/>
            </a:pPr>
            <a:r>
              <a:rPr lang="en-US" sz="2400" b="1" dirty="0">
                <a:solidFill>
                  <a:srgbClr val="000000"/>
                </a:solidFill>
                <a:latin typeface="Segoe UI" pitchFamily="34" charset="0"/>
                <a:ea typeface="Segoe UI" pitchFamily="34" charset="-122"/>
                <a:cs typeface="Segoe UI" pitchFamily="34" charset="-120"/>
              </a:rPr>
              <a:t>11. Key takeaways</a:t>
            </a:r>
            <a:endParaRPr lang="en-US" sz="2400" dirty="0"/>
          </a:p>
        </p:txBody>
      </p:sp>
      <p:sp>
        <p:nvSpPr>
          <p:cNvPr id="3" name="Shape 1"/>
          <p:cNvSpPr/>
          <p:nvPr/>
        </p:nvSpPr>
        <p:spPr>
          <a:xfrm>
            <a:off x="374904" y="1417320"/>
            <a:ext cx="4517136" cy="2148840"/>
          </a:xfrm>
          <a:prstGeom prst="rect">
            <a:avLst/>
          </a:prstGeom>
          <a:solidFill>
            <a:srgbClr val="FFFFFF"/>
          </a:solidFill>
          <a:ln w="9525">
            <a:solidFill>
              <a:srgbClr val="E1E1E1"/>
            </a:solidFill>
            <a:prstDash val="solid"/>
          </a:ln>
          <a:effectLst>
            <a:outerShdw blurRad="50800" dist="38100" dir="2700000" algn="bl" rotWithShape="0">
              <a:srgbClr val="000000">
                <a:alpha val="40000"/>
              </a:srgbClr>
            </a:outerShdw>
          </a:effectLst>
        </p:spPr>
      </p:sp>
      <p:sp>
        <p:nvSpPr>
          <p:cNvPr id="4" name="Shape 2"/>
          <p:cNvSpPr/>
          <p:nvPr/>
        </p:nvSpPr>
        <p:spPr>
          <a:xfrm>
            <a:off x="649224" y="1691640"/>
            <a:ext cx="502920" cy="502920"/>
          </a:xfrm>
          <a:prstGeom prst="ellipse">
            <a:avLst/>
          </a:prstGeom>
          <a:solidFill>
            <a:srgbClr val="0078D4"/>
          </a:solidFill>
          <a:ln/>
        </p:spPr>
      </p:sp>
      <p:pic>
        <p:nvPicPr>
          <p:cNvPr id="5" name="Image 0" descr="preencoded.png"/>
          <p:cNvPicPr>
            <a:picLocks noChangeAspect="1"/>
          </p:cNvPicPr>
          <p:nvPr/>
        </p:nvPicPr>
        <p:blipFill>
          <a:blip r:embed="rId3"/>
          <a:stretch>
            <a:fillRect/>
          </a:stretch>
        </p:blipFill>
        <p:spPr>
          <a:xfrm>
            <a:off x="777240" y="1819656"/>
            <a:ext cx="246888" cy="246888"/>
          </a:xfrm>
          <a:prstGeom prst="rect">
            <a:avLst/>
          </a:prstGeom>
        </p:spPr>
      </p:pic>
      <p:sp>
        <p:nvSpPr>
          <p:cNvPr id="6" name="Text 3"/>
          <p:cNvSpPr txBox="1"/>
          <p:nvPr/>
        </p:nvSpPr>
        <p:spPr>
          <a:xfrm>
            <a:off x="649224" y="2377440"/>
            <a:ext cx="3968496" cy="1005840"/>
          </a:xfrm>
          <a:prstGeom prst="rect">
            <a:avLst/>
          </a:prstGeom>
          <a:noFill/>
          <a:ln/>
        </p:spPr>
        <p:txBody>
          <a:bodyPr wrap="square" lIns="0" tIns="0" rIns="0" bIns="0" rtlCol="0" anchor="t"/>
          <a:lstStyle/>
          <a:p>
            <a:pPr marL="0" indent="0">
              <a:lnSpc>
                <a:spcPts val="2200"/>
              </a:lnSpc>
              <a:buNone/>
            </a:pPr>
            <a:r>
              <a:rPr lang="en-US" sz="1400" b="1" dirty="0">
                <a:solidFill>
                  <a:srgbClr val="000000"/>
                </a:solidFill>
                <a:latin typeface="Segoe UI" pitchFamily="34" charset="0"/>
                <a:ea typeface="Segoe UI" pitchFamily="34" charset="-122"/>
                <a:cs typeface="Segoe UI" pitchFamily="34" charset="-120"/>
              </a:rPr>
              <a:t>Authentication and authorization</a:t>
            </a:r>
            <a:r>
              <a:rPr lang="en-US" sz="1400" dirty="0">
                <a:solidFill>
                  <a:srgbClr val="000000"/>
                </a:solidFill>
                <a:latin typeface="Segoe UI" pitchFamily="34" charset="0"/>
                <a:ea typeface="Segoe UI" pitchFamily="34" charset="-122"/>
                <a:cs typeface="Segoe UI" pitchFamily="34" charset="-120"/>
              </a:rPr>
              <a:t> are different jobs. You need both, not one instead of the other.</a:t>
            </a:r>
            <a:endParaRPr lang="en-US" sz="1400" dirty="0"/>
          </a:p>
        </p:txBody>
      </p:sp>
      <p:sp>
        <p:nvSpPr>
          <p:cNvPr id="7" name="Shape 4"/>
          <p:cNvSpPr/>
          <p:nvPr/>
        </p:nvSpPr>
        <p:spPr>
          <a:xfrm>
            <a:off x="5166360" y="1417320"/>
            <a:ext cx="4517136" cy="2148840"/>
          </a:xfrm>
          <a:prstGeom prst="rect">
            <a:avLst/>
          </a:prstGeom>
          <a:solidFill>
            <a:srgbClr val="FFFFFF"/>
          </a:solidFill>
          <a:ln w="9525">
            <a:solidFill>
              <a:srgbClr val="E1E1E1"/>
            </a:solidFill>
            <a:prstDash val="solid"/>
          </a:ln>
          <a:effectLst>
            <a:outerShdw blurRad="50800" dist="38100" dir="2700000" algn="bl" rotWithShape="0">
              <a:srgbClr val="000000">
                <a:alpha val="40000"/>
              </a:srgbClr>
            </a:outerShdw>
          </a:effectLst>
        </p:spPr>
      </p:sp>
      <p:sp>
        <p:nvSpPr>
          <p:cNvPr id="8" name="Shape 5"/>
          <p:cNvSpPr/>
          <p:nvPr/>
        </p:nvSpPr>
        <p:spPr>
          <a:xfrm>
            <a:off x="5440680" y="1691640"/>
            <a:ext cx="502920" cy="502920"/>
          </a:xfrm>
          <a:prstGeom prst="ellipse">
            <a:avLst/>
          </a:prstGeom>
          <a:solidFill>
            <a:srgbClr val="0078D4"/>
          </a:solidFill>
          <a:ln/>
        </p:spPr>
      </p:sp>
      <p:pic>
        <p:nvPicPr>
          <p:cNvPr id="9" name="Image 1" descr="preencoded.png"/>
          <p:cNvPicPr>
            <a:picLocks noChangeAspect="1"/>
          </p:cNvPicPr>
          <p:nvPr/>
        </p:nvPicPr>
        <p:blipFill>
          <a:blip r:embed="rId3"/>
          <a:stretch>
            <a:fillRect/>
          </a:stretch>
        </p:blipFill>
        <p:spPr>
          <a:xfrm>
            <a:off x="5568696" y="1819656"/>
            <a:ext cx="246888" cy="246888"/>
          </a:xfrm>
          <a:prstGeom prst="rect">
            <a:avLst/>
          </a:prstGeom>
        </p:spPr>
      </p:pic>
      <p:sp>
        <p:nvSpPr>
          <p:cNvPr id="10" name="Text 6"/>
          <p:cNvSpPr txBox="1"/>
          <p:nvPr/>
        </p:nvSpPr>
        <p:spPr>
          <a:xfrm>
            <a:off x="5440680" y="2377440"/>
            <a:ext cx="3968496" cy="1005840"/>
          </a:xfrm>
          <a:prstGeom prst="rect">
            <a:avLst/>
          </a:prstGeom>
          <a:noFill/>
          <a:ln/>
        </p:spPr>
        <p:txBody>
          <a:bodyPr wrap="square" lIns="0" tIns="0" rIns="0" bIns="0" rtlCol="0" anchor="t"/>
          <a:lstStyle/>
          <a:p>
            <a:pPr marL="0" indent="0">
              <a:lnSpc>
                <a:spcPts val="2200"/>
              </a:lnSpc>
              <a:buNone/>
            </a:pPr>
            <a:r>
              <a:rPr lang="en-US" sz="1400" b="1" dirty="0">
                <a:solidFill>
                  <a:srgbClr val="000000"/>
                </a:solidFill>
                <a:latin typeface="Segoe UI" pitchFamily="34" charset="0"/>
                <a:ea typeface="Segoe UI" pitchFamily="34" charset="-122"/>
                <a:cs typeface="Segoe UI" pitchFamily="34" charset="-120"/>
              </a:rPr>
              <a:t>App-owned auth</a:t>
            </a:r>
            <a:r>
              <a:rPr lang="en-US" sz="1400" dirty="0">
                <a:solidFill>
                  <a:srgbClr val="000000"/>
                </a:solidFill>
                <a:latin typeface="Segoe UI" pitchFamily="34" charset="0"/>
                <a:ea typeface="Segoe UI" pitchFamily="34" charset="-122"/>
                <a:cs typeface="Segoe UI" pitchFamily="34" charset="-120"/>
              </a:rPr>
              <a:t> multiplies risk and maintenance across every service that implements it.</a:t>
            </a:r>
            <a:endParaRPr lang="en-US" sz="1400" dirty="0"/>
          </a:p>
        </p:txBody>
      </p:sp>
      <p:sp>
        <p:nvSpPr>
          <p:cNvPr id="11" name="Shape 7"/>
          <p:cNvSpPr/>
          <p:nvPr/>
        </p:nvSpPr>
        <p:spPr>
          <a:xfrm>
            <a:off x="374904" y="3840480"/>
            <a:ext cx="4517136" cy="2148840"/>
          </a:xfrm>
          <a:prstGeom prst="rect">
            <a:avLst/>
          </a:prstGeom>
          <a:solidFill>
            <a:srgbClr val="FFFFFF"/>
          </a:solidFill>
          <a:ln w="9525">
            <a:solidFill>
              <a:srgbClr val="E1E1E1"/>
            </a:solidFill>
            <a:prstDash val="solid"/>
          </a:ln>
          <a:effectLst>
            <a:outerShdw blurRad="50800" dist="38100" dir="2700000" algn="bl" rotWithShape="0">
              <a:srgbClr val="000000">
                <a:alpha val="40000"/>
              </a:srgbClr>
            </a:outerShdw>
          </a:effectLst>
        </p:spPr>
      </p:sp>
      <p:sp>
        <p:nvSpPr>
          <p:cNvPr id="12" name="Shape 8"/>
          <p:cNvSpPr/>
          <p:nvPr/>
        </p:nvSpPr>
        <p:spPr>
          <a:xfrm>
            <a:off x="649224" y="4114800"/>
            <a:ext cx="502920" cy="502920"/>
          </a:xfrm>
          <a:prstGeom prst="ellipse">
            <a:avLst/>
          </a:prstGeom>
          <a:solidFill>
            <a:srgbClr val="0078D4"/>
          </a:solidFill>
          <a:ln/>
        </p:spPr>
      </p:sp>
      <p:pic>
        <p:nvPicPr>
          <p:cNvPr id="13" name="Image 2" descr="preencoded.png"/>
          <p:cNvPicPr>
            <a:picLocks noChangeAspect="1"/>
          </p:cNvPicPr>
          <p:nvPr/>
        </p:nvPicPr>
        <p:blipFill>
          <a:blip r:embed="rId3"/>
          <a:stretch>
            <a:fillRect/>
          </a:stretch>
        </p:blipFill>
        <p:spPr>
          <a:xfrm>
            <a:off x="777240" y="4242816"/>
            <a:ext cx="246888" cy="246888"/>
          </a:xfrm>
          <a:prstGeom prst="rect">
            <a:avLst/>
          </a:prstGeom>
        </p:spPr>
      </p:pic>
      <p:sp>
        <p:nvSpPr>
          <p:cNvPr id="14" name="Text 9"/>
          <p:cNvSpPr txBox="1"/>
          <p:nvPr/>
        </p:nvSpPr>
        <p:spPr>
          <a:xfrm>
            <a:off x="649224" y="4800600"/>
            <a:ext cx="3968496" cy="1005840"/>
          </a:xfrm>
          <a:prstGeom prst="rect">
            <a:avLst/>
          </a:prstGeom>
          <a:noFill/>
          <a:ln/>
        </p:spPr>
        <p:txBody>
          <a:bodyPr wrap="square" lIns="0" tIns="0" rIns="0" bIns="0" rtlCol="0" anchor="t"/>
          <a:lstStyle/>
          <a:p>
            <a:pPr marL="0" indent="0">
              <a:lnSpc>
                <a:spcPts val="2200"/>
              </a:lnSpc>
              <a:buNone/>
            </a:pPr>
            <a:r>
              <a:rPr lang="en-US" sz="1400" b="1" dirty="0">
                <a:solidFill>
                  <a:srgbClr val="000000"/>
                </a:solidFill>
                <a:latin typeface="Segoe UI" pitchFamily="34" charset="0"/>
                <a:ea typeface="Segoe UI" pitchFamily="34" charset="-122"/>
                <a:cs typeface="Segoe UI" pitchFamily="34" charset="-120"/>
              </a:rPr>
              <a:t>Centralized IAM</a:t>
            </a:r>
            <a:r>
              <a:rPr lang="en-US" sz="1400" dirty="0">
                <a:solidFill>
                  <a:srgbClr val="000000"/>
                </a:solidFill>
                <a:latin typeface="Segoe UI" pitchFamily="34" charset="0"/>
                <a:ea typeface="Segoe UI" pitchFamily="34" charset="-122"/>
                <a:cs typeface="Segoe UI" pitchFamily="34" charset="-120"/>
              </a:rPr>
              <a:t> means one front door, one policy and one audit trail for the whole system.</a:t>
            </a:r>
            <a:endParaRPr lang="en-US" sz="1400" dirty="0"/>
          </a:p>
        </p:txBody>
      </p:sp>
      <p:sp>
        <p:nvSpPr>
          <p:cNvPr id="15" name="Shape 10"/>
          <p:cNvSpPr/>
          <p:nvPr/>
        </p:nvSpPr>
        <p:spPr>
          <a:xfrm>
            <a:off x="5166360" y="3840480"/>
            <a:ext cx="4517136" cy="2148840"/>
          </a:xfrm>
          <a:prstGeom prst="rect">
            <a:avLst/>
          </a:prstGeom>
          <a:solidFill>
            <a:srgbClr val="FFFFFF"/>
          </a:solidFill>
          <a:ln w="9525">
            <a:solidFill>
              <a:srgbClr val="E1E1E1"/>
            </a:solidFill>
            <a:prstDash val="solid"/>
          </a:ln>
          <a:effectLst>
            <a:outerShdw blurRad="50800" dist="38100" dir="2700000" algn="bl" rotWithShape="0">
              <a:srgbClr val="000000">
                <a:alpha val="40000"/>
              </a:srgbClr>
            </a:outerShdw>
          </a:effectLst>
        </p:spPr>
      </p:sp>
      <p:sp>
        <p:nvSpPr>
          <p:cNvPr id="16" name="Shape 11"/>
          <p:cNvSpPr/>
          <p:nvPr/>
        </p:nvSpPr>
        <p:spPr>
          <a:xfrm>
            <a:off x="5440680" y="4114800"/>
            <a:ext cx="502920" cy="502920"/>
          </a:xfrm>
          <a:prstGeom prst="ellipse">
            <a:avLst/>
          </a:prstGeom>
          <a:solidFill>
            <a:srgbClr val="0078D4"/>
          </a:solidFill>
          <a:ln/>
        </p:spPr>
      </p:sp>
      <p:pic>
        <p:nvPicPr>
          <p:cNvPr id="17" name="Image 3" descr="preencoded.png"/>
          <p:cNvPicPr>
            <a:picLocks noChangeAspect="1"/>
          </p:cNvPicPr>
          <p:nvPr/>
        </p:nvPicPr>
        <p:blipFill>
          <a:blip r:embed="rId3"/>
          <a:stretch>
            <a:fillRect/>
          </a:stretch>
        </p:blipFill>
        <p:spPr>
          <a:xfrm>
            <a:off x="5568696" y="4242816"/>
            <a:ext cx="246888" cy="246888"/>
          </a:xfrm>
          <a:prstGeom prst="rect">
            <a:avLst/>
          </a:prstGeom>
        </p:spPr>
      </p:pic>
      <p:sp>
        <p:nvSpPr>
          <p:cNvPr id="18" name="Text 12"/>
          <p:cNvSpPr txBox="1"/>
          <p:nvPr/>
        </p:nvSpPr>
        <p:spPr>
          <a:xfrm>
            <a:off x="5440680" y="4800600"/>
            <a:ext cx="3968496" cy="1005840"/>
          </a:xfrm>
          <a:prstGeom prst="rect">
            <a:avLst/>
          </a:prstGeom>
          <a:noFill/>
          <a:ln/>
        </p:spPr>
        <p:txBody>
          <a:bodyPr wrap="square" lIns="0" tIns="0" rIns="0" bIns="0" rtlCol="0" anchor="t"/>
          <a:lstStyle/>
          <a:p>
            <a:pPr marL="0" indent="0">
              <a:lnSpc>
                <a:spcPts val="2200"/>
              </a:lnSpc>
              <a:buNone/>
            </a:pPr>
            <a:r>
              <a:rPr lang="en-US" sz="1400" b="1" dirty="0">
                <a:solidFill>
                  <a:srgbClr val="000000"/>
                </a:solidFill>
                <a:latin typeface="Segoe UI" pitchFamily="34" charset="0"/>
                <a:ea typeface="Segoe UI" pitchFamily="34" charset="-122"/>
                <a:cs typeface="Segoe UI" pitchFamily="34" charset="-120"/>
              </a:rPr>
              <a:t>A common IAM feature set</a:t>
            </a:r>
            <a:r>
              <a:rPr lang="en-US" sz="1400" dirty="0">
                <a:solidFill>
                  <a:srgbClr val="000000"/>
                </a:solidFill>
                <a:latin typeface="Segoe UI" pitchFamily="34" charset="0"/>
                <a:ea typeface="Segoe UI" pitchFamily="34" charset="-122"/>
                <a:cs typeface="Segoe UI" pitchFamily="34" charset="-120"/>
              </a:rPr>
              <a:t> (SSO, MFA, RBAC, audit and more) means no service has to reinvent security.</a:t>
            </a:r>
            <a:endParaRPr lang="en-US" sz="1400" dirty="0"/>
          </a:p>
        </p:txBody>
      </p:sp>
      <p:sp>
        <p:nvSpPr>
          <p:cNvPr id="19" name="Shape 13"/>
          <p:cNvSpPr/>
          <p:nvPr/>
        </p:nvSpPr>
        <p:spPr>
          <a:xfrm>
            <a:off x="0" y="6592824"/>
            <a:ext cx="10058400" cy="1179576"/>
          </a:xfrm>
          <a:prstGeom prst="rect">
            <a:avLst/>
          </a:prstGeom>
          <a:solidFill>
            <a:srgbClr val="0078D4"/>
          </a:solidFill>
          <a:ln/>
        </p:spPr>
      </p:sp>
      <p:sp>
        <p:nvSpPr>
          <p:cNvPr id="21" name="Text 14"/>
          <p:cNvSpPr txBox="1"/>
          <p:nvPr/>
        </p:nvSpPr>
        <p:spPr>
          <a:xfrm>
            <a:off x="374904" y="6702552"/>
            <a:ext cx="8412480" cy="896112"/>
          </a:xfrm>
          <a:prstGeom prst="rect">
            <a:avLst/>
          </a:prstGeom>
          <a:noFill/>
          <a:ln/>
        </p:spPr>
        <p:txBody>
          <a:bodyPr wrap="square" lIns="0" tIns="0" rIns="0" bIns="0" rtlCol="0" anchor="t"/>
          <a:lstStyle/>
          <a:p>
            <a:pPr>
              <a:spcAft>
                <a:spcPts val="200"/>
              </a:spcAft>
            </a:pPr>
            <a:r>
              <a:rPr lang="en-US" sz="1400" b="1" dirty="0">
                <a:solidFill>
                  <a:srgbClr val="FFFFFF"/>
                </a:solidFill>
                <a:latin typeface="Segoe UI" pitchFamily="34" charset="0"/>
                <a:ea typeface="Segoe UI" pitchFamily="34" charset="-122"/>
                <a:cs typeface="Segoe UI" pitchFamily="34" charset="-120"/>
              </a:rPr>
              <a:t>Next up: Post 2 introduces Keycloak, the open-source IAM we will use to build all of this.</a:t>
            </a:r>
            <a:endParaRPr lang="en-US" sz="1400" b="1" dirty="0"/>
          </a:p>
          <a:p>
            <a:pPr>
              <a:spcAft>
                <a:spcPts val="200"/>
              </a:spcAft>
            </a:pPr>
            <a:r>
              <a:rPr lang="en-US" sz="1000" dirty="0">
                <a:solidFill>
                  <a:srgbClr val="FFFFFF"/>
                </a:solidFill>
                <a:latin typeface="Segoe UI" pitchFamily="34" charset="0"/>
                <a:ea typeface="Segoe UI" pitchFamily="34" charset="-122"/>
                <a:cs typeface="Segoe UI" pitchFamily="34" charset="-120"/>
              </a:rPr>
              <a:t>Ajay Shinde · IAM</a:t>
            </a:r>
            <a:endParaRPr lang="en-US" sz="1400" dirty="0"/>
          </a:p>
          <a:p>
            <a:pPr marL="0" indent="0">
              <a:spcAft>
                <a:spcPts val="200"/>
              </a:spcAft>
              <a:buNone/>
            </a:pPr>
            <a:r>
              <a:rPr lang="en-US" sz="800" dirty="0">
                <a:solidFill>
                  <a:srgbClr val="FFFFFF"/>
                </a:solidFill>
                <a:latin typeface="Segoe UI" pitchFamily="34" charset="0"/>
                <a:ea typeface="Segoe UI" pitchFamily="34" charset="-122"/>
                <a:cs typeface="Segoe UI" pitchFamily="34" charset="-120"/>
              </a:rPr>
              <a:t>Source: Verizon 2026 Data Breach Investigations Report</a:t>
            </a:r>
            <a:endParaRPr lang="en-US" sz="1400" dirty="0"/>
          </a:p>
          <a:p>
            <a:pPr marL="0" indent="0">
              <a:spcAft>
                <a:spcPts val="200"/>
              </a:spcAft>
              <a:buNone/>
            </a:pP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TotalTime>
  <Words>1359</Words>
  <Application>Microsoft Office PowerPoint</Application>
  <PresentationFormat>Custom</PresentationFormat>
  <Paragraphs>204</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Consolas</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IAM Matters in Modern Apps</dc:title>
  <dc:subject>PptxGenJS Presentation</dc:subject>
  <dc:creator>Ajay Shinde</dc:creator>
  <cp:lastModifiedBy>Ajay Shinde</cp:lastModifiedBy>
  <cp:revision>5</cp:revision>
  <dcterms:created xsi:type="dcterms:W3CDTF">2026-09-26T06:46:00Z</dcterms:created>
  <dcterms:modified xsi:type="dcterms:W3CDTF">2026-09-26T16:13:43Z</dcterms:modified>
</cp:coreProperties>
</file>