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4" r:id="rId13"/>
    <p:sldId id="267" r:id="rId14"/>
    <p:sldId id="268" r:id="rId15"/>
    <p:sldId id="275" r:id="rId26"/>
    <p:sldId id="269" r:id="rId16"/>
    <p:sldId id="270" r:id="rId17"/>
    <p:sldId id="271" r:id="rId18"/>
    <p:sldId id="272" r:id="rId19"/>
    <p:sldId id="273" r:id="rId20"/>
  </p:sldIdLst>
  <p:sldSz cx="10058400" cy="7772400"/>
  <p:notesSz cx="7772400" cy="10058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552" autoAdjust="0"/>
  </p:normalViewPr>
  <p:slideViewPr>
    <p:cSldViewPr snapToGrid="0" snapToObjects="1">
      <p:cViewPr varScale="1">
        <p:scale>
          <a:sx n="92" d="100"/>
          <a:sy n="92" d="100"/>
        </p:scale>
        <p:origin x="189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95031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slide about the problem only. The three services are the same banking services used across the series (Account, Payment, Customer, Notification). No stat is quoted on purpose.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names (bank-demo, bank-app, customer, retail-customers, ajay, akash) are the planned values for the local build. If you rename anything while building in Keycloak, update the deck to match before publishing.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the definition short. SAML 2.0 is listed as a supported standard but is not covered in this series post. Capabilities map: tokens and roles are demonstrated on slides 11-12.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 (JWKS / public key verification) is only introduced here; implementation belongs to Post 03.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Menu labels are from the Keycloak 26.x admin console (Manage / Configure sections). Confirm against your local version when capturing 00-admin-console.png.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Capture 01-realm-create.png: Create realm form with bank-demo typed in, before clicking Create.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Capture 02-client-capability.png on step 2 (Capability config). Also capture 03-client-credentials.png: bank-app &gt; Credentials tab showing (blurred) client secret. Direct access grants is enabled only so the demo can call the token endpoint with curl; real apps use Authorization Code + PKCE.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Capture 04-user-create.png (Create user form for ajay) and optionally 05-user-credentials.png (Set password dialog, Temporary off). Do not show real passwords.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Capture 06-realm-role.png: Realm roles list after creating customer.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Capture 07-group-role-mapping.png (group Role mapping tab) and 08-user-groups.png (ajay &gt; Groups tab showing retail-customers).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After running locally: paste the real (truncated) response into the second card and capture 09-token-response.png if you want a terminal screenshot. The 300-second value is Keycloak's default access token lifespan; confirm in Realm settings &gt; Tokens.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46422-A38A-65E4-9088-6DFFB1547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E44062-5A8D-4089-1BEF-7633B12F5E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0C27E4-5002-983B-219A-E061E2194B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Your curl, with the closing quote fixed and scope=openid added. The response card is from your real run, which was sent WITHOUT scope=openid — slide 15 compares both. Re-run with scope=openid and, if you like, capture 09-token-response.png.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8D177B-4F48-1193-0F57-71E408614F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9472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Claims are from your real token (signature/other claims omitted). aud "account" and resource_access.account come from Keycloak's built-in account client via default roles — not something you configured. Capture 10-evaluate-ajay.png and 11-evaluate-akash.png from Clients &gt; bank-app &gt; Client scopes &gt; Evaluate &gt; Generated access token.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Confirmed by Ajay's run: without scope=openid the response had no id_token ("scope": "email profile"). Slide 15 shows both. Optional screenshot 12-openid-configuration.png: the discovery JSON in the browser.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7 is shown dashed because it is implemented in Post 03. RS256 is the realm default signature algorithm; confirm under Realm settings &gt; Tokens and Realm settings &gt; Keys.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tag 26.7 matches the current Keycloak release line as of Sept 2026 (26.7.x). Pin the exact tag you actually used when building locally. KC_BOOTSTRAP_ADMIN_* is the 26.x variable name (older KEYCLOAK_ADMIN is deprecated).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Mistakes limited to this topic. Group Membership mapper is configured via Client scopes; covered in a later topic.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Production items are named, not explained — each gets its own post later in the series.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[REPO URL] before publishing. Topic folder name 01-keycloak-basics assumed from the earlier Post 02 README plan — confirm it matches the repo.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8.png"/><Relationship Id="rId9" Type="http://schemas.openxmlformats.org/officeDocument/2006/relationships/image" Target="../media/image2.png"/><Relationship Id="rId10" Type="http://schemas.openxmlformats.org/officeDocument/2006/relationships/image" Target="../media/image12.png"/><Relationship Id="rId11" Type="http://schemas.openxmlformats.org/officeDocument/2006/relationships/image" Target="../media/image13.png"/><Relationship Id="rId12" Type="http://schemas.openxmlformats.org/officeDocument/2006/relationships/image" Target="../media/image14.png"/><Relationship Id="rId13" Type="http://schemas.openxmlformats.org/officeDocument/2006/relationships/image" Target="../media/image15.png"/><Relationship Id="rId14" Type="http://schemas.openxmlformats.org/officeDocument/2006/relationships/image" Target="../media/image1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Relationship Id="rId4" Type="http://schemas.openxmlformats.org/officeDocument/2006/relationships/image" Target="../media/image1.png"/><Relationship Id="rId5" Type="http://schemas.openxmlformats.org/officeDocument/2006/relationships/image" Target="../media/image1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5.png"/><Relationship Id="rId4" Type="http://schemas.openxmlformats.org/officeDocument/2006/relationships/image" Target="../media/image2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png"/><Relationship Id="rId4" Type="http://schemas.openxmlformats.org/officeDocument/2006/relationships/image" Target="../media/image8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0.png"/><Relationship Id="rId4" Type="http://schemas.openxmlformats.org/officeDocument/2006/relationships/image" Target="../media/image12.png"/><Relationship Id="rId5" Type="http://schemas.openxmlformats.org/officeDocument/2006/relationships/image" Target="../media/image8.png"/><Relationship Id="rId6" Type="http://schemas.openxmlformats.org/officeDocument/2006/relationships/image" Target="../media/image3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Relationship Id="rId7" Type="http://schemas.openxmlformats.org/officeDocument/2006/relationships/image" Target="../media/image4.png"/><Relationship Id="rId8" Type="http://schemas.openxmlformats.org/officeDocument/2006/relationships/image" Target="../media/image30.png"/><Relationship Id="rId9" Type="http://schemas.openxmlformats.org/officeDocument/2006/relationships/image" Target="../media/image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Relationship Id="rId4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00" cy="3456432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320040" y="32918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IAM + KEYCLOAK + SPRING BOOT · POST 2 OF 20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749808"/>
            <a:ext cx="49469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kern="0" spc="-8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Is</a:t>
            </a:r>
            <a:endParaRPr lang="en-US" sz="4800" dirty="0"/>
          </a:p>
          <a:p>
            <a:pPr marL="0" indent="0">
              <a:buNone/>
            </a:pPr>
            <a:r>
              <a:rPr lang="en-US" sz="4800" kern="0" spc="-8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Keycloak?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2212848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Realms, clients, users, roles and groups — and how authentication, authorization, OAuth 2.0 and OpenID Connect fit together, using one banking example you can rebuild locally.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949440" y="411480"/>
            <a:ext cx="2651760" cy="2651760"/>
          </a:xfrm>
          <a:prstGeom prst="ellipse">
            <a:avLst/>
          </a:prstGeom>
          <a:ln w="317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269480" y="731520"/>
            <a:ext cx="2011680" cy="2011680"/>
          </a:xfrm>
          <a:prstGeom prst="ellipse">
            <a:avLst/>
          </a:prstGeom>
          <a:ln w="12700">
            <a:solidFill>
              <a:srgbClr val="FFFFFF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pic>
        <p:nvPicPr>
          <p:cNvPr id="8" name="Image 0" descr="icons/lock-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1188720"/>
            <a:ext cx="1097280" cy="10972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320040" y="3685032"/>
            <a:ext cx="552297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The problem before Keycloak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274320" y="4471416"/>
            <a:ext cx="978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LOGIN</a:t>
            </a:r>
            <a:endParaRPr lang="en-US" sz="1100" dirty="0"/>
          </a:p>
        </p:txBody>
      </p:sp>
      <p:pic>
        <p:nvPicPr>
          <p:cNvPr id="11" name="Image 1" descr="icons/desktop-D2D2D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764024"/>
            <a:ext cx="411480" cy="411480"/>
          </a:xfrm>
          <a:prstGeom prst="rect">
            <a:avLst/>
          </a:prstGeom>
        </p:spPr>
      </p:pic>
      <p:pic>
        <p:nvPicPr>
          <p:cNvPr id="12" name="Image 2" descr="icons/key-0078D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" y="5010912"/>
            <a:ext cx="205740" cy="2057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07592" y="4471416"/>
            <a:ext cx="43434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Account, Payment and Customer services each build their own login form and password storage.</a:t>
            </a:r>
            <a:endParaRPr lang="en-US" sz="1400" dirty="0"/>
          </a:p>
        </p:txBody>
      </p:sp>
      <p:sp>
        <p:nvSpPr>
          <p:cNvPr id="14" name="Text 9"/>
          <p:cNvSpPr txBox="1"/>
          <p:nvPr/>
        </p:nvSpPr>
        <p:spPr>
          <a:xfrm>
            <a:off x="274320" y="5431536"/>
            <a:ext cx="978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ROLES</a:t>
            </a:r>
            <a:endParaRPr lang="en-US" sz="1100" dirty="0"/>
          </a:p>
        </p:txBody>
      </p:sp>
      <p:pic>
        <p:nvPicPr>
          <p:cNvPr id="15" name="Image 3" descr="icons/users-D2D2D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5724144"/>
            <a:ext cx="411480" cy="411480"/>
          </a:xfrm>
          <a:prstGeom prst="rect">
            <a:avLst/>
          </a:prstGeom>
        </p:spPr>
      </p:pic>
      <p:pic>
        <p:nvPicPr>
          <p:cNvPr id="16" name="Image 4" descr="icons/tag-0078D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5528" y="5971032"/>
            <a:ext cx="205740" cy="205740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307592" y="5431536"/>
            <a:ext cx="43434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service keeps its own role rules, so “who may see a balance?” gets three different answers.</a:t>
            </a:r>
            <a:endParaRPr lang="en-US" sz="1400" dirty="0"/>
          </a:p>
        </p:txBody>
      </p:sp>
      <p:sp>
        <p:nvSpPr>
          <p:cNvPr id="18" name="Text 11"/>
          <p:cNvSpPr txBox="1"/>
          <p:nvPr/>
        </p:nvSpPr>
        <p:spPr>
          <a:xfrm>
            <a:off x="274320" y="6391656"/>
            <a:ext cx="978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SESSIONS</a:t>
            </a:r>
            <a:endParaRPr lang="en-US" sz="1100" dirty="0"/>
          </a:p>
        </p:txBody>
      </p:sp>
      <p:pic>
        <p:nvPicPr>
          <p:cNvPr id="19" name="Image 5" descr="icons/server-D2D2D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40" y="6684264"/>
            <a:ext cx="411480" cy="411480"/>
          </a:xfrm>
          <a:prstGeom prst="rect">
            <a:avLst/>
          </a:prstGeom>
        </p:spPr>
      </p:pic>
      <p:pic>
        <p:nvPicPr>
          <p:cNvPr id="20" name="Image 6" descr="icons/clock-0078D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5528" y="6931152"/>
            <a:ext cx="205740" cy="205740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1307592" y="6391656"/>
            <a:ext cx="43434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Sessions, tokens and logout are re-implemented per service and drift apart over time.</a:t>
            </a:r>
            <a:endParaRPr lang="en-US" sz="1400" dirty="0"/>
          </a:p>
        </p:txBody>
      </p:sp>
      <p:sp>
        <p:nvSpPr>
          <p:cNvPr id="22" name="Shape 13"/>
          <p:cNvSpPr/>
          <p:nvPr/>
        </p:nvSpPr>
        <p:spPr>
          <a:xfrm>
            <a:off x="5824728" y="4526280"/>
            <a:ext cx="3776472" cy="2670048"/>
          </a:xfrm>
          <a:prstGeom prst="rect">
            <a:avLst/>
          </a:prstGeom>
          <a:solidFill>
            <a:srgbClr val="FFFFFF"/>
          </a:solidFill>
          <a:ln w="9525">
            <a:solidFill>
              <a:srgbClr val="E1E1E1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14"/>
          <p:cNvSpPr txBox="1"/>
          <p:nvPr/>
        </p:nvSpPr>
        <p:spPr>
          <a:xfrm>
            <a:off x="6007608" y="4636008"/>
            <a:ext cx="3410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Before: every service owns identity</a:t>
            </a:r>
            <a:endParaRPr lang="en-US" sz="1100" dirty="0"/>
          </a:p>
        </p:txBody>
      </p:sp>
      <p:sp>
        <p:nvSpPr>
          <p:cNvPr id="24" name="Shape 15"/>
          <p:cNvSpPr/>
          <p:nvPr/>
        </p:nvSpPr>
        <p:spPr>
          <a:xfrm>
            <a:off x="6007608" y="4983480"/>
            <a:ext cx="1069848" cy="329184"/>
          </a:xfrm>
          <a:prstGeom prst="roundRect">
            <a:avLst>
              <a:gd name="adj" fmla="val 16667"/>
            </a:avLst>
          </a:prstGeom>
          <a:solidFill>
            <a:srgbClr val="0078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16"/>
          <p:cNvSpPr txBox="1"/>
          <p:nvPr/>
        </p:nvSpPr>
        <p:spPr>
          <a:xfrm>
            <a:off x="6080760" y="4983480"/>
            <a:ext cx="923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</a:t>
            </a:r>
            <a:endParaRPr lang="en-US" sz="1100" dirty="0"/>
          </a:p>
        </p:txBody>
      </p:sp>
      <p:sp>
        <p:nvSpPr>
          <p:cNvPr id="26" name="Shape 17"/>
          <p:cNvSpPr/>
          <p:nvPr/>
        </p:nvSpPr>
        <p:spPr>
          <a:xfrm>
            <a:off x="6007608" y="5394960"/>
            <a:ext cx="1069848" cy="274320"/>
          </a:xfrm>
          <a:prstGeom prst="roundRect">
            <a:avLst>
              <a:gd name="adj" fmla="val 20000"/>
            </a:avLst>
          </a:prstGeom>
          <a:solidFill>
            <a:srgbClr val="F3F3F3"/>
          </a:solidFill>
          <a:ln w="12700">
            <a:solidFill>
              <a:srgbClr val="E1E1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18"/>
          <p:cNvSpPr txBox="1"/>
          <p:nvPr/>
        </p:nvSpPr>
        <p:spPr>
          <a:xfrm>
            <a:off x="6080760" y="5394960"/>
            <a:ext cx="923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Login form</a:t>
            </a:r>
            <a:endParaRPr lang="en-US" sz="900" dirty="0"/>
          </a:p>
        </p:txBody>
      </p:sp>
      <p:sp>
        <p:nvSpPr>
          <p:cNvPr id="28" name="Shape 19"/>
          <p:cNvSpPr/>
          <p:nvPr/>
        </p:nvSpPr>
        <p:spPr>
          <a:xfrm>
            <a:off x="6007608" y="5733288"/>
            <a:ext cx="1069848" cy="274320"/>
          </a:xfrm>
          <a:prstGeom prst="roundRect">
            <a:avLst>
              <a:gd name="adj" fmla="val 20000"/>
            </a:avLst>
          </a:prstGeom>
          <a:solidFill>
            <a:srgbClr val="F3F3F3"/>
          </a:solidFill>
          <a:ln w="12700">
            <a:solidFill>
              <a:srgbClr val="E1E1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0"/>
          <p:cNvSpPr txBox="1"/>
          <p:nvPr/>
        </p:nvSpPr>
        <p:spPr>
          <a:xfrm>
            <a:off x="6080760" y="5733288"/>
            <a:ext cx="923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Passwords</a:t>
            </a:r>
            <a:endParaRPr lang="en-US" sz="900" dirty="0"/>
          </a:p>
        </p:txBody>
      </p:sp>
      <p:sp>
        <p:nvSpPr>
          <p:cNvPr id="30" name="Shape 21"/>
          <p:cNvSpPr/>
          <p:nvPr/>
        </p:nvSpPr>
        <p:spPr>
          <a:xfrm>
            <a:off x="6007608" y="6071616"/>
            <a:ext cx="1069848" cy="274320"/>
          </a:xfrm>
          <a:prstGeom prst="roundRect">
            <a:avLst>
              <a:gd name="adj" fmla="val 20000"/>
            </a:avLst>
          </a:prstGeom>
          <a:solidFill>
            <a:srgbClr val="F3F3F3"/>
          </a:solidFill>
          <a:ln w="12700">
            <a:solidFill>
              <a:srgbClr val="E1E1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2"/>
          <p:cNvSpPr txBox="1"/>
          <p:nvPr/>
        </p:nvSpPr>
        <p:spPr>
          <a:xfrm>
            <a:off x="6080760" y="6071616"/>
            <a:ext cx="923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Roles</a:t>
            </a:r>
            <a:endParaRPr lang="en-US" sz="900" dirty="0"/>
          </a:p>
        </p:txBody>
      </p:sp>
      <p:sp>
        <p:nvSpPr>
          <p:cNvPr id="32" name="Shape 23"/>
          <p:cNvSpPr/>
          <p:nvPr/>
        </p:nvSpPr>
        <p:spPr>
          <a:xfrm>
            <a:off x="6007608" y="6409944"/>
            <a:ext cx="1069848" cy="274320"/>
          </a:xfrm>
          <a:prstGeom prst="roundRect">
            <a:avLst>
              <a:gd name="adj" fmla="val 20000"/>
            </a:avLst>
          </a:prstGeom>
          <a:solidFill>
            <a:srgbClr val="F3F3F3"/>
          </a:solidFill>
          <a:ln w="12700">
            <a:solidFill>
              <a:srgbClr val="E1E1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24"/>
          <p:cNvSpPr txBox="1"/>
          <p:nvPr/>
        </p:nvSpPr>
        <p:spPr>
          <a:xfrm>
            <a:off x="6080760" y="6409944"/>
            <a:ext cx="923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Sessions</a:t>
            </a:r>
            <a:endParaRPr lang="en-US" sz="900" dirty="0"/>
          </a:p>
        </p:txBody>
      </p:sp>
      <p:sp>
        <p:nvSpPr>
          <p:cNvPr id="34" name="Shape 25"/>
          <p:cNvSpPr/>
          <p:nvPr/>
        </p:nvSpPr>
        <p:spPr>
          <a:xfrm>
            <a:off x="7168896" y="4983480"/>
            <a:ext cx="1069848" cy="329184"/>
          </a:xfrm>
          <a:prstGeom prst="roundRect">
            <a:avLst>
              <a:gd name="adj" fmla="val 16667"/>
            </a:avLst>
          </a:prstGeom>
          <a:solidFill>
            <a:srgbClr val="0078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26"/>
          <p:cNvSpPr txBox="1"/>
          <p:nvPr/>
        </p:nvSpPr>
        <p:spPr>
          <a:xfrm>
            <a:off x="7242048" y="4983480"/>
            <a:ext cx="923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</a:t>
            </a:r>
            <a:endParaRPr lang="en-US" sz="1100" dirty="0"/>
          </a:p>
        </p:txBody>
      </p:sp>
      <p:sp>
        <p:nvSpPr>
          <p:cNvPr id="36" name="Shape 27"/>
          <p:cNvSpPr/>
          <p:nvPr/>
        </p:nvSpPr>
        <p:spPr>
          <a:xfrm>
            <a:off x="7168896" y="5394960"/>
            <a:ext cx="1069848" cy="274320"/>
          </a:xfrm>
          <a:prstGeom prst="roundRect">
            <a:avLst>
              <a:gd name="adj" fmla="val 20000"/>
            </a:avLst>
          </a:prstGeom>
          <a:solidFill>
            <a:srgbClr val="F3F3F3"/>
          </a:solidFill>
          <a:ln w="12700">
            <a:solidFill>
              <a:srgbClr val="E1E1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28"/>
          <p:cNvSpPr txBox="1"/>
          <p:nvPr/>
        </p:nvSpPr>
        <p:spPr>
          <a:xfrm>
            <a:off x="7242048" y="5394960"/>
            <a:ext cx="923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Login form</a:t>
            </a:r>
            <a:endParaRPr lang="en-US" sz="900" dirty="0"/>
          </a:p>
        </p:txBody>
      </p:sp>
      <p:sp>
        <p:nvSpPr>
          <p:cNvPr id="38" name="Shape 29"/>
          <p:cNvSpPr/>
          <p:nvPr/>
        </p:nvSpPr>
        <p:spPr>
          <a:xfrm>
            <a:off x="7168896" y="5733288"/>
            <a:ext cx="1069848" cy="274320"/>
          </a:xfrm>
          <a:prstGeom prst="roundRect">
            <a:avLst>
              <a:gd name="adj" fmla="val 20000"/>
            </a:avLst>
          </a:prstGeom>
          <a:solidFill>
            <a:srgbClr val="F3F3F3"/>
          </a:solidFill>
          <a:ln w="12700">
            <a:solidFill>
              <a:srgbClr val="E1E1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0"/>
          <p:cNvSpPr txBox="1"/>
          <p:nvPr/>
        </p:nvSpPr>
        <p:spPr>
          <a:xfrm>
            <a:off x="7242048" y="5733288"/>
            <a:ext cx="923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Passwords</a:t>
            </a:r>
            <a:endParaRPr lang="en-US" sz="900" dirty="0"/>
          </a:p>
        </p:txBody>
      </p:sp>
      <p:sp>
        <p:nvSpPr>
          <p:cNvPr id="40" name="Shape 31"/>
          <p:cNvSpPr/>
          <p:nvPr/>
        </p:nvSpPr>
        <p:spPr>
          <a:xfrm>
            <a:off x="7168896" y="6071616"/>
            <a:ext cx="1069848" cy="274320"/>
          </a:xfrm>
          <a:prstGeom prst="roundRect">
            <a:avLst>
              <a:gd name="adj" fmla="val 20000"/>
            </a:avLst>
          </a:prstGeom>
          <a:solidFill>
            <a:srgbClr val="F3F3F3"/>
          </a:solidFill>
          <a:ln w="12700">
            <a:solidFill>
              <a:srgbClr val="E1E1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2"/>
          <p:cNvSpPr txBox="1"/>
          <p:nvPr/>
        </p:nvSpPr>
        <p:spPr>
          <a:xfrm>
            <a:off x="7242048" y="6071616"/>
            <a:ext cx="923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Roles</a:t>
            </a:r>
            <a:endParaRPr lang="en-US" sz="900" dirty="0"/>
          </a:p>
        </p:txBody>
      </p:sp>
      <p:sp>
        <p:nvSpPr>
          <p:cNvPr id="42" name="Shape 33"/>
          <p:cNvSpPr/>
          <p:nvPr/>
        </p:nvSpPr>
        <p:spPr>
          <a:xfrm>
            <a:off x="7168896" y="6409944"/>
            <a:ext cx="1069848" cy="274320"/>
          </a:xfrm>
          <a:prstGeom prst="roundRect">
            <a:avLst>
              <a:gd name="adj" fmla="val 20000"/>
            </a:avLst>
          </a:prstGeom>
          <a:solidFill>
            <a:srgbClr val="F3F3F3"/>
          </a:solidFill>
          <a:ln w="12700">
            <a:solidFill>
              <a:srgbClr val="E1E1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34"/>
          <p:cNvSpPr txBox="1"/>
          <p:nvPr/>
        </p:nvSpPr>
        <p:spPr>
          <a:xfrm>
            <a:off x="7242048" y="6409944"/>
            <a:ext cx="923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Sessions</a:t>
            </a:r>
            <a:endParaRPr lang="en-US" sz="900" dirty="0"/>
          </a:p>
        </p:txBody>
      </p:sp>
      <p:sp>
        <p:nvSpPr>
          <p:cNvPr id="44" name="Shape 35"/>
          <p:cNvSpPr/>
          <p:nvPr/>
        </p:nvSpPr>
        <p:spPr>
          <a:xfrm>
            <a:off x="8330184" y="4983480"/>
            <a:ext cx="1069848" cy="329184"/>
          </a:xfrm>
          <a:prstGeom prst="roundRect">
            <a:avLst>
              <a:gd name="adj" fmla="val 16667"/>
            </a:avLst>
          </a:prstGeom>
          <a:solidFill>
            <a:srgbClr val="0078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36"/>
          <p:cNvSpPr txBox="1"/>
          <p:nvPr/>
        </p:nvSpPr>
        <p:spPr>
          <a:xfrm>
            <a:off x="8403336" y="4983480"/>
            <a:ext cx="923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</a:t>
            </a:r>
            <a:endParaRPr lang="en-US" sz="1100" dirty="0"/>
          </a:p>
        </p:txBody>
      </p:sp>
      <p:sp>
        <p:nvSpPr>
          <p:cNvPr id="46" name="Shape 37"/>
          <p:cNvSpPr/>
          <p:nvPr/>
        </p:nvSpPr>
        <p:spPr>
          <a:xfrm>
            <a:off x="8330184" y="5394960"/>
            <a:ext cx="1069848" cy="274320"/>
          </a:xfrm>
          <a:prstGeom prst="roundRect">
            <a:avLst>
              <a:gd name="adj" fmla="val 20000"/>
            </a:avLst>
          </a:prstGeom>
          <a:solidFill>
            <a:srgbClr val="F3F3F3"/>
          </a:solidFill>
          <a:ln w="12700">
            <a:solidFill>
              <a:srgbClr val="E1E1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38"/>
          <p:cNvSpPr txBox="1"/>
          <p:nvPr/>
        </p:nvSpPr>
        <p:spPr>
          <a:xfrm>
            <a:off x="8403336" y="5394960"/>
            <a:ext cx="923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Login form</a:t>
            </a:r>
            <a:endParaRPr lang="en-US" sz="900" dirty="0"/>
          </a:p>
        </p:txBody>
      </p:sp>
      <p:sp>
        <p:nvSpPr>
          <p:cNvPr id="48" name="Shape 39"/>
          <p:cNvSpPr/>
          <p:nvPr/>
        </p:nvSpPr>
        <p:spPr>
          <a:xfrm>
            <a:off x="8330184" y="5733288"/>
            <a:ext cx="1069848" cy="274320"/>
          </a:xfrm>
          <a:prstGeom prst="roundRect">
            <a:avLst>
              <a:gd name="adj" fmla="val 20000"/>
            </a:avLst>
          </a:prstGeom>
          <a:solidFill>
            <a:srgbClr val="F3F3F3"/>
          </a:solidFill>
          <a:ln w="12700">
            <a:solidFill>
              <a:srgbClr val="E1E1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0"/>
          <p:cNvSpPr txBox="1"/>
          <p:nvPr/>
        </p:nvSpPr>
        <p:spPr>
          <a:xfrm>
            <a:off x="8403336" y="5733288"/>
            <a:ext cx="923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Passwords</a:t>
            </a:r>
            <a:endParaRPr lang="en-US" sz="900" dirty="0"/>
          </a:p>
        </p:txBody>
      </p:sp>
      <p:sp>
        <p:nvSpPr>
          <p:cNvPr id="50" name="Shape 41"/>
          <p:cNvSpPr/>
          <p:nvPr/>
        </p:nvSpPr>
        <p:spPr>
          <a:xfrm>
            <a:off x="8330184" y="6071616"/>
            <a:ext cx="1069848" cy="274320"/>
          </a:xfrm>
          <a:prstGeom prst="roundRect">
            <a:avLst>
              <a:gd name="adj" fmla="val 20000"/>
            </a:avLst>
          </a:prstGeom>
          <a:solidFill>
            <a:srgbClr val="F3F3F3"/>
          </a:solidFill>
          <a:ln w="12700">
            <a:solidFill>
              <a:srgbClr val="E1E1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2"/>
          <p:cNvSpPr txBox="1"/>
          <p:nvPr/>
        </p:nvSpPr>
        <p:spPr>
          <a:xfrm>
            <a:off x="8403336" y="6071616"/>
            <a:ext cx="923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Roles</a:t>
            </a:r>
            <a:endParaRPr lang="en-US" sz="900" dirty="0"/>
          </a:p>
        </p:txBody>
      </p:sp>
      <p:sp>
        <p:nvSpPr>
          <p:cNvPr id="52" name="Shape 43"/>
          <p:cNvSpPr/>
          <p:nvPr/>
        </p:nvSpPr>
        <p:spPr>
          <a:xfrm>
            <a:off x="8330184" y="6409944"/>
            <a:ext cx="1069848" cy="274320"/>
          </a:xfrm>
          <a:prstGeom prst="roundRect">
            <a:avLst>
              <a:gd name="adj" fmla="val 20000"/>
            </a:avLst>
          </a:prstGeom>
          <a:solidFill>
            <a:srgbClr val="F3F3F3"/>
          </a:solidFill>
          <a:ln w="12700">
            <a:solidFill>
              <a:srgbClr val="E1E1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44"/>
          <p:cNvSpPr txBox="1"/>
          <p:nvPr/>
        </p:nvSpPr>
        <p:spPr>
          <a:xfrm>
            <a:off x="8403336" y="6409944"/>
            <a:ext cx="923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Sessions</a:t>
            </a:r>
            <a:endParaRPr lang="en-US" sz="900" dirty="0"/>
          </a:p>
        </p:txBody>
      </p:sp>
      <p:sp>
        <p:nvSpPr>
          <p:cNvPr id="54" name="Text 45"/>
          <p:cNvSpPr txBox="1"/>
          <p:nvPr/>
        </p:nvSpPr>
        <p:spPr>
          <a:xfrm>
            <a:off x="6007608" y="6784848"/>
            <a:ext cx="3410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 logins · 3 password stores · 3 role models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74904" y="475488"/>
            <a:ext cx="930859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What we will learn — and build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374904" y="1234440"/>
            <a:ext cx="930859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concept in this post is shown on one small example you can reproduce on your own machine with a local Keycloak.</a:t>
            </a:r>
            <a:endParaRPr lang="en-US" sz="1400" dirty="0"/>
          </a:p>
        </p:txBody>
      </p:sp>
      <p:pic>
        <p:nvPicPr>
          <p:cNvPr id="4" name="Image 0" descr="icons/check-0078D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157984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77240" y="210312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Keycloak is and why teams use it</a:t>
            </a:r>
            <a:endParaRPr lang="en-US" sz="1400" dirty="0"/>
          </a:p>
        </p:txBody>
      </p:sp>
      <p:pic>
        <p:nvPicPr>
          <p:cNvPr id="6" name="Image 1" descr="icons/check-0078D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633472"/>
            <a:ext cx="219456" cy="21945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77240" y="257860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Realm, client, user, role and group</a:t>
            </a:r>
            <a:endParaRPr lang="en-US" sz="1400" dirty="0"/>
          </a:p>
        </p:txBody>
      </p:sp>
      <p:pic>
        <p:nvPicPr>
          <p:cNvPr id="8" name="Image 2" descr="icons/check-0078D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108960"/>
            <a:ext cx="219456" cy="219456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777240" y="3054096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Authentication vs authorization</a:t>
            </a:r>
            <a:endParaRPr lang="en-US" sz="1400" dirty="0"/>
          </a:p>
        </p:txBody>
      </p:sp>
      <p:pic>
        <p:nvPicPr>
          <p:cNvPr id="10" name="Image 3" descr="icons/check-0078D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584448"/>
            <a:ext cx="219456" cy="219456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777240" y="3529584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OAuth 2.0 vs OpenID Connect</a:t>
            </a:r>
            <a:endParaRPr lang="en-US" sz="1400" dirty="0"/>
          </a:p>
        </p:txBody>
      </p:sp>
      <p:pic>
        <p:nvPicPr>
          <p:cNvPr id="12" name="Image 4" descr="icons/check-0078D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4059936"/>
            <a:ext cx="219456" cy="219456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777240" y="4005072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each concept lives in the Admin Console</a:t>
            </a:r>
            <a:endParaRPr lang="en-US" sz="1400" dirty="0"/>
          </a:p>
        </p:txBody>
      </p:sp>
      <p:pic>
        <p:nvPicPr>
          <p:cNvPr id="14" name="Image 5" descr="icons/check-0078D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4535424"/>
            <a:ext cx="219456" cy="219456"/>
          </a:xfrm>
          <a:prstGeom prst="rect">
            <a:avLst/>
          </a:prstGeom>
        </p:spPr>
      </p:pic>
      <p:sp>
        <p:nvSpPr>
          <p:cNvPr id="15" name="Text 7"/>
          <p:cNvSpPr txBox="1"/>
          <p:nvPr/>
        </p:nvSpPr>
        <p:spPr>
          <a:xfrm>
            <a:off x="777240" y="448056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Keycloak locally with Docker</a:t>
            </a:r>
            <a:endParaRPr lang="en-US" sz="1400" dirty="0"/>
          </a:p>
        </p:txBody>
      </p:sp>
      <p:pic>
        <p:nvPicPr>
          <p:cNvPr id="16" name="Image 6" descr="icons/check-0078D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5010912"/>
            <a:ext cx="219456" cy="219456"/>
          </a:xfrm>
          <a:prstGeom prst="rect">
            <a:avLst/>
          </a:prstGeom>
        </p:spPr>
      </p:pic>
      <p:sp>
        <p:nvSpPr>
          <p:cNvPr id="17" name="Text 8"/>
          <p:cNvSpPr txBox="1"/>
          <p:nvPr/>
        </p:nvSpPr>
        <p:spPr>
          <a:xfrm>
            <a:off x="777240" y="495604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 a real token for a real user</a:t>
            </a:r>
            <a:endParaRPr lang="en-US" sz="1400" dirty="0"/>
          </a:p>
        </p:txBody>
      </p:sp>
      <p:pic>
        <p:nvPicPr>
          <p:cNvPr id="18" name="Image 7" descr="icons/check-0078D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5486400"/>
            <a:ext cx="219456" cy="219456"/>
          </a:xfrm>
          <a:prstGeom prst="rect">
            <a:avLst/>
          </a:prstGeom>
        </p:spPr>
      </p:pic>
      <p:sp>
        <p:nvSpPr>
          <p:cNvPr id="19" name="Text 9"/>
          <p:cNvSpPr txBox="1"/>
          <p:nvPr/>
        </p:nvSpPr>
        <p:spPr>
          <a:xfrm>
            <a:off x="777240" y="5431536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Verify roles inside the token</a:t>
            </a:r>
            <a:endParaRPr lang="en-US" sz="1400" dirty="0"/>
          </a:p>
        </p:txBody>
      </p:sp>
      <p:sp>
        <p:nvSpPr>
          <p:cNvPr id="20" name="Shape 10"/>
          <p:cNvSpPr/>
          <p:nvPr/>
        </p:nvSpPr>
        <p:spPr>
          <a:xfrm>
            <a:off x="5440680" y="2057400"/>
            <a:ext cx="4242816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1E1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1"/>
          <p:cNvSpPr txBox="1"/>
          <p:nvPr/>
        </p:nvSpPr>
        <p:spPr>
          <a:xfrm>
            <a:off x="5669280" y="2194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working example</a:t>
            </a:r>
            <a:endParaRPr lang="en-US" sz="1100" dirty="0"/>
          </a:p>
        </p:txBody>
      </p:sp>
      <p:sp>
        <p:nvSpPr>
          <p:cNvPr id="22" name="Shape 12"/>
          <p:cNvSpPr/>
          <p:nvPr/>
        </p:nvSpPr>
        <p:spPr>
          <a:xfrm>
            <a:off x="5669280" y="2560320"/>
            <a:ext cx="3785616" cy="411480"/>
          </a:xfrm>
          <a:prstGeom prst="roundRect">
            <a:avLst>
              <a:gd name="adj" fmla="val 13333"/>
            </a:avLst>
          </a:prstGeom>
          <a:solidFill>
            <a:srgbClr val="0078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13"/>
          <p:cNvSpPr txBox="1"/>
          <p:nvPr/>
        </p:nvSpPr>
        <p:spPr>
          <a:xfrm>
            <a:off x="5742432" y="2560320"/>
            <a:ext cx="3639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Realm  ·  bank-demo</a:t>
            </a:r>
            <a:endParaRPr lang="en-US" sz="1300" dirty="0"/>
          </a:p>
        </p:txBody>
      </p:sp>
      <p:sp>
        <p:nvSpPr>
          <p:cNvPr id="24" name="Shape 14"/>
          <p:cNvSpPr/>
          <p:nvPr/>
        </p:nvSpPr>
        <p:spPr>
          <a:xfrm>
            <a:off x="5897880" y="2971800"/>
            <a:ext cx="914" cy="2505456"/>
          </a:xfrm>
          <a:prstGeom prst="line">
            <a:avLst/>
          </a:prstGeom>
          <a:noFill/>
          <a:ln w="19050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15"/>
          <p:cNvSpPr/>
          <p:nvPr/>
        </p:nvSpPr>
        <p:spPr>
          <a:xfrm>
            <a:off x="5897880" y="3355848"/>
            <a:ext cx="228600" cy="914"/>
          </a:xfrm>
          <a:prstGeom prst="line">
            <a:avLst/>
          </a:prstGeom>
          <a:noFill/>
          <a:ln w="19050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16"/>
          <p:cNvSpPr/>
          <p:nvPr/>
        </p:nvSpPr>
        <p:spPr>
          <a:xfrm>
            <a:off x="6126480" y="3154680"/>
            <a:ext cx="3328416" cy="402336"/>
          </a:xfrm>
          <a:prstGeom prst="roundRect">
            <a:avLst>
              <a:gd name="adj" fmla="val 13636"/>
            </a:avLst>
          </a:prstGeom>
          <a:solidFill>
            <a:srgbClr val="F3F3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17"/>
          <p:cNvSpPr txBox="1"/>
          <p:nvPr/>
        </p:nvSpPr>
        <p:spPr>
          <a:xfrm>
            <a:off x="6236208" y="3154680"/>
            <a:ext cx="31455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  </a:t>
            </a:r>
            <a:r>
              <a:rPr lang="en-US" sz="12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bank-app</a:t>
            </a:r>
            <a:r>
              <a:rPr lang="en-US" sz="10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requests tokens</a:t>
            </a:r>
            <a:endParaRPr lang="en-US" sz="1000" dirty="0"/>
          </a:p>
        </p:txBody>
      </p:sp>
      <p:sp>
        <p:nvSpPr>
          <p:cNvPr id="28" name="Shape 18"/>
          <p:cNvSpPr/>
          <p:nvPr/>
        </p:nvSpPr>
        <p:spPr>
          <a:xfrm>
            <a:off x="5897880" y="3886200"/>
            <a:ext cx="228600" cy="914"/>
          </a:xfrm>
          <a:prstGeom prst="line">
            <a:avLst/>
          </a:prstGeom>
          <a:noFill/>
          <a:ln w="19050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19"/>
          <p:cNvSpPr/>
          <p:nvPr/>
        </p:nvSpPr>
        <p:spPr>
          <a:xfrm>
            <a:off x="6126480" y="3685032"/>
            <a:ext cx="3328416" cy="402336"/>
          </a:xfrm>
          <a:prstGeom prst="roundRect">
            <a:avLst>
              <a:gd name="adj" fmla="val 13636"/>
            </a:avLst>
          </a:prstGeom>
          <a:solidFill>
            <a:srgbClr val="F3F3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0"/>
          <p:cNvSpPr txBox="1"/>
          <p:nvPr/>
        </p:nvSpPr>
        <p:spPr>
          <a:xfrm>
            <a:off x="6236208" y="3685032"/>
            <a:ext cx="31455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Realm role  </a:t>
            </a:r>
            <a:r>
              <a:rPr lang="en-US" sz="12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customer</a:t>
            </a:r>
            <a:r>
              <a:rPr lang="en-US" sz="10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views own accounts</a:t>
            </a:r>
            <a:endParaRPr lang="en-US" sz="1000" dirty="0"/>
          </a:p>
        </p:txBody>
      </p:sp>
      <p:sp>
        <p:nvSpPr>
          <p:cNvPr id="31" name="Shape 21"/>
          <p:cNvSpPr/>
          <p:nvPr/>
        </p:nvSpPr>
        <p:spPr>
          <a:xfrm>
            <a:off x="5897880" y="4416552"/>
            <a:ext cx="228600" cy="914"/>
          </a:xfrm>
          <a:prstGeom prst="line">
            <a:avLst/>
          </a:prstGeom>
          <a:noFill/>
          <a:ln w="19050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22"/>
          <p:cNvSpPr/>
          <p:nvPr/>
        </p:nvSpPr>
        <p:spPr>
          <a:xfrm>
            <a:off x="6126480" y="4215384"/>
            <a:ext cx="3328416" cy="402336"/>
          </a:xfrm>
          <a:prstGeom prst="roundRect">
            <a:avLst>
              <a:gd name="adj" fmla="val 13636"/>
            </a:avLst>
          </a:prstGeom>
          <a:solidFill>
            <a:srgbClr val="F3F3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23"/>
          <p:cNvSpPr txBox="1"/>
          <p:nvPr/>
        </p:nvSpPr>
        <p:spPr>
          <a:xfrm>
            <a:off x="6236208" y="4215384"/>
            <a:ext cx="31455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Group  </a:t>
            </a:r>
            <a:r>
              <a:rPr lang="en-US" sz="12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retail-customers</a:t>
            </a:r>
            <a:r>
              <a:rPr lang="en-US" sz="10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→ customer</a:t>
            </a:r>
            <a:endParaRPr lang="en-US" sz="1000" dirty="0"/>
          </a:p>
        </p:txBody>
      </p:sp>
      <p:sp>
        <p:nvSpPr>
          <p:cNvPr id="34" name="Shape 24"/>
          <p:cNvSpPr/>
          <p:nvPr/>
        </p:nvSpPr>
        <p:spPr>
          <a:xfrm>
            <a:off x="5897880" y="4946904"/>
            <a:ext cx="228600" cy="914"/>
          </a:xfrm>
          <a:prstGeom prst="line">
            <a:avLst/>
          </a:prstGeom>
          <a:noFill/>
          <a:ln w="19050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25"/>
          <p:cNvSpPr/>
          <p:nvPr/>
        </p:nvSpPr>
        <p:spPr>
          <a:xfrm>
            <a:off x="6126480" y="4745736"/>
            <a:ext cx="3328416" cy="402336"/>
          </a:xfrm>
          <a:prstGeom prst="roundRect">
            <a:avLst>
              <a:gd name="adj" fmla="val 13636"/>
            </a:avLst>
          </a:prstGeom>
          <a:solidFill>
            <a:srgbClr val="CFE4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26"/>
          <p:cNvSpPr txBox="1"/>
          <p:nvPr/>
        </p:nvSpPr>
        <p:spPr>
          <a:xfrm>
            <a:off x="6236208" y="4745736"/>
            <a:ext cx="31455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 </a:t>
            </a:r>
            <a:r>
              <a:rPr lang="en-US" sz="12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ajay</a:t>
            </a:r>
            <a:r>
              <a:rPr lang="en-US" sz="10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in retail-customers</a:t>
            </a:r>
            <a:endParaRPr lang="en-US" sz="1000" dirty="0"/>
          </a:p>
        </p:txBody>
      </p:sp>
      <p:sp>
        <p:nvSpPr>
          <p:cNvPr id="37" name="Shape 27"/>
          <p:cNvSpPr/>
          <p:nvPr/>
        </p:nvSpPr>
        <p:spPr>
          <a:xfrm>
            <a:off x="5897880" y="5477256"/>
            <a:ext cx="228600" cy="914"/>
          </a:xfrm>
          <a:prstGeom prst="line">
            <a:avLst/>
          </a:prstGeom>
          <a:noFill/>
          <a:ln w="19050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28"/>
          <p:cNvSpPr/>
          <p:nvPr/>
        </p:nvSpPr>
        <p:spPr>
          <a:xfrm>
            <a:off x="6126480" y="5276088"/>
            <a:ext cx="3328416" cy="402336"/>
          </a:xfrm>
          <a:prstGeom prst="roundRect">
            <a:avLst>
              <a:gd name="adj" fmla="val 13636"/>
            </a:avLst>
          </a:prstGeom>
          <a:solidFill>
            <a:srgbClr val="CFE4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29"/>
          <p:cNvSpPr txBox="1"/>
          <p:nvPr/>
        </p:nvSpPr>
        <p:spPr>
          <a:xfrm>
            <a:off x="6236208" y="5276088"/>
            <a:ext cx="31455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 </a:t>
            </a:r>
            <a:r>
              <a:rPr lang="en-US" sz="12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akash</a:t>
            </a:r>
            <a:r>
              <a:rPr lang="en-US" sz="10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no group, no role</a:t>
            </a:r>
            <a:endParaRPr lang="en-US" sz="1000" dirty="0"/>
          </a:p>
        </p:txBody>
      </p:sp>
      <p:sp>
        <p:nvSpPr>
          <p:cNvPr id="40" name="Text 30"/>
          <p:cNvSpPr txBox="1"/>
          <p:nvPr/>
        </p:nvSpPr>
        <p:spPr>
          <a:xfrm>
            <a:off x="5440680" y="6199632"/>
            <a:ext cx="42428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realm, one client, one role, one group, two users. </a:t>
            </a: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ajay</a:t>
            </a: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should be allowed; </a:t>
            </a: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akash</a:t>
            </a: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should not.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74904" y="475488"/>
            <a:ext cx="930859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What is Keycloak?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374904" y="1234440"/>
            <a:ext cx="930859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Keycloak is an open-source Identity and Access Management (IAM) server. Applications hand login over to it and receive standard, signed tokens back.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74904" y="2057400"/>
            <a:ext cx="2587752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1E1E1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0" descr="icons/signin-D2D2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2359152"/>
            <a:ext cx="457200" cy="457200"/>
          </a:xfrm>
          <a:prstGeom prst="rect">
            <a:avLst/>
          </a:prstGeom>
        </p:spPr>
      </p:pic>
      <p:pic>
        <p:nvPicPr>
          <p:cNvPr id="6" name="Image 1" descr="icons/key-0078D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" y="2633472"/>
            <a:ext cx="228600" cy="2286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79576" y="224028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Authentication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1179576" y="256946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Login forms, passwords, MFA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3191256" y="2057400"/>
            <a:ext cx="2587752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1E1E1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0" name="Image 2" descr="icons/users-D2D2D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4136" y="2359152"/>
            <a:ext cx="457200" cy="457200"/>
          </a:xfrm>
          <a:prstGeom prst="rect">
            <a:avLst/>
          </a:prstGeom>
        </p:spPr>
      </p:pic>
      <p:pic>
        <p:nvPicPr>
          <p:cNvPr id="11" name="Image 3" descr="icons/id-0078D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48456" y="2633472"/>
            <a:ext cx="228600" cy="22860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3995928" y="224028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Identity store</a:t>
            </a:r>
            <a:endParaRPr lang="en-US" sz="1300" dirty="0"/>
          </a:p>
        </p:txBody>
      </p:sp>
      <p:sp>
        <p:nvSpPr>
          <p:cNvPr id="13" name="Text 7"/>
          <p:cNvSpPr txBox="1"/>
          <p:nvPr/>
        </p:nvSpPr>
        <p:spPr>
          <a:xfrm>
            <a:off x="3995928" y="256946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Users, groups, attributes</a:t>
            </a:r>
            <a:endParaRPr lang="en-US" sz="1100" dirty="0"/>
          </a:p>
        </p:txBody>
      </p:sp>
      <p:sp>
        <p:nvSpPr>
          <p:cNvPr id="14" name="Shape 8"/>
          <p:cNvSpPr/>
          <p:nvPr/>
        </p:nvSpPr>
        <p:spPr>
          <a:xfrm>
            <a:off x="374904" y="3383280"/>
            <a:ext cx="2587752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1E1E1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5" name="Image 4" descr="icons/ticket-D2D2D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7784" y="3685032"/>
            <a:ext cx="457200" cy="457200"/>
          </a:xfrm>
          <a:prstGeom prst="rect">
            <a:avLst/>
          </a:prstGeom>
        </p:spPr>
      </p:pic>
      <p:pic>
        <p:nvPicPr>
          <p:cNvPr id="16" name="Image 5" descr="icons/check-0078D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2104" y="3959352"/>
            <a:ext cx="228600" cy="228600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1179576" y="356616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Tokens</a:t>
            </a:r>
            <a:endParaRPr lang="en-US" sz="1300" dirty="0"/>
          </a:p>
        </p:txBody>
      </p:sp>
      <p:sp>
        <p:nvSpPr>
          <p:cNvPr id="18" name="Text 10"/>
          <p:cNvSpPr txBox="1"/>
          <p:nvPr/>
        </p:nvSpPr>
        <p:spPr>
          <a:xfrm>
            <a:off x="1179576" y="389534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Signed JWT access &amp; ID tokens</a:t>
            </a:r>
            <a:endParaRPr lang="en-US" sz="1100" dirty="0"/>
          </a:p>
        </p:txBody>
      </p:sp>
      <p:sp>
        <p:nvSpPr>
          <p:cNvPr id="19" name="Shape 11"/>
          <p:cNvSpPr/>
          <p:nvPr/>
        </p:nvSpPr>
        <p:spPr>
          <a:xfrm>
            <a:off x="3191256" y="3383280"/>
            <a:ext cx="2587752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1E1E1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0" name="Image 6" descr="icons/desktop-D2D2D2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74136" y="3685032"/>
            <a:ext cx="457200" cy="457200"/>
          </a:xfrm>
          <a:prstGeom prst="rect">
            <a:avLst/>
          </a:prstGeom>
        </p:spPr>
      </p:pic>
      <p:pic>
        <p:nvPicPr>
          <p:cNvPr id="21" name="Image 7" descr="icons/exchange-0078D4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48456" y="3959352"/>
            <a:ext cx="228600" cy="228600"/>
          </a:xfrm>
          <a:prstGeom prst="rect">
            <a:avLst/>
          </a:prstGeom>
        </p:spPr>
      </p:pic>
      <p:sp>
        <p:nvSpPr>
          <p:cNvPr id="22" name="Text 12"/>
          <p:cNvSpPr txBox="1"/>
          <p:nvPr/>
        </p:nvSpPr>
        <p:spPr>
          <a:xfrm>
            <a:off x="3995928" y="356616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Single sign-on</a:t>
            </a:r>
            <a:endParaRPr lang="en-US" sz="1300" dirty="0"/>
          </a:p>
        </p:txBody>
      </p:sp>
      <p:sp>
        <p:nvSpPr>
          <p:cNvPr id="23" name="Text 13"/>
          <p:cNvSpPr txBox="1"/>
          <p:nvPr/>
        </p:nvSpPr>
        <p:spPr>
          <a:xfrm>
            <a:off x="3995928" y="389534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 in once, use many apps</a:t>
            </a:r>
            <a:endParaRPr lang="en-US" sz="1100" dirty="0"/>
          </a:p>
        </p:txBody>
      </p:sp>
      <p:sp>
        <p:nvSpPr>
          <p:cNvPr id="24" name="Shape 14"/>
          <p:cNvSpPr/>
          <p:nvPr/>
        </p:nvSpPr>
        <p:spPr>
          <a:xfrm>
            <a:off x="374904" y="4709160"/>
            <a:ext cx="2587752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1E1E1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5" name="Image 8" descr="icons/tag-D2D2D2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57784" y="5010912"/>
            <a:ext cx="457200" cy="457200"/>
          </a:xfrm>
          <a:prstGeom prst="rect">
            <a:avLst/>
          </a:prstGeom>
        </p:spPr>
      </p:pic>
      <p:pic>
        <p:nvPicPr>
          <p:cNvPr id="26" name="Image 9" descr="icons/shield-0078D4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2104" y="5285232"/>
            <a:ext cx="228600" cy="228600"/>
          </a:xfrm>
          <a:prstGeom prst="rect">
            <a:avLst/>
          </a:prstGeom>
        </p:spPr>
      </p:pic>
      <p:sp>
        <p:nvSpPr>
          <p:cNvPr id="27" name="Text 15"/>
          <p:cNvSpPr txBox="1"/>
          <p:nvPr/>
        </p:nvSpPr>
        <p:spPr>
          <a:xfrm>
            <a:off x="1179576" y="489204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Authorization data</a:t>
            </a:r>
            <a:endParaRPr lang="en-US" sz="1300" dirty="0"/>
          </a:p>
        </p:txBody>
      </p:sp>
      <p:sp>
        <p:nvSpPr>
          <p:cNvPr id="28" name="Text 16"/>
          <p:cNvSpPr txBox="1"/>
          <p:nvPr/>
        </p:nvSpPr>
        <p:spPr>
          <a:xfrm>
            <a:off x="1179576" y="522122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Realm &amp; client roles in tokens</a:t>
            </a:r>
            <a:endParaRPr lang="en-US" sz="1100" dirty="0"/>
          </a:p>
        </p:txBody>
      </p:sp>
      <p:sp>
        <p:nvSpPr>
          <p:cNvPr id="29" name="Shape 17"/>
          <p:cNvSpPr/>
          <p:nvPr/>
        </p:nvSpPr>
        <p:spPr>
          <a:xfrm>
            <a:off x="3191256" y="4709160"/>
            <a:ext cx="2587752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1E1E1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0" name="Image 10" descr="icons/globe-D2D2D2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74136" y="5010912"/>
            <a:ext cx="457200" cy="457200"/>
          </a:xfrm>
          <a:prstGeom prst="rect">
            <a:avLst/>
          </a:prstGeom>
        </p:spPr>
      </p:pic>
      <p:pic>
        <p:nvPicPr>
          <p:cNvPr id="31" name="Image 11" descr="icons/code-0078D4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648456" y="5285232"/>
            <a:ext cx="228600" cy="228600"/>
          </a:xfrm>
          <a:prstGeom prst="rect">
            <a:avLst/>
          </a:prstGeom>
        </p:spPr>
      </p:pic>
      <p:sp>
        <p:nvSpPr>
          <p:cNvPr id="32" name="Text 18"/>
          <p:cNvSpPr txBox="1"/>
          <p:nvPr/>
        </p:nvSpPr>
        <p:spPr>
          <a:xfrm>
            <a:off x="3995928" y="489204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Open standards</a:t>
            </a:r>
            <a:endParaRPr lang="en-US" sz="1300" dirty="0"/>
          </a:p>
        </p:txBody>
      </p:sp>
      <p:sp>
        <p:nvSpPr>
          <p:cNvPr id="33" name="Text 19"/>
          <p:cNvSpPr txBox="1"/>
          <p:nvPr/>
        </p:nvSpPr>
        <p:spPr>
          <a:xfrm>
            <a:off x="3995928" y="522122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OIDC · OAuth 2.0 · SAML 2.0</a:t>
            </a:r>
            <a:endParaRPr lang="en-US" sz="1100" dirty="0"/>
          </a:p>
        </p:txBody>
      </p:sp>
      <p:sp>
        <p:nvSpPr>
          <p:cNvPr id="34" name="Text 20"/>
          <p:cNvSpPr txBox="1"/>
          <p:nvPr/>
        </p:nvSpPr>
        <p:spPr>
          <a:xfrm>
            <a:off x="6126480" y="2057400"/>
            <a:ext cx="356616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 one line</a:t>
            </a:r>
            <a:endParaRPr lang="en-US" sz="1300" dirty="0"/>
          </a:p>
          <a:p>
            <a:pPr marL="0" indent="0">
              <a:lnSpc>
                <a:spcPts val="19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separate server that owns “who are you?” and issues tokens your apps can trust.</a:t>
            </a: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 our example</a:t>
            </a: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Keycloak runs on </a:t>
            </a: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localhost:8080</a:t>
            </a: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and owns login for the </a:t>
            </a:r>
            <a:r>
              <a:rPr lang="en-US" sz="13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bank-demo</a:t>
            </a: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realm. The banking services never see a password.</a:t>
            </a: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it is not</a:t>
            </a:r>
            <a:endParaRPr lang="en-US" sz="1300" dirty="0"/>
          </a:p>
          <a:p>
            <a:pPr marL="0" indent="0">
              <a:lnSpc>
                <a:spcPts val="19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a library inside your app. Your app still has to validate the token it receives.</a:t>
            </a: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License</a:t>
            </a:r>
            <a:endParaRPr lang="en-US" sz="1300" dirty="0"/>
          </a:p>
          <a:p>
            <a:pPr marL="0" indent="0">
              <a:lnSpc>
                <a:spcPts val="19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Apache License 2.0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74904" y="475488"/>
            <a:ext cx="930859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High-level architecture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374904" y="1234440"/>
            <a:ext cx="930859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Keycloak sits beside your applications. The user logs in at Keycloak; the application only ever sees a token.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74904" y="2057400"/>
            <a:ext cx="5486400" cy="3977640"/>
          </a:xfrm>
          <a:prstGeom prst="rect">
            <a:avLst/>
          </a:prstGeom>
          <a:solidFill>
            <a:srgbClr val="FFFFFF"/>
          </a:solidFill>
          <a:ln w="9525">
            <a:solidFill>
              <a:srgbClr val="E1E1E1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40080" y="3246120"/>
            <a:ext cx="1371600" cy="1097280"/>
          </a:xfrm>
          <a:prstGeom prst="roundRect">
            <a:avLst>
              <a:gd name="adj" fmla="val 5000"/>
            </a:avLst>
          </a:prstGeom>
          <a:solidFill>
            <a:srgbClr val="F3F3F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icons/user-0078D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" y="3364992"/>
            <a:ext cx="411480" cy="411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37947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ajay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(browser / curl)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017520" y="2331720"/>
            <a:ext cx="2560320" cy="1143000"/>
          </a:xfrm>
          <a:prstGeom prst="roundRect">
            <a:avLst>
              <a:gd name="adj" fmla="val 4800"/>
            </a:avLst>
          </a:prstGeom>
          <a:solidFill>
            <a:srgbClr val="0078D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1" descr="icons/lock-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4680" y="256032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703320" y="2377440"/>
            <a:ext cx="1783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Keycloak</a:t>
            </a:r>
            <a:endParaRPr lang="en-US" sz="14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realm: bank-demo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3017520" y="4572000"/>
            <a:ext cx="256032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2" name="Image 2" descr="icons/server-0078D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54680" y="4873752"/>
            <a:ext cx="457200" cy="4572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703320" y="4617720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Application / API</a:t>
            </a:r>
            <a:endParaRPr lang="en-US" sz="1300" dirty="0"/>
          </a:p>
          <a:p>
            <a:pPr marL="0" indent="0">
              <a:buNone/>
            </a:pPr>
            <a:r>
              <a:rPr lang="en-US" sz="10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account-service (Post 03)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 flipV="1">
            <a:off x="2011680" y="2788920"/>
            <a:ext cx="1005840" cy="640080"/>
          </a:xfrm>
          <a:prstGeom prst="line">
            <a:avLst/>
          </a:prstGeom>
          <a:noFill/>
          <a:ln w="25400">
            <a:solidFill>
              <a:srgbClr val="0078D4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0"/>
          <p:cNvSpPr/>
          <p:nvPr/>
        </p:nvSpPr>
        <p:spPr>
          <a:xfrm flipH="1">
            <a:off x="2011680" y="3154680"/>
            <a:ext cx="1005840" cy="50292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1"/>
          <p:cNvSpPr/>
          <p:nvPr/>
        </p:nvSpPr>
        <p:spPr>
          <a:xfrm>
            <a:off x="2011680" y="4114800"/>
            <a:ext cx="1005840" cy="914400"/>
          </a:xfrm>
          <a:prstGeom prst="line">
            <a:avLst/>
          </a:prstGeom>
          <a:noFill/>
          <a:ln w="25400">
            <a:solidFill>
              <a:srgbClr val="0078D4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2"/>
          <p:cNvSpPr/>
          <p:nvPr/>
        </p:nvSpPr>
        <p:spPr>
          <a:xfrm flipV="1">
            <a:off x="4297680" y="3474720"/>
            <a:ext cx="914" cy="1097280"/>
          </a:xfrm>
          <a:prstGeom prst="line">
            <a:avLst/>
          </a:prstGeom>
          <a:noFill/>
          <a:ln w="15875">
            <a:solidFill>
              <a:srgbClr val="605E5C"/>
            </a:solidFill>
            <a:prstDash val="dash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3"/>
          <p:cNvSpPr/>
          <p:nvPr/>
        </p:nvSpPr>
        <p:spPr>
          <a:xfrm>
            <a:off x="2286000" y="2697480"/>
            <a:ext cx="292608" cy="292608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4"/>
          <p:cNvSpPr txBox="1"/>
          <p:nvPr/>
        </p:nvSpPr>
        <p:spPr>
          <a:xfrm>
            <a:off x="2286000" y="2697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2331720" y="3520440"/>
            <a:ext cx="292608" cy="292608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6"/>
          <p:cNvSpPr txBox="1"/>
          <p:nvPr/>
        </p:nvSpPr>
        <p:spPr>
          <a:xfrm>
            <a:off x="2331720" y="3520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2286000" y="4617720"/>
            <a:ext cx="292608" cy="292608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18"/>
          <p:cNvSpPr txBox="1"/>
          <p:nvPr/>
        </p:nvSpPr>
        <p:spPr>
          <a:xfrm>
            <a:off x="2286000" y="4617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4434840" y="3886200"/>
            <a:ext cx="292608" cy="292608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0"/>
          <p:cNvSpPr txBox="1"/>
          <p:nvPr/>
        </p:nvSpPr>
        <p:spPr>
          <a:xfrm>
            <a:off x="4434840" y="3886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1"/>
          <p:cNvSpPr txBox="1"/>
          <p:nvPr/>
        </p:nvSpPr>
        <p:spPr>
          <a:xfrm>
            <a:off x="6126480" y="2057400"/>
            <a:ext cx="356616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  Login</a:t>
            </a:r>
            <a:endParaRPr lang="en-US" sz="1300" dirty="0"/>
          </a:p>
          <a:p>
            <a:pPr marL="0" indent="0">
              <a:lnSpc>
                <a:spcPts val="19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ajay sends credentials to Keycloak, never to the API.</a:t>
            </a: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  Tokens</a:t>
            </a:r>
            <a:endParaRPr lang="en-US" sz="1300" dirty="0"/>
          </a:p>
          <a:p>
            <a:pPr marL="0" indent="0">
              <a:lnSpc>
                <a:spcPts val="19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Keycloak verifies him and returns signed tokens.</a:t>
            </a: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  Call the API</a:t>
            </a: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client sends </a:t>
            </a: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Authorization: Bearer &lt;token&gt;</a:t>
            </a: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  Verify</a:t>
            </a:r>
            <a:endParaRPr lang="en-US" sz="1300" dirty="0"/>
          </a:p>
          <a:p>
            <a:pPr marL="0" indent="0">
              <a:lnSpc>
                <a:spcPts val="19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API checks the token signature with Keycloak’s public keys, then decides.</a:t>
            </a:r>
            <a:endParaRPr lang="en-US" sz="1300" dirty="0"/>
          </a:p>
        </p:txBody>
      </p:sp>
      <p:sp>
        <p:nvSpPr>
          <p:cNvPr id="27" name="Text 22"/>
          <p:cNvSpPr txBox="1"/>
          <p:nvPr/>
        </p:nvSpPr>
        <p:spPr>
          <a:xfrm>
            <a:off x="374904" y="6199632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this post we stop at step 2 and inspect the token. The API side is built in </a:t>
            </a: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 03</a:t>
            </a: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74904" y="475488"/>
            <a:ext cx="930859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Where everything lives in the Admin Console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374904" y="1234440"/>
            <a:ext cx="930859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http://localhost:8080/admin</a:t>
            </a: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and switch from the master realm to your own realm first. Every concept below lives inside that realm.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374904" y="6199632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Highlighted items are the ones used in this post. The </a:t>
            </a: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Current realm </a:t>
            </a: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(top-left) decides which realm you are editing.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6126480" y="2057400"/>
            <a:ext cx="35661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Realm</a:t>
            </a:r>
            <a:endParaRPr lang="en-US" sz="12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Realm dropdown → </a:t>
            </a:r>
            <a:r>
              <a:rPr lang="en-US" sz="1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realm</a:t>
            </a: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; settings in </a:t>
            </a:r>
            <a:r>
              <a:rPr lang="en-US" sz="1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Realm settings</a:t>
            </a:r>
            <a:endParaRPr lang="en-US" sz="12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Client</a:t>
            </a:r>
            <a:endParaRPr lang="en-US" sz="1200" dirty="0"/>
          </a:p>
          <a:p>
            <a:pPr marL="0" indent="0">
              <a:lnSpc>
                <a:spcPts val="190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Clients</a:t>
            </a:r>
            <a:endParaRPr lang="en-US" sz="12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User</a:t>
            </a:r>
            <a:endParaRPr lang="en-US" sz="12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Users</a:t>
            </a: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(password in the Credentials tab)</a:t>
            </a:r>
            <a:endParaRPr lang="en-US" sz="12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Role</a:t>
            </a:r>
            <a:endParaRPr lang="en-US" sz="12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Realm roles</a:t>
            </a: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(client roles: Clients › Roles)</a:t>
            </a:r>
            <a:endParaRPr lang="en-US" sz="12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Group</a:t>
            </a:r>
            <a:endParaRPr lang="en-US" sz="1200" dirty="0"/>
          </a:p>
          <a:p>
            <a:pPr marL="0" indent="0">
              <a:lnSpc>
                <a:spcPts val="190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Groups</a:t>
            </a:r>
            <a:endParaRPr lang="en-US" sz="12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Authentication</a:t>
            </a:r>
            <a:endParaRPr lang="en-US" sz="12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Authentication</a:t>
            </a: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(login flows)</a:t>
            </a:r>
            <a:endParaRPr lang="en-US" sz="12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Token preview</a:t>
            </a:r>
            <a:endParaRPr lang="en-US" sz="1200" dirty="0"/>
          </a:p>
          <a:p>
            <a:pPr marL="0" indent="0">
              <a:lnSpc>
                <a:spcPts val="190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Clients › bank-app › Client scopes › Evaluate</a:t>
            </a:r>
            <a:endParaRPr lang="en-US" sz="120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1F12ABF2-9266-09F7-DD52-A437D0FDEE9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8759"/>
          <a:stretch>
            <a:fillRect/>
          </a:stretch>
        </p:blipFill>
        <p:spPr>
          <a:xfrm>
            <a:off x="365761" y="2057399"/>
            <a:ext cx="5558384" cy="379865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74904" y="475488"/>
            <a:ext cx="930859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Realm — the isolated identity space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374904" y="1234440"/>
            <a:ext cx="930859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realm owns its own users, clients, roles, groups and login settings. Nothing is shared between realms.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374904" y="6199632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the </a:t>
            </a: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</a:t>
            </a: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realms </a:t>
            </a: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choose </a:t>
            </a: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realm</a:t>
            </a: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enter </a:t>
            </a: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bank-demo</a:t>
            </a: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and click </a:t>
            </a: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</a:t>
            </a: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126480" y="2057400"/>
            <a:ext cx="356616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Why it exists</a:t>
            </a:r>
            <a:endParaRPr lang="en-US" sz="1300" dirty="0"/>
          </a:p>
          <a:p>
            <a:pPr marL="0" indent="0">
              <a:lnSpc>
                <a:spcPts val="19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Separates tenants or environments. The built-in master realm is only for administering Keycloak.</a:t>
            </a: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Working example</a:t>
            </a: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Realm </a:t>
            </a:r>
            <a:r>
              <a:rPr lang="en-US" sz="13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bank-demo</a:t>
            </a: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holds everything for our banking services.</a:t>
            </a: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Expected result</a:t>
            </a: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Token issuer becomes </a:t>
            </a: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localhost:8080/realms/bank-demo</a:t>
            </a: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Takeaway</a:t>
            </a:r>
            <a:endParaRPr lang="en-US" sz="1300" dirty="0"/>
          </a:p>
          <a:p>
            <a:pPr marL="0" indent="0">
              <a:lnSpc>
                <a:spcPts val="19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Never create application users in master.</a:t>
            </a:r>
            <a:endParaRPr lang="en-US" sz="13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16840B0-3206-5CBC-62CC-CCD712ABB75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72"/>
          <a:stretch>
            <a:fillRect/>
          </a:stretch>
        </p:blipFill>
        <p:spPr>
          <a:xfrm>
            <a:off x="447472" y="1755648"/>
            <a:ext cx="5466945" cy="398896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74904" y="475488"/>
            <a:ext cx="930859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7. Client — an application Keycloak knows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374904" y="1234440"/>
            <a:ext cx="930859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client is an application or service that asks Keycloak to log users in or to issue tokens.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57784" y="20574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client  ·  Capability config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715768" y="3913632"/>
            <a:ext cx="182880" cy="1828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 txBox="1"/>
          <p:nvPr/>
        </p:nvSpPr>
        <p:spPr>
          <a:xfrm>
            <a:off x="374904" y="6199632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Clients → Create client</a:t>
            </a: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Step 1 sets the </a:t>
            </a: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 ID</a:t>
            </a: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; step 2 turns on </a:t>
            </a: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 authentication</a:t>
            </a: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and the flows.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126480" y="2057400"/>
            <a:ext cx="356616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Why it exists</a:t>
            </a:r>
            <a:endParaRPr lang="en-US" sz="1300" dirty="0"/>
          </a:p>
          <a:p>
            <a:pPr marL="0" indent="0">
              <a:lnSpc>
                <a:spcPts val="19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Keycloak only issues tokens to registered apps — each has its own ID, secret and allowed flows.</a:t>
            </a: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Working example</a:t>
            </a: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bank-app</a:t>
            </a: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OpenID Connect, confidential, Direct access grants on so we can test with curl.</a:t>
            </a: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Expected result</a:t>
            </a: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client secret appears under </a:t>
            </a:r>
            <a:r>
              <a:rPr lang="en-US" sz="13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bank-app › Credentials</a:t>
            </a: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Takeaway</a:t>
            </a:r>
            <a:endParaRPr lang="en-US" sz="1300" dirty="0"/>
          </a:p>
          <a:p>
            <a:pPr marL="0" indent="0">
              <a:lnSpc>
                <a:spcPts val="19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Realm = the space. Client = one app inside it.</a:t>
            </a:r>
            <a:endParaRPr lang="en-US" sz="13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DD9C70FF-17DF-6733-5472-149CFB090D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979091"/>
            <a:ext cx="5221224" cy="175586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162F3EB3-717F-521F-7405-6682983E15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1" y="3813268"/>
            <a:ext cx="5221224" cy="211087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74904" y="475488"/>
            <a:ext cx="930859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8. User — an identity that can log in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374904" y="1234440"/>
            <a:ext cx="930859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user is a person or account in the realm: a username, profile attributes and credentials Keycloak verifies.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57784" y="20574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user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468880" y="3474720"/>
            <a:ext cx="182880" cy="1828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 txBox="1"/>
          <p:nvPr/>
        </p:nvSpPr>
        <p:spPr>
          <a:xfrm>
            <a:off x="374904" y="6199632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Users → Add user</a:t>
            </a: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enter </a:t>
            </a: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ajay </a:t>
            </a: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fill in details and </a:t>
            </a: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click Create</a:t>
            </a: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then </a:t>
            </a: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Credentials tab→ Click Set password</a:t>
            </a: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with Temporary off </a:t>
            </a: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save password</a:t>
            </a: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</a:p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Repeat for </a:t>
            </a: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akash</a:t>
            </a: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126480" y="2057400"/>
            <a:ext cx="356616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Why it exists</a:t>
            </a:r>
            <a:endParaRPr lang="en-US" sz="1300" dirty="0"/>
          </a:p>
          <a:p>
            <a:pPr marL="0" indent="0">
              <a:lnSpc>
                <a:spcPts val="19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Keycloak stores and checks passwords, so the banking services never handle them.</a:t>
            </a: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Working example</a:t>
            </a: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ajay</a:t>
            </a: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and </a:t>
            </a:r>
            <a:r>
              <a:rPr lang="en-US" sz="13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akash</a:t>
            </a: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each with a non-temporary password.</a:t>
            </a: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Expected result</a:t>
            </a:r>
            <a:endParaRPr lang="en-US" sz="1300" dirty="0"/>
          </a:p>
          <a:p>
            <a:pPr marL="0" indent="0">
              <a:lnSpc>
                <a:spcPts val="19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Both users can log in. Neither has any banking permission yet.</a:t>
            </a: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Takeaway</a:t>
            </a:r>
            <a:endParaRPr lang="en-US" sz="1300" dirty="0"/>
          </a:p>
          <a:p>
            <a:pPr marL="0" indent="0">
              <a:lnSpc>
                <a:spcPts val="19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user proves identity, not permission.</a:t>
            </a:r>
            <a:endParaRPr lang="en-US" sz="13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D7F3DD5E-DC1E-F393-5B0D-BE2D8883F9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1" y="1828194"/>
            <a:ext cx="5404104" cy="398894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74904" y="475488"/>
            <a:ext cx="930859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9. Role — a named permission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374904" y="1234440"/>
            <a:ext cx="930859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role is a permission label such as customer. Keycloak puts a user’s roles into the access token.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374904" y="6199632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Realm roles → Create role</a:t>
            </a: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name it </a:t>
            </a: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</a:t>
            </a: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The </a:t>
            </a: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default-roles-bank-demo</a:t>
            </a: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composite is given to every user.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126480" y="2057400"/>
            <a:ext cx="356616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Why it exists</a:t>
            </a:r>
            <a:endParaRPr lang="en-US" sz="1300" dirty="0"/>
          </a:p>
          <a:p>
            <a:pPr marL="0" indent="0">
              <a:lnSpc>
                <a:spcPts val="19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Apps check roles instead of hard-coding usernames.</a:t>
            </a: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Working example</a:t>
            </a: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Realm role </a:t>
            </a:r>
            <a:r>
              <a:rPr lang="en-US" sz="13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</a:t>
            </a: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may view own accounts.</a:t>
            </a: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Expected result</a:t>
            </a:r>
            <a:endParaRPr lang="en-US" sz="1300" dirty="0"/>
          </a:p>
          <a:p>
            <a:pPr marL="0" indent="0">
              <a:lnSpc>
                <a:spcPts val="19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role exists but nobody has it yet. ajay gets it through a group on the next slide.</a:t>
            </a: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Takeaway</a:t>
            </a:r>
            <a:endParaRPr lang="en-US" sz="1300" dirty="0"/>
          </a:p>
          <a:p>
            <a:pPr marL="0" indent="0">
              <a:lnSpc>
                <a:spcPts val="19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Realm roles are shared by all clients. Client roles belong to one app — covered in a later topic.</a:t>
            </a:r>
            <a:endParaRPr lang="en-US" sz="13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A2619B6A-C320-BC29-8CA5-D548B2391B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938528"/>
            <a:ext cx="5529202" cy="307604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74904" y="475488"/>
            <a:ext cx="930859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10. Group — hand out roles in bulk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374904" y="1234440"/>
            <a:ext cx="930859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group is a set of users who share the same roles and attributes.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374904" y="6199632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Groups → Create group</a:t>
            </a: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then </a:t>
            </a: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 mapping → Assign role → customer</a:t>
            </a: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</a:t>
            </a:r>
          </a:p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ajay via </a:t>
            </a: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Users › ajay › Groups → Join Group</a:t>
            </a: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126480" y="2057400"/>
            <a:ext cx="356616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Why it exists</a:t>
            </a:r>
            <a:endParaRPr lang="en-US" sz="1300" dirty="0"/>
          </a:p>
          <a:p>
            <a:pPr marL="0" indent="0">
              <a:lnSpc>
                <a:spcPts val="19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Assign roles once to the group instead of user by user.</a:t>
            </a: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Working example</a:t>
            </a: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retail-customers</a:t>
            </a: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→ role customer. ajay joins; akash does not.</a:t>
            </a: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Expected result</a:t>
            </a: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Ajay’s effective roles include </a:t>
            </a:r>
            <a:r>
              <a:rPr lang="en-US" sz="13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</a:t>
            </a: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; akash do not.</a:t>
            </a: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Takeaway</a:t>
            </a:r>
            <a:endParaRPr lang="en-US" sz="1300" dirty="0"/>
          </a:p>
          <a:p>
            <a:pPr marL="0" indent="0">
              <a:lnSpc>
                <a:spcPts val="19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Roles grant permission; groups are how you assign them at scale.</a:t>
            </a:r>
            <a:endParaRPr lang="en-US" sz="13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156B7DA0-CA24-521E-FDD3-3A3367E726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" y="1755648"/>
            <a:ext cx="5394960" cy="172989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1495EB81-F53B-7FF0-6F0D-97DA2128E1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3613675"/>
            <a:ext cx="5404104" cy="245782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74904" y="475488"/>
            <a:ext cx="930859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11. Client authentication — the client secret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374904" y="1234440"/>
            <a:ext cx="930859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cs typeface="Segoe UI" pitchFamily="34" charset="-120"/>
              </a:rPr>
              <a:t>Refer below screenshot to get </a:t>
            </a: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cs typeface="Segoe UI" pitchFamily="34" charset="-120"/>
              </a:rPr>
              <a:t>client_secret</a:t>
            </a:r>
            <a:r>
              <a:rPr lang="en-US" sz="1400" dirty="0">
                <a:solidFill>
                  <a:srgbClr val="000000"/>
                </a:solidFill>
                <a:latin typeface="Segoe UI" pitchFamily="34" charset="0"/>
                <a:cs typeface="Segoe UI" pitchFamily="34" charset="-120"/>
              </a:rPr>
              <a:t> for the client </a:t>
            </a: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cs typeface="Segoe UI" pitchFamily="34" charset="-120"/>
              </a:rPr>
              <a:t>bank-app </a:t>
            </a:r>
            <a:endParaRPr lang="en-US" sz="1400" b="1" dirty="0"/>
          </a:p>
        </p:txBody>
      </p:sp>
      <p:sp>
        <p:nvSpPr>
          <p:cNvPr id="10" name="Text 8"/>
          <p:cNvSpPr txBox="1"/>
          <p:nvPr/>
        </p:nvSpPr>
        <p:spPr>
          <a:xfrm>
            <a:off x="6126480" y="2660515"/>
            <a:ext cx="35661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is client_secret used for</a:t>
            </a:r>
            <a:endParaRPr lang="en-US" sz="1300" dirty="0"/>
          </a:p>
          <a:p>
            <a:pPr marL="0" indent="0">
              <a:lnSpc>
                <a:spcPts val="19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is used to authenticate the client(app) for which token is being issued.</a:t>
            </a: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Wrong client_secret</a:t>
            </a:r>
            <a:endParaRPr lang="en-US" sz="1300" dirty="0"/>
          </a:p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000000"/>
                </a:solidFill>
                <a:latin typeface="Segoe UI" pitchFamily="34" charset="0"/>
                <a:cs typeface="Segoe UI" pitchFamily="34" charset="-120"/>
              </a:rPr>
              <a:t>If client_secret is incorrect then we get HTTP 401 with </a:t>
            </a:r>
            <a:r>
              <a:rPr lang="en-IN" sz="1300" dirty="0">
                <a:solidFill>
                  <a:srgbClr val="000000"/>
                </a:solidFill>
                <a:latin typeface="Segoe UI" pitchFamily="34" charset="0"/>
                <a:cs typeface="Segoe UI" pitchFamily="34" charset="-120"/>
              </a:rPr>
              <a:t>unauthorized_client </a:t>
            </a:r>
            <a:r>
              <a:rPr lang="en-US" sz="1300" dirty="0">
                <a:solidFill>
                  <a:srgbClr val="000000"/>
                </a:solidFill>
                <a:latin typeface="Segoe UI" pitchFamily="34" charset="0"/>
                <a:cs typeface="Segoe UI" pitchFamily="34" charset="-120"/>
              </a:rPr>
              <a:t>— no token is issued.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F43E348-52CE-BEE7-3D21-3AACDA9AC0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71931"/>
            <a:ext cx="5324921" cy="387711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1F062-57FF-B282-9E22-FA1F208EB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291A552-07AD-77EA-7F2F-14206FC042CC}"/>
              </a:ext>
            </a:extLst>
          </p:cNvPr>
          <p:cNvSpPr txBox="1"/>
          <p:nvPr/>
        </p:nvSpPr>
        <p:spPr>
          <a:xfrm>
            <a:off x="374904" y="475488"/>
            <a:ext cx="930859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12. Authentication — prove who you are</a:t>
            </a:r>
            <a:endParaRPr lang="en-US" sz="2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124CB7F-5AE9-0064-5B18-960F55C56DEF}"/>
              </a:ext>
            </a:extLst>
          </p:cNvPr>
          <p:cNvSpPr txBox="1"/>
          <p:nvPr/>
        </p:nvSpPr>
        <p:spPr>
          <a:xfrm>
            <a:off x="374904" y="1234440"/>
            <a:ext cx="930859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Authentication answers “who are you?”. Here ajay proves his identity to Keycloak and receives tokens from the realm’s token endpoint.</a:t>
            </a:r>
            <a:endParaRPr lang="en-US" sz="1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341C5FF-CFEB-6177-253A-C60CB6D74602}"/>
              </a:ext>
            </a:extLst>
          </p:cNvPr>
          <p:cNvSpPr/>
          <p:nvPr/>
        </p:nvSpPr>
        <p:spPr>
          <a:xfrm>
            <a:off x="374904" y="2057400"/>
            <a:ext cx="5577840" cy="2057400"/>
          </a:xfrm>
          <a:prstGeom prst="roundRect">
            <a:avLst>
              <a:gd name="adj" fmla="val 3556"/>
            </a:avLst>
          </a:prstGeom>
          <a:solidFill>
            <a:srgbClr val="F3F3F3"/>
          </a:solidFill>
          <a:ln/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AF6557D-991F-10EF-4736-BCA48CED366F}"/>
              </a:ext>
            </a:extLst>
          </p:cNvPr>
          <p:cNvSpPr txBox="1"/>
          <p:nvPr/>
        </p:nvSpPr>
        <p:spPr>
          <a:xfrm>
            <a:off x="603504" y="222199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00">
                <a:solidFill>
                  <a:srgbClr val="0078D4"/>
                </a:solidFill>
                <a:latin typeface="Segoe UI Semibold"/>
              </a:rPr>
              <a:t>Request (bash / Git Bash — in PowerShell use curl.exe)</a:t>
            </a:r>
            <a:endParaRPr lang="en-US" sz="11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63DA1A3-2D0E-3799-3B46-50116088CD54}"/>
              </a:ext>
            </a:extLst>
          </p:cNvPr>
          <p:cNvSpPr txBox="1"/>
          <p:nvPr/>
        </p:nvSpPr>
        <p:spPr>
          <a:xfrm>
            <a:off x="603504" y="2532888"/>
            <a:ext cx="525780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900">
                <a:solidFill>
                  <a:srgbClr val="000000"/>
                </a:solidFill>
                <a:latin typeface="Consolas"/>
              </a:rPr>
              <a:t>curl --location \</a:t>
            </a:r>
            <a:endParaRPr lang="en-US" sz="1100" dirty="0"/>
          </a:p>
          <a:p>
            <a:r>
              <a:rPr sz="900">
                <a:solidFill>
                  <a:srgbClr val="A31515"/>
                </a:solidFill>
                <a:latin typeface="Consolas"/>
              </a:rPr>
              <a:t>  'http://localhost:8080/realms/bank-demo/protocol/openid-connect/token'</a:t>
            </a:r>
            <a:r>
              <a:rPr sz="900">
                <a:solidFill>
                  <a:srgbClr val="000000"/>
                </a:solidFill>
                <a:latin typeface="Consolas"/>
              </a:rPr>
              <a:t> \</a:t>
            </a:r>
          </a:p>
          <a:p>
            <a:r>
              <a:rPr sz="900">
                <a:solidFill>
                  <a:srgbClr val="000000"/>
                </a:solidFill>
                <a:latin typeface="Consolas"/>
              </a:rPr>
              <a:t>  --header </a:t>
            </a:r>
            <a:r>
              <a:rPr sz="900">
                <a:solidFill>
                  <a:srgbClr val="A31515"/>
                </a:solidFill>
                <a:latin typeface="Consolas"/>
              </a:rPr>
              <a:t>'Content-Type: application/x-www-form-urlencoded'</a:t>
            </a:r>
            <a:r>
              <a:rPr sz="900">
                <a:solidFill>
                  <a:srgbClr val="000000"/>
                </a:solidFill>
                <a:latin typeface="Consolas"/>
              </a:rPr>
              <a:t> \</a:t>
            </a:r>
          </a:p>
          <a:p>
            <a:r>
              <a:rPr sz="900">
                <a:solidFill>
                  <a:srgbClr val="000000"/>
                </a:solidFill>
                <a:latin typeface="Consolas"/>
              </a:rPr>
              <a:t>  --data-urlencode </a:t>
            </a:r>
            <a:r>
              <a:rPr sz="900">
                <a:solidFill>
                  <a:srgbClr val="A31515"/>
                </a:solidFill>
                <a:latin typeface="Consolas"/>
              </a:rPr>
              <a:t>'client_id=bank-app'</a:t>
            </a:r>
            <a:r>
              <a:rPr sz="900">
                <a:solidFill>
                  <a:srgbClr val="000000"/>
                </a:solidFill>
                <a:latin typeface="Consolas"/>
              </a:rPr>
              <a:t> \</a:t>
            </a:r>
          </a:p>
          <a:p>
            <a:r>
              <a:rPr sz="900">
                <a:solidFill>
                  <a:srgbClr val="000000"/>
                </a:solidFill>
                <a:latin typeface="Consolas"/>
              </a:rPr>
              <a:t>  --data-urlencode </a:t>
            </a:r>
            <a:r>
              <a:rPr sz="900">
                <a:solidFill>
                  <a:srgbClr val="A31515"/>
                </a:solidFill>
                <a:latin typeface="Consolas"/>
              </a:rPr>
              <a:t>'grant_type=password'</a:t>
            </a:r>
            <a:r>
              <a:rPr sz="900">
                <a:solidFill>
                  <a:srgbClr val="000000"/>
                </a:solidFill>
                <a:latin typeface="Consolas"/>
              </a:rPr>
              <a:t> \</a:t>
            </a:r>
          </a:p>
          <a:p>
            <a:r>
              <a:rPr sz="900">
                <a:solidFill>
                  <a:srgbClr val="000000"/>
                </a:solidFill>
                <a:latin typeface="Consolas"/>
              </a:rPr>
              <a:t>  --data-urlencode </a:t>
            </a:r>
            <a:r>
              <a:rPr sz="900">
                <a:solidFill>
                  <a:srgbClr val="A31515"/>
                </a:solidFill>
                <a:latin typeface="Consolas"/>
              </a:rPr>
              <a:t>'username=ajay'</a:t>
            </a:r>
            <a:r>
              <a:rPr sz="900">
                <a:solidFill>
                  <a:srgbClr val="000000"/>
                </a:solidFill>
                <a:latin typeface="Consolas"/>
              </a:rPr>
              <a:t> \</a:t>
            </a:r>
          </a:p>
          <a:p>
            <a:r>
              <a:rPr sz="900">
                <a:solidFill>
                  <a:srgbClr val="000000"/>
                </a:solidFill>
                <a:latin typeface="Consolas"/>
              </a:rPr>
              <a:t>  --data-urlencode </a:t>
            </a:r>
            <a:r>
              <a:rPr sz="900">
                <a:solidFill>
                  <a:srgbClr val="A31515"/>
                </a:solidFill>
                <a:latin typeface="Consolas"/>
              </a:rPr>
              <a:t>'password=&lt;ajay-password&gt;'</a:t>
            </a:r>
            <a:r>
              <a:rPr sz="900">
                <a:solidFill>
                  <a:srgbClr val="000000"/>
                </a:solidFill>
                <a:latin typeface="Consolas"/>
              </a:rPr>
              <a:t> \</a:t>
            </a:r>
          </a:p>
          <a:p>
            <a:r>
              <a:rPr sz="900">
                <a:solidFill>
                  <a:srgbClr val="000000"/>
                </a:solidFill>
                <a:latin typeface="Consolas"/>
              </a:rPr>
              <a:t>  --data-urlencode </a:t>
            </a:r>
            <a:r>
              <a:rPr sz="900">
                <a:solidFill>
                  <a:srgbClr val="A31515"/>
                </a:solidFill>
                <a:latin typeface="Consolas"/>
              </a:rPr>
              <a:t>'client_secret=&lt;client-secret&gt;'</a:t>
            </a:r>
            <a:r>
              <a:rPr sz="900">
                <a:solidFill>
                  <a:srgbClr val="000000"/>
                </a:solidFill>
                <a:latin typeface="Consolas"/>
              </a:rPr>
              <a:t> \</a:t>
            </a:r>
          </a:p>
          <a:p>
            <a:r>
              <a:rPr sz="900">
                <a:solidFill>
                  <a:srgbClr val="000000"/>
                </a:solidFill>
                <a:latin typeface="Consolas"/>
              </a:rPr>
              <a:t>  --data-urlencode </a:t>
            </a:r>
            <a:r>
              <a:rPr sz="900">
                <a:solidFill>
                  <a:srgbClr val="0078D4"/>
                </a:solidFill>
                <a:latin typeface="Consolas"/>
              </a:rPr>
              <a:t>'scope=openid'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534CAF66-9438-8F3B-F2E9-06B388C73F83}"/>
              </a:ext>
            </a:extLst>
          </p:cNvPr>
          <p:cNvSpPr/>
          <p:nvPr/>
        </p:nvSpPr>
        <p:spPr>
          <a:xfrm>
            <a:off x="374904" y="4315968"/>
            <a:ext cx="5577840" cy="2148840"/>
          </a:xfrm>
          <a:prstGeom prst="roundRect">
            <a:avLst>
              <a:gd name="adj" fmla="val 3404"/>
            </a:avLst>
          </a:prstGeom>
          <a:solidFill>
            <a:srgbClr val="F3F3F3"/>
          </a:solidFill>
          <a:ln/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16C5A73-46DD-0768-DD1E-6354F9A69F1F}"/>
              </a:ext>
            </a:extLst>
          </p:cNvPr>
          <p:cNvSpPr txBox="1"/>
          <p:nvPr/>
        </p:nvSpPr>
        <p:spPr>
          <a:xfrm>
            <a:off x="603504" y="448056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00">
                <a:solidFill>
                  <a:srgbClr val="0078D4"/>
                </a:solidFill>
                <a:latin typeface="Segoe UI Semibold"/>
              </a:rPr>
              <a:t>Your real response (tokens truncated) — id_token: see slide 15</a:t>
            </a:r>
            <a:endParaRPr lang="en-US" sz="11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DF9F8176-4A3F-601C-BAD4-51D3B2CEBF1D}"/>
              </a:ext>
            </a:extLst>
          </p:cNvPr>
          <p:cNvSpPr txBox="1"/>
          <p:nvPr/>
        </p:nvSpPr>
        <p:spPr>
          <a:xfrm>
            <a:off x="603504" y="4791456"/>
            <a:ext cx="5120640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000">
                <a:solidFill>
                  <a:srgbClr val="000000"/>
                </a:solidFill>
                <a:latin typeface="Consolas"/>
              </a:rPr>
              <a:t>{</a:t>
            </a:r>
            <a:endParaRPr lang="en-US" sz="1100" dirty="0"/>
          </a:p>
          <a:p>
            <a:r>
              <a:rPr sz="1000">
                <a:solidFill>
                  <a:srgbClr val="A31515"/>
                </a:solidFill>
                <a:latin typeface="Consolas"/>
              </a:rPr>
              <a:t>  "access_token"</a:t>
            </a:r>
            <a:r>
              <a:rPr sz="1000">
                <a:solidFill>
                  <a:srgbClr val="000000"/>
                </a:solidFill>
                <a:latin typeface="Consolas"/>
              </a:rPr>
              <a:t>: "eyJhbGciOiJSUzI1NiIs…",</a:t>
            </a:r>
          </a:p>
          <a:p>
            <a:r>
              <a:rPr sz="1000">
                <a:solidFill>
                  <a:srgbClr val="A31515"/>
                </a:solidFill>
                <a:latin typeface="Consolas"/>
              </a:rPr>
              <a:t>  "expires_in"</a:t>
            </a:r>
            <a:r>
              <a:rPr sz="1000">
                <a:solidFill>
                  <a:srgbClr val="000000"/>
                </a:solidFill>
                <a:latin typeface="Consolas"/>
              </a:rPr>
              <a:t>: 300,          </a:t>
            </a:r>
            <a:r>
              <a:rPr sz="1000">
                <a:solidFill>
                  <a:srgbClr val="6A737D"/>
                </a:solidFill>
                <a:latin typeface="Consolas"/>
              </a:rPr>
              <a:t>// default 5 min</a:t>
            </a:r>
          </a:p>
          <a:p>
            <a:r>
              <a:rPr sz="1000">
                <a:solidFill>
                  <a:srgbClr val="A31515"/>
                </a:solidFill>
                <a:latin typeface="Consolas"/>
              </a:rPr>
              <a:t>  "refresh_expires_in"</a:t>
            </a:r>
            <a:r>
              <a:rPr sz="1000">
                <a:solidFill>
                  <a:srgbClr val="000000"/>
                </a:solidFill>
                <a:latin typeface="Consolas"/>
              </a:rPr>
              <a:t>: 1800,  </a:t>
            </a:r>
            <a:r>
              <a:rPr sz="1000">
                <a:solidFill>
                  <a:srgbClr val="6A737D"/>
                </a:solidFill>
                <a:latin typeface="Consolas"/>
              </a:rPr>
              <a:t>// default 30 min</a:t>
            </a:r>
          </a:p>
          <a:p>
            <a:r>
              <a:rPr sz="1000">
                <a:solidFill>
                  <a:srgbClr val="A31515"/>
                </a:solidFill>
                <a:latin typeface="Consolas"/>
              </a:rPr>
              <a:t>  "refresh_token"</a:t>
            </a:r>
            <a:r>
              <a:rPr sz="1000">
                <a:solidFill>
                  <a:srgbClr val="000000"/>
                </a:solidFill>
                <a:latin typeface="Consolas"/>
              </a:rPr>
              <a:t>: "eyJhbGciOiJIUzUxMiIs…",</a:t>
            </a:r>
          </a:p>
          <a:p>
            <a:r>
              <a:rPr sz="1000">
                <a:solidFill>
                  <a:srgbClr val="A31515"/>
                </a:solidFill>
                <a:latin typeface="Consolas"/>
              </a:rPr>
              <a:t>  "token_type"</a:t>
            </a:r>
            <a:r>
              <a:rPr sz="1000">
                <a:solidFill>
                  <a:srgbClr val="000000"/>
                </a:solidFill>
                <a:latin typeface="Consolas"/>
              </a:rPr>
              <a:t>: "Bearer",</a:t>
            </a:r>
          </a:p>
          <a:p>
            <a:r>
              <a:rPr sz="1000">
                <a:solidFill>
                  <a:srgbClr val="A31515"/>
                </a:solidFill>
                <a:latin typeface="Consolas"/>
              </a:rPr>
              <a:t>  "session_state"</a:t>
            </a:r>
            <a:r>
              <a:rPr sz="1000">
                <a:solidFill>
                  <a:srgbClr val="000000"/>
                </a:solidFill>
                <a:latin typeface="Consolas"/>
              </a:rPr>
              <a:t>: "TKklYjfn…",</a:t>
            </a:r>
          </a:p>
          <a:p>
            <a:r>
              <a:rPr sz="1000">
                <a:solidFill>
                  <a:srgbClr val="A31515"/>
                </a:solidFill>
                <a:latin typeface="Consolas"/>
              </a:rPr>
              <a:t>  "scope"</a:t>
            </a:r>
            <a:r>
              <a:rPr sz="1000">
                <a:solidFill>
                  <a:srgbClr val="000000"/>
                </a:solidFill>
                <a:latin typeface="Consolas"/>
              </a:rPr>
              <a:t>: "email profile"</a:t>
            </a:r>
          </a:p>
          <a:p>
            <a:r>
              <a:rPr sz="100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F072971-710C-8B2F-22BC-B40BF6F3C6FE}"/>
              </a:ext>
            </a:extLst>
          </p:cNvPr>
          <p:cNvSpPr txBox="1"/>
          <p:nvPr/>
        </p:nvSpPr>
        <p:spPr>
          <a:xfrm>
            <a:off x="6126480" y="2057400"/>
            <a:ext cx="35661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sz="1300">
                <a:solidFill>
                  <a:srgbClr val="0078D4"/>
                </a:solidFill>
                <a:latin typeface="Segoe UI Semibold"/>
              </a:rPr>
              <a:t>What Keycloak does</a:t>
            </a:r>
            <a:endParaRPr lang="en-US" sz="1300" dirty="0"/>
          </a:p>
          <a:p>
            <a:pPr>
              <a:lnSpc>
                <a:spcPts val="1900"/>
              </a:lnSpc>
              <a:spcAft>
                <a:spcPts val="900"/>
              </a:spcAft>
            </a:pPr>
            <a:r>
              <a:rPr sz="1300">
                <a:solidFill>
                  <a:srgbClr val="000000"/>
                </a:solidFill>
                <a:latin typeface="Segoe UI"/>
              </a:rPr>
              <a:t>Finds ajay in bank-demo, checks the client secret and his password, then issues tokens.</a:t>
            </a:r>
          </a:p>
          <a:p>
            <a:pPr>
              <a:lnSpc>
                <a:spcPts val="1900"/>
              </a:lnSpc>
            </a:pPr>
            <a:r>
              <a:rPr sz="1300">
                <a:solidFill>
                  <a:srgbClr val="0078D4"/>
                </a:solidFill>
                <a:latin typeface="Segoe UI Semibold"/>
              </a:rPr>
              <a:t>Wrong password</a:t>
            </a:r>
          </a:p>
          <a:p>
            <a:pPr>
              <a:lnSpc>
                <a:spcPts val="1900"/>
              </a:lnSpc>
              <a:spcAft>
                <a:spcPts val="900"/>
              </a:spcAft>
            </a:pPr>
            <a:r>
              <a:rPr sz="1300">
                <a:solidFill>
                  <a:srgbClr val="000000"/>
                </a:solidFill>
                <a:latin typeface="Segoe UI"/>
              </a:rPr>
              <a:t>HTTP 401 with </a:t>
            </a:r>
            <a:r>
              <a:rPr sz="1200">
                <a:solidFill>
                  <a:srgbClr val="000000"/>
                </a:solidFill>
                <a:latin typeface="Consolas"/>
              </a:rPr>
              <a:t>invalid_grant</a:t>
            </a:r>
            <a:r>
              <a:rPr sz="1300">
                <a:solidFill>
                  <a:srgbClr val="000000"/>
                </a:solidFill>
                <a:latin typeface="Segoe UI"/>
              </a:rPr>
              <a:t> — no token is issued.</a:t>
            </a:r>
          </a:p>
          <a:p>
            <a:pPr>
              <a:lnSpc>
                <a:spcPts val="1900"/>
              </a:lnSpc>
            </a:pPr>
            <a:r>
              <a:rPr sz="1300">
                <a:solidFill>
                  <a:srgbClr val="0078D4"/>
                </a:solidFill>
                <a:latin typeface="Segoe UI Semibold"/>
              </a:rPr>
              <a:t>“Account is not fully set up”</a:t>
            </a:r>
          </a:p>
          <a:p>
            <a:pPr>
              <a:lnSpc>
                <a:spcPts val="1900"/>
              </a:lnSpc>
              <a:spcAft>
                <a:spcPts val="900"/>
              </a:spcAft>
            </a:pPr>
            <a:r>
              <a:rPr sz="1300">
                <a:solidFill>
                  <a:srgbClr val="000000"/>
                </a:solidFill>
                <a:latin typeface="Segoe UI"/>
              </a:rPr>
              <a:t>Also </a:t>
            </a:r>
            <a:r>
              <a:rPr sz="1200">
                <a:solidFill>
                  <a:srgbClr val="000000"/>
                </a:solidFill>
                <a:latin typeface="Consolas"/>
              </a:rPr>
              <a:t>invalid_grant</a:t>
            </a:r>
            <a:r>
              <a:rPr sz="1300">
                <a:solidFill>
                  <a:srgbClr val="000000"/>
                </a:solidFill>
                <a:latin typeface="Segoe UI"/>
              </a:rPr>
              <a:t>: the user still has a required action or missing profile fields (email, first/last name). Complete them or clear Required user actions in Users › ajay.</a:t>
            </a: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90E6E387-8F99-CACB-C982-CF7C2E0EC4F9}"/>
              </a:ext>
            </a:extLst>
          </p:cNvPr>
          <p:cNvSpPr txBox="1"/>
          <p:nvPr/>
        </p:nvSpPr>
        <p:spPr>
          <a:xfrm>
            <a:off x="374904" y="658368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it for ajay, then for akash — both succeed. Authentication does not look at roles.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4656010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74904" y="475488"/>
            <a:ext cx="930859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13. Authorization — decide what you may do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374904" y="1234440"/>
            <a:ext cx="930859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Authorization answers “what may you do?”. Keycloak puts ajay’s roles in his access token; the API reads them and decides.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74904" y="2067128"/>
            <a:ext cx="4754880" cy="2971800"/>
          </a:xfrm>
          <a:prstGeom prst="roundRect">
            <a:avLst>
              <a:gd name="adj" fmla="val 2462"/>
            </a:avLst>
          </a:prstGeom>
          <a:solidFill>
            <a:srgbClr val="F3F3F3"/>
          </a:solidFill>
          <a:ln/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603504" y="222199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00">
                <a:solidFill>
                  <a:srgbClr val="0078D4"/>
                </a:solidFill>
                <a:latin typeface="Segoe UI Semibold"/>
              </a:rPr>
              <a:t>ajay’s access token — from your run (excerpt)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03504" y="2532888"/>
            <a:ext cx="4297680" cy="2386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000">
                <a:solidFill>
                  <a:srgbClr val="000000"/>
                </a:solidFill>
                <a:latin typeface="Consolas"/>
              </a:rPr>
              <a:t>{</a:t>
            </a:r>
            <a:endParaRPr lang="en-US" sz="1100" dirty="0"/>
          </a:p>
          <a:p>
            <a:r>
              <a:rPr sz="1000">
                <a:solidFill>
                  <a:srgbClr val="A31515"/>
                </a:solidFill>
                <a:latin typeface="Consolas"/>
              </a:rPr>
              <a:t>  "iss"</a:t>
            </a:r>
            <a:r>
              <a:rPr sz="1000">
                <a:solidFill>
                  <a:srgbClr val="000000"/>
                </a:solidFill>
                <a:latin typeface="Consolas"/>
              </a:rPr>
              <a:t>: "http://localhost:8080/realms/bank-demo",</a:t>
            </a:r>
          </a:p>
          <a:p>
            <a:r>
              <a:rPr sz="1000">
                <a:solidFill>
                  <a:srgbClr val="A31515"/>
                </a:solidFill>
                <a:latin typeface="Consolas"/>
              </a:rPr>
              <a:t>  "aud"</a:t>
            </a:r>
            <a:r>
              <a:rPr sz="1000">
                <a:solidFill>
                  <a:srgbClr val="000000"/>
                </a:solidFill>
                <a:latin typeface="Consolas"/>
              </a:rPr>
              <a:t>: "account",</a:t>
            </a:r>
          </a:p>
          <a:p>
            <a:r>
              <a:rPr sz="1000">
                <a:solidFill>
                  <a:srgbClr val="A31515"/>
                </a:solidFill>
                <a:latin typeface="Consolas"/>
              </a:rPr>
              <a:t>  "azp"</a:t>
            </a:r>
            <a:r>
              <a:rPr sz="1000">
                <a:solidFill>
                  <a:srgbClr val="000000"/>
                </a:solidFill>
                <a:latin typeface="Consolas"/>
              </a:rPr>
              <a:t>: "bank-app",</a:t>
            </a:r>
          </a:p>
          <a:p>
            <a:r>
              <a:rPr sz="1000">
                <a:solidFill>
                  <a:srgbClr val="A31515"/>
                </a:solidFill>
                <a:latin typeface="Consolas"/>
              </a:rPr>
              <a:t>  "preferred_username"</a:t>
            </a:r>
            <a:r>
              <a:rPr sz="1000">
                <a:solidFill>
                  <a:srgbClr val="000000"/>
                </a:solidFill>
                <a:latin typeface="Consolas"/>
              </a:rPr>
              <a:t>: "ajay",</a:t>
            </a:r>
          </a:p>
          <a:p>
            <a:r>
              <a:rPr sz="1000">
                <a:solidFill>
                  <a:srgbClr val="A31515"/>
                </a:solidFill>
                <a:latin typeface="Consolas"/>
              </a:rPr>
              <a:t>  "realm_access"</a:t>
            </a:r>
            <a:r>
              <a:rPr sz="1000">
                <a:solidFill>
                  <a:srgbClr val="000000"/>
                </a:solidFill>
                <a:latin typeface="Consolas"/>
              </a:rPr>
              <a:t>: { </a:t>
            </a:r>
            <a:r>
              <a:rPr sz="1000">
                <a:solidFill>
                  <a:srgbClr val="A31515"/>
                </a:solidFill>
                <a:latin typeface="Consolas"/>
              </a:rPr>
              <a:t>"roles"</a:t>
            </a:r>
            <a:r>
              <a:rPr sz="1000">
                <a:solidFill>
                  <a:srgbClr val="000000"/>
                </a:solidFill>
                <a:latin typeface="Consolas"/>
              </a:rPr>
              <a:t>: [</a:t>
            </a:r>
          </a:p>
          <a:p>
            <a:r>
              <a:rPr sz="1000">
                <a:solidFill>
                  <a:srgbClr val="000000"/>
                </a:solidFill>
                <a:latin typeface="Consolas"/>
              </a:rPr>
              <a:t>      "offline_access", "default-roles-bank-demo",</a:t>
            </a:r>
          </a:p>
          <a:p>
            <a:r>
              <a:rPr sz="1000">
                <a:solidFill>
                  <a:srgbClr val="000000"/>
                </a:solidFill>
                <a:latin typeface="Consolas"/>
              </a:rPr>
              <a:t>      "uma_authorization", </a:t>
            </a:r>
            <a:r>
              <a:rPr sz="1000">
                <a:solidFill>
                  <a:srgbClr val="0078D4"/>
                </a:solidFill>
                <a:latin typeface="Consolas"/>
              </a:rPr>
              <a:t>"customer"</a:t>
            </a:r>
            <a:r>
              <a:rPr sz="1000">
                <a:solidFill>
                  <a:srgbClr val="000000"/>
                </a:solidFill>
                <a:latin typeface="Consolas"/>
              </a:rPr>
              <a:t> ] },</a:t>
            </a:r>
          </a:p>
          <a:p>
            <a:r>
              <a:rPr sz="1000">
                <a:solidFill>
                  <a:srgbClr val="A31515"/>
                </a:solidFill>
                <a:latin typeface="Consolas"/>
              </a:rPr>
              <a:t>  "resource_access"</a:t>
            </a:r>
            <a:r>
              <a:rPr sz="1000">
                <a:solidFill>
                  <a:srgbClr val="000000"/>
                </a:solidFill>
                <a:latin typeface="Consolas"/>
              </a:rPr>
              <a:t>: { "account": { "roles": [</a:t>
            </a:r>
          </a:p>
          <a:p>
            <a:r>
              <a:rPr sz="1000">
                <a:solidFill>
                  <a:srgbClr val="000000"/>
                </a:solidFill>
                <a:latin typeface="Consolas"/>
              </a:rPr>
              <a:t>      "manage-account", "manage-account-links",</a:t>
            </a:r>
          </a:p>
          <a:p>
            <a:r>
              <a:rPr sz="1000">
                <a:solidFill>
                  <a:srgbClr val="000000"/>
                </a:solidFill>
                <a:latin typeface="Consolas"/>
              </a:rPr>
              <a:t>      "view-profile" ] } },</a:t>
            </a:r>
          </a:p>
          <a:p>
            <a:r>
              <a:rPr sz="1000">
                <a:solidFill>
                  <a:srgbClr val="A31515"/>
                </a:solidFill>
                <a:latin typeface="Consolas"/>
              </a:rPr>
              <a:t>  "scope"</a:t>
            </a:r>
            <a:r>
              <a:rPr sz="1000">
                <a:solidFill>
                  <a:srgbClr val="000000"/>
                </a:solidFill>
                <a:latin typeface="Consolas"/>
              </a:rPr>
              <a:t>: "email profile"</a:t>
            </a:r>
          </a:p>
          <a:p>
            <a:r>
              <a:rPr sz="100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9" name="Shape 7"/>
          <p:cNvSpPr/>
          <p:nvPr/>
        </p:nvSpPr>
        <p:spPr>
          <a:xfrm>
            <a:off x="5440680" y="2057400"/>
            <a:ext cx="4242816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E1E1E1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5669280" y="2194560"/>
            <a:ext cx="3785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Rule in the API (built in Post 03)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0" y="2514600"/>
            <a:ext cx="3785616" cy="411480"/>
          </a:xfrm>
          <a:prstGeom prst="roundRect">
            <a:avLst>
              <a:gd name="adj" fmla="val 13333"/>
            </a:avLst>
          </a:prstGeom>
          <a:solidFill>
            <a:srgbClr val="F3F3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5742432" y="2514600"/>
            <a:ext cx="3639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/accounts  requires role  customer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69280" y="3291840"/>
            <a:ext cx="3785616" cy="1097280"/>
          </a:xfrm>
          <a:prstGeom prst="roundRect">
            <a:avLst>
              <a:gd name="adj" fmla="val 5000"/>
            </a:avLst>
          </a:prstGeom>
          <a:solidFill>
            <a:srgbClr val="CFE4F7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4" name="Image 0" descr="icons/user-0078D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3474720"/>
            <a:ext cx="365760" cy="36576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5715000" y="38862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ajay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400800" y="342900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roles include customer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863840" y="3840480"/>
            <a:ext cx="320040" cy="914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pic>
        <p:nvPicPr>
          <p:cNvPr id="18" name="Image 1" descr="icons/check-0078D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3474720"/>
            <a:ext cx="274320" cy="27432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8229600" y="37947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200 OK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5669280" y="4617720"/>
            <a:ext cx="3785616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Image 2" descr="icons/user-605E5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2160" y="4800600"/>
            <a:ext cx="365760" cy="36576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5715000" y="52120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akash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6400800" y="475488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customer role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7863840" y="5166360"/>
            <a:ext cx="320040" cy="914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pic>
        <p:nvPicPr>
          <p:cNvPr id="25" name="Image 3" descr="icons/times-D1343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5320" y="4800600"/>
            <a:ext cx="274320" cy="27432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8229600" y="51206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1343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403 Forbidden</a:t>
            </a:r>
            <a:endParaRPr lang="en-US" sz="1100" dirty="0"/>
          </a:p>
        </p:txBody>
      </p:sp>
      <p:sp>
        <p:nvSpPr>
          <p:cNvPr id="27" name="Text 21"/>
          <p:cNvSpPr txBox="1"/>
          <p:nvPr/>
        </p:nvSpPr>
        <p:spPr>
          <a:xfrm>
            <a:off x="374904" y="626364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Keycloak </a:t>
            </a: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supplies the facts</a:t>
            </a: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(roles in a signed token). The </a:t>
            </a: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makes the decision</a:t>
            </a: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74904" y="475488"/>
            <a:ext cx="930859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14. OAuth 2.0 vs OpenID Connect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374904" y="1234440"/>
            <a:ext cx="930859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They are related but not the same. OAuth 2.0 is about access; OpenID Connect adds identity on top of it.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74904" y="2057400"/>
            <a:ext cx="4398264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1E1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0" descr="icons/key-D2D2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2286000"/>
            <a:ext cx="640080" cy="640080"/>
          </a:xfrm>
          <a:prstGeom prst="rect">
            <a:avLst/>
          </a:prstGeom>
        </p:spPr>
      </p:pic>
      <p:pic>
        <p:nvPicPr>
          <p:cNvPr id="6" name="Image 1" descr="icons/exchange-0078D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272" y="2670048"/>
            <a:ext cx="320040" cy="3200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72184" y="2240280"/>
            <a:ext cx="3118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OAuth 2.0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1472184" y="2651760"/>
            <a:ext cx="3118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Authorization framework  ·  RFC 6749</a:t>
            </a:r>
            <a:endParaRPr lang="en-US" sz="1100" dirty="0"/>
          </a:p>
        </p:txBody>
      </p:sp>
      <p:pic>
        <p:nvPicPr>
          <p:cNvPr id="9" name="Image 2" descr="icons/check-0078D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3410712"/>
            <a:ext cx="182880" cy="18288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014984" y="3337560"/>
            <a:ext cx="3529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Lets a client obtain an access token to call an API</a:t>
            </a:r>
            <a:endParaRPr lang="en-US" sz="1300" dirty="0"/>
          </a:p>
        </p:txBody>
      </p:sp>
      <p:pic>
        <p:nvPicPr>
          <p:cNvPr id="11" name="Image 3" descr="icons/check-0078D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4014216"/>
            <a:ext cx="182880" cy="18288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014984" y="3941064"/>
            <a:ext cx="3529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Scopes say what the client may access</a:t>
            </a:r>
            <a:endParaRPr lang="en-US" sz="1300" dirty="0"/>
          </a:p>
        </p:txBody>
      </p:sp>
      <p:pic>
        <p:nvPicPr>
          <p:cNvPr id="13" name="Image 4" descr="icons/check-0078D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4617720"/>
            <a:ext cx="182880" cy="182880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1014984" y="4544568"/>
            <a:ext cx="3529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Does not define who the user is</a:t>
            </a:r>
            <a:endParaRPr lang="en-US" sz="1300" dirty="0"/>
          </a:p>
        </p:txBody>
      </p:sp>
      <p:pic>
        <p:nvPicPr>
          <p:cNvPr id="15" name="Image 5" descr="icons/check-0078D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5221224"/>
            <a:ext cx="182880" cy="182880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1014984" y="5148072"/>
            <a:ext cx="3529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our example: access_token from /token</a:t>
            </a:r>
            <a:endParaRPr lang="en-US" sz="1300" dirty="0"/>
          </a:p>
        </p:txBody>
      </p:sp>
      <p:sp>
        <p:nvSpPr>
          <p:cNvPr id="17" name="Shape 9"/>
          <p:cNvSpPr/>
          <p:nvPr/>
        </p:nvSpPr>
        <p:spPr>
          <a:xfrm>
            <a:off x="5440680" y="2057400"/>
            <a:ext cx="4242816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1E1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8" name="Image 6" descr="icons/id-D2D2D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0" y="2286000"/>
            <a:ext cx="640080" cy="640080"/>
          </a:xfrm>
          <a:prstGeom prst="rect">
            <a:avLst/>
          </a:prstGeom>
        </p:spPr>
      </p:pic>
      <p:pic>
        <p:nvPicPr>
          <p:cNvPr id="19" name="Image 7" descr="icons/check-0078D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9048" y="2670048"/>
            <a:ext cx="320040" cy="320040"/>
          </a:xfrm>
          <a:prstGeom prst="rect">
            <a:avLst/>
          </a:prstGeom>
        </p:spPr>
      </p:pic>
      <p:sp>
        <p:nvSpPr>
          <p:cNvPr id="20" name="Text 10"/>
          <p:cNvSpPr txBox="1"/>
          <p:nvPr/>
        </p:nvSpPr>
        <p:spPr>
          <a:xfrm>
            <a:off x="6537960" y="2240280"/>
            <a:ext cx="2962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OpenID Connect</a:t>
            </a:r>
            <a:endParaRPr lang="en-US" sz="2000" dirty="0"/>
          </a:p>
        </p:txBody>
      </p:sp>
      <p:sp>
        <p:nvSpPr>
          <p:cNvPr id="21" name="Text 11"/>
          <p:cNvSpPr txBox="1"/>
          <p:nvPr/>
        </p:nvSpPr>
        <p:spPr>
          <a:xfrm>
            <a:off x="6537960" y="2651760"/>
            <a:ext cx="2962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Identity layer on OAuth 2.0  ·  OIDC Core</a:t>
            </a:r>
            <a:endParaRPr lang="en-US" sz="1100" dirty="0"/>
          </a:p>
        </p:txBody>
      </p:sp>
      <p:pic>
        <p:nvPicPr>
          <p:cNvPr id="22" name="Image 8" descr="icons/check-0078D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0" y="3410712"/>
            <a:ext cx="182880" cy="182880"/>
          </a:xfrm>
          <a:prstGeom prst="rect">
            <a:avLst/>
          </a:prstGeom>
        </p:spPr>
      </p:pic>
      <p:sp>
        <p:nvSpPr>
          <p:cNvPr id="23" name="Text 12"/>
          <p:cNvSpPr txBox="1"/>
          <p:nvPr/>
        </p:nvSpPr>
        <p:spPr>
          <a:xfrm>
            <a:off x="6080760" y="3337560"/>
            <a:ext cx="3374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Adds the ID token: who logged in, and when</a:t>
            </a:r>
            <a:endParaRPr lang="en-US" sz="1300" dirty="0"/>
          </a:p>
        </p:txBody>
      </p:sp>
      <p:pic>
        <p:nvPicPr>
          <p:cNvPr id="24" name="Image 9" descr="icons/check-0078D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0" y="4014216"/>
            <a:ext cx="182880" cy="182880"/>
          </a:xfrm>
          <a:prstGeom prst="rect">
            <a:avLst/>
          </a:prstGeom>
        </p:spPr>
      </p:pic>
      <p:sp>
        <p:nvSpPr>
          <p:cNvPr id="25" name="Text 13"/>
          <p:cNvSpPr txBox="1"/>
          <p:nvPr/>
        </p:nvSpPr>
        <p:spPr>
          <a:xfrm>
            <a:off x="6080760" y="3941064"/>
            <a:ext cx="3374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Adds /userinfo and discovery metadata</a:t>
            </a:r>
            <a:endParaRPr lang="en-US" sz="1300" dirty="0"/>
          </a:p>
        </p:txBody>
      </p:sp>
      <p:pic>
        <p:nvPicPr>
          <p:cNvPr id="26" name="Image 10" descr="icons/check-0078D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0" y="4617720"/>
            <a:ext cx="182880" cy="182880"/>
          </a:xfrm>
          <a:prstGeom prst="rect">
            <a:avLst/>
          </a:prstGeom>
        </p:spPr>
      </p:pic>
      <p:sp>
        <p:nvSpPr>
          <p:cNvPr id="27" name="Text 14"/>
          <p:cNvSpPr txBox="1"/>
          <p:nvPr/>
        </p:nvSpPr>
        <p:spPr>
          <a:xfrm>
            <a:off x="6080760" y="4544568"/>
            <a:ext cx="3374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Triggered by scope=openid</a:t>
            </a:r>
            <a:endParaRPr lang="en-US" sz="1300" dirty="0"/>
          </a:p>
        </p:txBody>
      </p:sp>
      <p:pic>
        <p:nvPicPr>
          <p:cNvPr id="28" name="Image 11" descr="icons/check-0078D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0" y="5221224"/>
            <a:ext cx="182880" cy="182880"/>
          </a:xfrm>
          <a:prstGeom prst="rect">
            <a:avLst/>
          </a:prstGeom>
        </p:spPr>
      </p:pic>
      <p:sp>
        <p:nvSpPr>
          <p:cNvPr id="29" name="Text 15"/>
          <p:cNvSpPr txBox="1"/>
          <p:nvPr/>
        </p:nvSpPr>
        <p:spPr>
          <a:xfrm>
            <a:off x="6080760" y="5148072"/>
            <a:ext cx="3374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300">
                <a:solidFill>
                  <a:srgbClr val="000000"/>
                </a:solidFill>
                <a:latin typeface="Segoe UI"/>
              </a:rPr>
              <a:t>In our example: id_token only when scope=openid is sent</a:t>
            </a:r>
            <a:endParaRPr lang="en-US" sz="1300" dirty="0"/>
          </a:p>
        </p:txBody>
      </p:sp>
      <p:sp>
        <p:nvSpPr>
          <p:cNvPr id="30" name="Text 16"/>
          <p:cNvSpPr txBox="1"/>
          <p:nvPr/>
        </p:nvSpPr>
        <p:spPr>
          <a:xfrm>
            <a:off x="374904" y="6144768"/>
            <a:ext cx="43982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OAuth 2.0 on its own is not a login protocol. Using it to “log users in” is a common mistake.</a:t>
            </a:r>
            <a:endParaRPr lang="en-US" sz="1400" dirty="0"/>
          </a:p>
        </p:txBody>
      </p:sp>
      <p:sp>
        <p:nvSpPr>
          <p:cNvPr id="31" name="Text 17"/>
          <p:cNvSpPr txBox="1"/>
          <p:nvPr/>
        </p:nvSpPr>
        <p:spPr>
          <a:xfrm>
            <a:off x="5440680" y="6144768"/>
            <a:ext cx="42428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Try: </a:t>
            </a: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/realms/bank-demo/.well-known/openid-configuration</a:t>
            </a: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lists every OIDC endpoint.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1F062-57FF-B282-9E22-FA1F208EB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291A552-07AD-77EA-7F2F-14206FC042CC}"/>
              </a:ext>
            </a:extLst>
          </p:cNvPr>
          <p:cNvSpPr txBox="1"/>
          <p:nvPr/>
        </p:nvSpPr>
        <p:spPr>
          <a:xfrm>
            <a:off x="374904" y="475488"/>
            <a:ext cx="930859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15. Same request — with and without openid</a:t>
            </a:r>
            <a:endParaRPr lang="en-US" sz="2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124CB7F-5AE9-0064-5B18-960F55C56DEF}"/>
              </a:ext>
            </a:extLst>
          </p:cNvPr>
          <p:cNvSpPr txBox="1"/>
          <p:nvPr/>
        </p:nvSpPr>
        <p:spPr>
          <a:xfrm>
            <a:off x="374904" y="1234440"/>
            <a:ext cx="930859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400">
                <a:solidFill>
                  <a:srgbClr val="000000"/>
                </a:solidFill>
                <a:latin typeface="Segoe UI"/>
              </a:rPr>
              <a:t>OAuth 2.0 gives you the access token. Add one OIDC scope — openid — and Keycloak also returns an ID token.</a:t>
            </a:r>
            <a:endParaRPr lang="en-US" sz="1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341C5FF-CFEB-6177-253A-C60CB6D74602}"/>
              </a:ext>
            </a:extLst>
          </p:cNvPr>
          <p:cNvSpPr/>
          <p:nvPr/>
        </p:nvSpPr>
        <p:spPr>
          <a:xfrm>
            <a:off x="374904" y="2057400"/>
            <a:ext cx="5577840" cy="2057400"/>
          </a:xfrm>
          <a:prstGeom prst="roundRect">
            <a:avLst>
              <a:gd name="adj" fmla="val 3556"/>
            </a:avLst>
          </a:prstGeom>
          <a:solidFill>
            <a:srgbClr val="F3F3F3"/>
          </a:solidFill>
          <a:ln/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AF6557D-991F-10EF-4736-BCA48CED366F}"/>
              </a:ext>
            </a:extLst>
          </p:cNvPr>
          <p:cNvSpPr txBox="1"/>
          <p:nvPr/>
        </p:nvSpPr>
        <p:spPr>
          <a:xfrm>
            <a:off x="603504" y="222199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00">
                <a:solidFill>
                  <a:srgbClr val="0078D4"/>
                </a:solidFill>
                <a:latin typeface="Segoe UI Semibold"/>
              </a:rPr>
              <a:t>Without scope=openid — your real response</a:t>
            </a:r>
            <a:endParaRPr lang="en-US" sz="11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63DA1A3-2D0E-3799-3B46-50116088CD54}"/>
              </a:ext>
            </a:extLst>
          </p:cNvPr>
          <p:cNvSpPr txBox="1"/>
          <p:nvPr/>
        </p:nvSpPr>
        <p:spPr>
          <a:xfrm>
            <a:off x="603504" y="2532888"/>
            <a:ext cx="512064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000">
                <a:solidFill>
                  <a:srgbClr val="000000"/>
                </a:solidFill>
                <a:latin typeface="Consolas"/>
              </a:rPr>
              <a:t>{</a:t>
            </a:r>
            <a:endParaRPr lang="en-US" sz="1100" dirty="0"/>
          </a:p>
          <a:p>
            <a:r>
              <a:rPr sz="1000">
                <a:solidFill>
                  <a:srgbClr val="A31515"/>
                </a:solidFill>
                <a:latin typeface="Consolas"/>
              </a:rPr>
              <a:t>  "access_token"</a:t>
            </a:r>
            <a:r>
              <a:rPr sz="1000">
                <a:solidFill>
                  <a:srgbClr val="000000"/>
                </a:solidFill>
                <a:latin typeface="Consolas"/>
              </a:rPr>
              <a:t>: "eyJhbGciOiJSUzI1NiIs…",</a:t>
            </a:r>
          </a:p>
          <a:p>
            <a:r>
              <a:rPr sz="1000">
                <a:solidFill>
                  <a:srgbClr val="A31515"/>
                </a:solidFill>
                <a:latin typeface="Consolas"/>
              </a:rPr>
              <a:t>  "expires_in"</a:t>
            </a:r>
            <a:r>
              <a:rPr sz="1000">
                <a:solidFill>
                  <a:srgbClr val="000000"/>
                </a:solidFill>
                <a:latin typeface="Consolas"/>
              </a:rPr>
              <a:t>: 300,</a:t>
            </a:r>
          </a:p>
          <a:p>
            <a:r>
              <a:rPr sz="1000">
                <a:solidFill>
                  <a:srgbClr val="A31515"/>
                </a:solidFill>
                <a:latin typeface="Consolas"/>
              </a:rPr>
              <a:t>  "refresh_token"</a:t>
            </a:r>
            <a:r>
              <a:rPr sz="1000">
                <a:solidFill>
                  <a:srgbClr val="000000"/>
                </a:solidFill>
                <a:latin typeface="Consolas"/>
              </a:rPr>
              <a:t>: "eyJhbGciOiJIUzUxMiIs…",</a:t>
            </a:r>
          </a:p>
          <a:p>
            <a:r>
              <a:rPr sz="1000">
                <a:solidFill>
                  <a:srgbClr val="A31515"/>
                </a:solidFill>
                <a:latin typeface="Consolas"/>
              </a:rPr>
              <a:t>  "token_type"</a:t>
            </a:r>
            <a:r>
              <a:rPr sz="1000">
                <a:solidFill>
                  <a:srgbClr val="000000"/>
                </a:solidFill>
                <a:latin typeface="Consolas"/>
              </a:rPr>
              <a:t>: "Bearer",</a:t>
            </a:r>
          </a:p>
          <a:p>
            <a:r>
              <a:rPr sz="1000">
                <a:solidFill>
                  <a:srgbClr val="A31515"/>
                </a:solidFill>
                <a:latin typeface="Consolas"/>
              </a:rPr>
              <a:t>  "scope"</a:t>
            </a:r>
            <a:r>
              <a:rPr sz="1000">
                <a:solidFill>
                  <a:srgbClr val="000000"/>
                </a:solidFill>
                <a:latin typeface="Consolas"/>
              </a:rPr>
              <a:t>: "email profile"   </a:t>
            </a:r>
            <a:r>
              <a:rPr sz="1000">
                <a:solidFill>
                  <a:srgbClr val="6A737D"/>
                </a:solidFill>
                <a:latin typeface="Consolas"/>
              </a:rPr>
              <a:t>// no openid → no id_token</a:t>
            </a:r>
          </a:p>
          <a:p>
            <a:r>
              <a:rPr sz="100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534CAF66-9438-8F3B-F2E9-06B388C73F83}"/>
              </a:ext>
            </a:extLst>
          </p:cNvPr>
          <p:cNvSpPr/>
          <p:nvPr/>
        </p:nvSpPr>
        <p:spPr>
          <a:xfrm>
            <a:off x="374904" y="4315968"/>
            <a:ext cx="5577840" cy="2148840"/>
          </a:xfrm>
          <a:prstGeom prst="roundRect">
            <a:avLst>
              <a:gd name="adj" fmla="val 3404"/>
            </a:avLst>
          </a:prstGeom>
          <a:solidFill>
            <a:srgbClr val="F3F3F3"/>
          </a:solidFill>
          <a:ln/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16C5A73-46DD-0768-DD1E-6354F9A69F1F}"/>
              </a:ext>
            </a:extLst>
          </p:cNvPr>
          <p:cNvSpPr txBox="1"/>
          <p:nvPr/>
        </p:nvSpPr>
        <p:spPr>
          <a:xfrm>
            <a:off x="603504" y="448056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00">
                <a:solidFill>
                  <a:srgbClr val="0078D4"/>
                </a:solidFill>
                <a:latin typeface="Segoe UI Semibold"/>
              </a:rPr>
              <a:t>With 'scope=openid' — expected; re-run to confirm</a:t>
            </a:r>
            <a:endParaRPr lang="en-US" sz="11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DF9F8176-4A3F-601C-BAD4-51D3B2CEBF1D}"/>
              </a:ext>
            </a:extLst>
          </p:cNvPr>
          <p:cNvSpPr txBox="1"/>
          <p:nvPr/>
        </p:nvSpPr>
        <p:spPr>
          <a:xfrm>
            <a:off x="603504" y="4791456"/>
            <a:ext cx="5120640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000">
                <a:solidFill>
                  <a:srgbClr val="000000"/>
                </a:solidFill>
                <a:latin typeface="Consolas"/>
              </a:rPr>
              <a:t>{</a:t>
            </a:r>
            <a:endParaRPr lang="en-US" sz="1100" dirty="0"/>
          </a:p>
          <a:p>
            <a:r>
              <a:rPr sz="1000">
                <a:solidFill>
                  <a:srgbClr val="A31515"/>
                </a:solidFill>
                <a:latin typeface="Consolas"/>
              </a:rPr>
              <a:t>  "access_token"</a:t>
            </a:r>
            <a:r>
              <a:rPr sz="1000">
                <a:solidFill>
                  <a:srgbClr val="000000"/>
                </a:solidFill>
                <a:latin typeface="Consolas"/>
              </a:rPr>
              <a:t>: "eyJ…",</a:t>
            </a:r>
          </a:p>
          <a:p>
            <a:r>
              <a:rPr sz="1000">
                <a:solidFill>
                  <a:srgbClr val="A31515"/>
                </a:solidFill>
                <a:latin typeface="Consolas"/>
              </a:rPr>
              <a:t>  "expires_in"</a:t>
            </a:r>
            <a:r>
              <a:rPr sz="1000">
                <a:solidFill>
                  <a:srgbClr val="000000"/>
                </a:solidFill>
                <a:latin typeface="Consolas"/>
              </a:rPr>
              <a:t>: 300,</a:t>
            </a:r>
          </a:p>
          <a:p>
            <a:r>
              <a:rPr sz="1000">
                <a:solidFill>
                  <a:srgbClr val="A31515"/>
                </a:solidFill>
                <a:latin typeface="Consolas"/>
              </a:rPr>
              <a:t>  "refresh_token"</a:t>
            </a:r>
            <a:r>
              <a:rPr sz="1000">
                <a:solidFill>
                  <a:srgbClr val="000000"/>
                </a:solidFill>
                <a:latin typeface="Consolas"/>
              </a:rPr>
              <a:t>: "eyJ…",</a:t>
            </a:r>
          </a:p>
          <a:p>
            <a:r>
              <a:rPr sz="1000">
                <a:solidFill>
                  <a:srgbClr val="A31515"/>
                </a:solidFill>
                <a:latin typeface="Consolas"/>
              </a:rPr>
              <a:t>  "token_type"</a:t>
            </a:r>
            <a:r>
              <a:rPr sz="1000">
                <a:solidFill>
                  <a:srgbClr val="000000"/>
                </a:solidFill>
                <a:latin typeface="Consolas"/>
              </a:rPr>
              <a:t>: "Bearer",</a:t>
            </a:r>
          </a:p>
          <a:p>
            <a:r>
              <a:rPr sz="1000">
                <a:solidFill>
                  <a:srgbClr val="0078D4"/>
                </a:solidFill>
                <a:latin typeface="Consolas"/>
              </a:rPr>
              <a:t>  "id_token"</a:t>
            </a:r>
            <a:r>
              <a:rPr sz="1000">
                <a:solidFill>
                  <a:srgbClr val="000000"/>
                </a:solidFill>
                <a:latin typeface="Consolas"/>
              </a:rPr>
              <a:t>: "eyJ…",          </a:t>
            </a:r>
            <a:r>
              <a:rPr sz="1000">
                <a:solidFill>
                  <a:srgbClr val="6A737D"/>
                </a:solidFill>
                <a:latin typeface="Consolas"/>
              </a:rPr>
              <a:t>// OIDC: who logged in</a:t>
            </a:r>
          </a:p>
          <a:p>
            <a:r>
              <a:rPr sz="1000">
                <a:solidFill>
                  <a:srgbClr val="A31515"/>
                </a:solidFill>
                <a:latin typeface="Consolas"/>
              </a:rPr>
              <a:t>  "scope"</a:t>
            </a:r>
            <a:r>
              <a:rPr sz="1000">
                <a:solidFill>
                  <a:srgbClr val="000000"/>
                </a:solidFill>
                <a:latin typeface="Consolas"/>
              </a:rPr>
              <a:t>: "openid email profile"</a:t>
            </a:r>
          </a:p>
          <a:p>
            <a:r>
              <a:rPr sz="100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F072971-710C-8B2F-22BC-B40BF6F3C6FE}"/>
              </a:ext>
            </a:extLst>
          </p:cNvPr>
          <p:cNvSpPr txBox="1"/>
          <p:nvPr/>
        </p:nvSpPr>
        <p:spPr>
          <a:xfrm>
            <a:off x="6126480" y="2057400"/>
            <a:ext cx="35661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sz="1300">
                <a:solidFill>
                  <a:srgbClr val="0078D4"/>
                </a:solidFill>
                <a:latin typeface="Segoe UI Semibold"/>
              </a:rPr>
              <a:t>What changed</a:t>
            </a:r>
            <a:endParaRPr lang="en-US" sz="1300" dirty="0"/>
          </a:p>
          <a:p>
            <a:pPr>
              <a:lnSpc>
                <a:spcPts val="1900"/>
              </a:lnSpc>
              <a:spcAft>
                <a:spcPts val="900"/>
              </a:spcAft>
            </a:pPr>
            <a:r>
              <a:rPr sz="1300">
                <a:solidFill>
                  <a:srgbClr val="000000"/>
                </a:solidFill>
                <a:latin typeface="Segoe UI"/>
              </a:rPr>
              <a:t>One parameter: </a:t>
            </a:r>
            <a:r>
              <a:rPr sz="1200">
                <a:solidFill>
                  <a:srgbClr val="000000"/>
                </a:solidFill>
                <a:latin typeface="Consolas"/>
              </a:rPr>
              <a:t>scope=openid</a:t>
            </a:r>
          </a:p>
          <a:p>
            <a:pPr>
              <a:lnSpc>
                <a:spcPts val="1900"/>
              </a:lnSpc>
            </a:pPr>
            <a:r>
              <a:rPr sz="1300">
                <a:solidFill>
                  <a:srgbClr val="0078D4"/>
                </a:solidFill>
                <a:latin typeface="Segoe UI Semibold"/>
              </a:rPr>
              <a:t>access_token — OAuth 2.0</a:t>
            </a:r>
          </a:p>
          <a:p>
            <a:pPr>
              <a:lnSpc>
                <a:spcPts val="1900"/>
              </a:lnSpc>
              <a:spcAft>
                <a:spcPts val="900"/>
              </a:spcAft>
            </a:pPr>
            <a:r>
              <a:rPr sz="1300">
                <a:solidFill>
                  <a:srgbClr val="000000"/>
                </a:solidFill>
                <a:latin typeface="Segoe UI"/>
              </a:rPr>
              <a:t>Sent to APIs. Carries roles in realm_access.</a:t>
            </a:r>
          </a:p>
          <a:p>
            <a:pPr>
              <a:lnSpc>
                <a:spcPts val="1900"/>
              </a:lnSpc>
            </a:pPr>
            <a:r>
              <a:rPr sz="1300">
                <a:solidFill>
                  <a:srgbClr val="0078D4"/>
                </a:solidFill>
                <a:latin typeface="Segoe UI Semibold"/>
              </a:rPr>
              <a:t>id_token — OpenID Connect</a:t>
            </a:r>
          </a:p>
          <a:p>
            <a:pPr>
              <a:lnSpc>
                <a:spcPts val="1900"/>
              </a:lnSpc>
              <a:spcAft>
                <a:spcPts val="900"/>
              </a:spcAft>
            </a:pPr>
            <a:r>
              <a:rPr sz="1300">
                <a:solidFill>
                  <a:srgbClr val="000000"/>
                </a:solidFill>
                <a:latin typeface="Segoe UI"/>
              </a:rPr>
              <a:t>For the client app: who logged in. aud is bank-app. Never send it to an API.</a:t>
            </a:r>
          </a:p>
          <a:p>
            <a:pPr>
              <a:lnSpc>
                <a:spcPts val="1900"/>
              </a:lnSpc>
            </a:pPr>
            <a:r>
              <a:rPr sz="1300">
                <a:solidFill>
                  <a:srgbClr val="0078D4"/>
                </a:solidFill>
                <a:latin typeface="Segoe UI Semibold"/>
              </a:rPr>
              <a:t>Check it yourself</a:t>
            </a:r>
          </a:p>
          <a:p>
            <a:pPr>
              <a:lnSpc>
                <a:spcPts val="1900"/>
              </a:lnSpc>
              <a:spcAft>
                <a:spcPts val="900"/>
              </a:spcAft>
            </a:pPr>
            <a:r>
              <a:rPr sz="1300">
                <a:solidFill>
                  <a:srgbClr val="000000"/>
                </a:solidFill>
                <a:latin typeface="Segoe UI"/>
              </a:rPr>
              <a:t>Decode both tokens and compare typ: Bearer vs ID.</a:t>
            </a: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90E6E387-8F99-CACB-C982-CF7C2E0EC4F9}"/>
              </a:ext>
            </a:extLst>
          </p:cNvPr>
          <p:cNvSpPr txBox="1"/>
          <p:nvPr/>
        </p:nvSpPr>
        <p:spPr>
          <a:xfrm>
            <a:off x="374904" y="658368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sz="1400">
                <a:solidFill>
                  <a:srgbClr val="000000"/>
                </a:solidFill>
                <a:latin typeface="Segoe UI"/>
              </a:rPr>
              <a:t>Your first run said "scope": "email profile" — that is why no id_token came back.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4656010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74904" y="475488"/>
            <a:ext cx="930859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16. What happens inside Keycloak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374904" y="1234440"/>
            <a:ext cx="930859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one token request to an allow/deny decision — the full path for ajay.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74904" y="2057400"/>
            <a:ext cx="5394960" cy="43434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1E1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03504" y="2350008"/>
            <a:ext cx="292608" cy="292608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603504" y="23500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014984" y="2286000"/>
            <a:ext cx="4526280" cy="420624"/>
          </a:xfrm>
          <a:prstGeom prst="roundRect">
            <a:avLst>
              <a:gd name="adj" fmla="val 13043"/>
            </a:avLst>
          </a:prstGeom>
          <a:solidFill>
            <a:srgbClr val="F3F3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1152144" y="2286000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bank-app sends ajay’s credentials</a:t>
            </a:r>
            <a:r>
              <a:rPr lang="en-US" sz="10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client → Keycloak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49808" y="2642616"/>
            <a:ext cx="914" cy="283464"/>
          </a:xfrm>
          <a:prstGeom prst="line">
            <a:avLst/>
          </a:prstGeom>
          <a:noFill/>
          <a:ln w="19050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03504" y="2926080"/>
            <a:ext cx="292608" cy="292608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603504" y="29260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014984" y="2862072"/>
            <a:ext cx="4526280" cy="420624"/>
          </a:xfrm>
          <a:prstGeom prst="roundRect">
            <a:avLst>
              <a:gd name="adj" fmla="val 13043"/>
            </a:avLst>
          </a:prstGeom>
          <a:solidFill>
            <a:srgbClr val="F3F3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1152144" y="2862072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Check client secret, then ajay’s password</a:t>
            </a:r>
            <a:r>
              <a:rPr lang="en-US" sz="10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bank-demo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49808" y="3218688"/>
            <a:ext cx="914" cy="283464"/>
          </a:xfrm>
          <a:prstGeom prst="line">
            <a:avLst/>
          </a:prstGeom>
          <a:noFill/>
          <a:ln w="19050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603504" y="3502152"/>
            <a:ext cx="292608" cy="292608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603504" y="35021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014984" y="3438144"/>
            <a:ext cx="4526280" cy="420624"/>
          </a:xfrm>
          <a:prstGeom prst="roundRect">
            <a:avLst>
              <a:gd name="adj" fmla="val 13043"/>
            </a:avLst>
          </a:prstGeom>
          <a:solidFill>
            <a:srgbClr val="CFE4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1152144" y="3438144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Resolve effective roles</a:t>
            </a:r>
            <a:r>
              <a:rPr lang="en-US" sz="10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retail-customers → customer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49808" y="3794760"/>
            <a:ext cx="914" cy="283464"/>
          </a:xfrm>
          <a:prstGeom prst="line">
            <a:avLst/>
          </a:prstGeom>
          <a:noFill/>
          <a:ln w="19050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03504" y="4078224"/>
            <a:ext cx="292608" cy="292608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603504" y="40782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014984" y="4014216"/>
            <a:ext cx="4526280" cy="420624"/>
          </a:xfrm>
          <a:prstGeom prst="roundRect">
            <a:avLst>
              <a:gd name="adj" fmla="val 13043"/>
            </a:avLst>
          </a:prstGeom>
          <a:solidFill>
            <a:srgbClr val="F3F3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 txBox="1"/>
          <p:nvPr/>
        </p:nvSpPr>
        <p:spPr>
          <a:xfrm>
            <a:off x="1152144" y="4014216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Build claims</a:t>
            </a:r>
            <a:r>
              <a:rPr lang="en-US" sz="10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sub, preferred_username, realm_access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49808" y="4370832"/>
            <a:ext cx="914" cy="283464"/>
          </a:xfrm>
          <a:prstGeom prst="line">
            <a:avLst/>
          </a:prstGeom>
          <a:noFill/>
          <a:ln w="19050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03504" y="4654296"/>
            <a:ext cx="292608" cy="292608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 txBox="1"/>
          <p:nvPr/>
        </p:nvSpPr>
        <p:spPr>
          <a:xfrm>
            <a:off x="603504" y="4654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014984" y="4590288"/>
            <a:ext cx="4526280" cy="420624"/>
          </a:xfrm>
          <a:prstGeom prst="roundRect">
            <a:avLst>
              <a:gd name="adj" fmla="val 13043"/>
            </a:avLst>
          </a:prstGeom>
          <a:solidFill>
            <a:srgbClr val="CFE4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 txBox="1"/>
          <p:nvPr/>
        </p:nvSpPr>
        <p:spPr>
          <a:xfrm>
            <a:off x="1152144" y="4590288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Sign the JWT with the realm key</a:t>
            </a:r>
            <a:r>
              <a:rPr lang="en-US" sz="10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RS256 by default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49808" y="4946904"/>
            <a:ext cx="914" cy="283464"/>
          </a:xfrm>
          <a:prstGeom prst="line">
            <a:avLst/>
          </a:prstGeom>
          <a:noFill/>
          <a:ln w="19050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603504" y="5230368"/>
            <a:ext cx="292608" cy="292608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 txBox="1"/>
          <p:nvPr/>
        </p:nvSpPr>
        <p:spPr>
          <a:xfrm>
            <a:off x="603504" y="5230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014984" y="5166360"/>
            <a:ext cx="4526280" cy="420624"/>
          </a:xfrm>
          <a:prstGeom prst="roundRect">
            <a:avLst>
              <a:gd name="adj" fmla="val 13043"/>
            </a:avLst>
          </a:prstGeom>
          <a:solidFill>
            <a:srgbClr val="F3F3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 txBox="1"/>
          <p:nvPr/>
        </p:nvSpPr>
        <p:spPr>
          <a:xfrm>
            <a:off x="1152144" y="5166360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Return access, refresh and ID tokens</a:t>
            </a:r>
            <a:r>
              <a:rPr lang="en-US" sz="10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Keycloak → client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49808" y="5522976"/>
            <a:ext cx="914" cy="283464"/>
          </a:xfrm>
          <a:prstGeom prst="line">
            <a:avLst/>
          </a:prstGeom>
          <a:noFill/>
          <a:ln w="19050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603504" y="5806440"/>
            <a:ext cx="292608" cy="292608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 txBox="1"/>
          <p:nvPr/>
        </p:nvSpPr>
        <p:spPr>
          <a:xfrm>
            <a:off x="603504" y="5806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014984" y="5742432"/>
            <a:ext cx="452628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0078D4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 txBox="1"/>
          <p:nvPr/>
        </p:nvSpPr>
        <p:spPr>
          <a:xfrm>
            <a:off x="1152144" y="5742432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API verifies signature, checks role</a:t>
            </a:r>
            <a:r>
              <a:rPr lang="en-US" sz="10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Post 03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6126480" y="2057400"/>
            <a:ext cx="356616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Authentication</a:t>
            </a:r>
            <a:endParaRPr lang="en-US" sz="1300" dirty="0"/>
          </a:p>
          <a:p>
            <a:pPr marL="0" indent="0">
              <a:lnSpc>
                <a:spcPts val="19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Steps 1–2. Only identity is checked here.</a:t>
            </a: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Authorization data</a:t>
            </a:r>
            <a:endParaRPr lang="en-US" sz="1300" dirty="0"/>
          </a:p>
          <a:p>
            <a:pPr marL="0" indent="0">
              <a:lnSpc>
                <a:spcPts val="19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Steps 3–4. Group → role mapping is resolved when the token is built.</a:t>
            </a: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Trust</a:t>
            </a: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5. The API trusts the token because it can verify the signature with </a:t>
            </a: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/protocol/openid-connect/certs</a:t>
            </a: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Decision</a:t>
            </a:r>
            <a:endParaRPr lang="en-US" sz="1300" dirty="0"/>
          </a:p>
          <a:p>
            <a:pPr marL="0" indent="0">
              <a:lnSpc>
                <a:spcPts val="19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7 happens in your code, not in Keycloak.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74904" y="475488"/>
            <a:ext cx="930859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17. Hands-on: build it in 10 steps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374904" y="1234440"/>
            <a:ext cx="930859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Everything below runs on your machine. Each step points to the slide that shows it.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74904" y="2084832"/>
            <a:ext cx="292608" cy="292608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374904" y="20848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205740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 Keycloak (command on the right)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74904" y="2514600"/>
            <a:ext cx="292608" cy="292608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374904" y="2514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248716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 in at localhost:8080/admin as admin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74904" y="2944368"/>
            <a:ext cx="292608" cy="292608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374904" y="2944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04672" y="291693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realm bank-demo  · slide 6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74904" y="3374136"/>
            <a:ext cx="292608" cy="292608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374904" y="33741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804672" y="334670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client bank-app  · slide 7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74904" y="3803904"/>
            <a:ext cx="292608" cy="292608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374904" y="38039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804672" y="377647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users ajay and akash  · slide 8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74904" y="4233672"/>
            <a:ext cx="292608" cy="292608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374904" y="42336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804672" y="420624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realm role customer  · slide 9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74904" y="4663440"/>
            <a:ext cx="292608" cy="292608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 txBox="1"/>
          <p:nvPr/>
        </p:nvSpPr>
        <p:spPr>
          <a:xfrm>
            <a:off x="374904" y="4663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7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804672" y="463600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group retail-customers + map customer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74904" y="5093208"/>
            <a:ext cx="292608" cy="292608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 txBox="1"/>
          <p:nvPr/>
        </p:nvSpPr>
        <p:spPr>
          <a:xfrm>
            <a:off x="374904" y="50932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8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804672" y="506577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ajay to retail-customers  · slide 10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74904" y="5522976"/>
            <a:ext cx="292608" cy="292608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 txBox="1"/>
          <p:nvPr/>
        </p:nvSpPr>
        <p:spPr>
          <a:xfrm>
            <a:off x="374904" y="55229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9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04672" y="549554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Request tokens with curl  · slide 12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74904" y="5952744"/>
            <a:ext cx="292608" cy="292608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 txBox="1"/>
          <p:nvPr/>
        </p:nvSpPr>
        <p:spPr>
          <a:xfrm>
            <a:off x="374904" y="59527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10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804672" y="592531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Compare ajay vs akash in Evaluate  · slide 13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440680" y="2057400"/>
            <a:ext cx="4242816" cy="1691640"/>
          </a:xfrm>
          <a:prstGeom prst="roundRect">
            <a:avLst>
              <a:gd name="adj" fmla="val 4324"/>
            </a:avLst>
          </a:prstGeom>
          <a:solidFill>
            <a:srgbClr val="F3F3F3"/>
          </a:solidFill>
          <a:ln/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 txBox="1"/>
          <p:nvPr/>
        </p:nvSpPr>
        <p:spPr>
          <a:xfrm>
            <a:off x="5669280" y="2221992"/>
            <a:ext cx="3785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Start Keycloak (dev mode)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5669280" y="2532888"/>
            <a:ext cx="3785616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-p 8080:8080 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-e </a:t>
            </a:r>
            <a:r>
              <a:rPr lang="en-US" sz="1000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KC_BOOTSTRAP_ADMIN_USERNAME</a:t>
            </a: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=admin 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-e </a:t>
            </a:r>
            <a:r>
              <a:rPr lang="en-US" sz="1000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KC_BOOTSTRAP_ADMIN_PASSWORD</a:t>
            </a: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=admin 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quay.io/keycloak/keycloak:26.7 start-dev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440680" y="3977640"/>
            <a:ext cx="4242816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1E1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 txBox="1"/>
          <p:nvPr/>
        </p:nvSpPr>
        <p:spPr>
          <a:xfrm>
            <a:off x="5669280" y="40873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Verification checklist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669280" y="4544568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 txBox="1"/>
          <p:nvPr/>
        </p:nvSpPr>
        <p:spPr>
          <a:xfrm>
            <a:off x="5943600" y="44805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Keycloak starts on :8080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680960" y="4544568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 txBox="1"/>
          <p:nvPr/>
        </p:nvSpPr>
        <p:spPr>
          <a:xfrm>
            <a:off x="7955280" y="44805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Realm bank-demo exists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669280" y="5056632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 txBox="1"/>
          <p:nvPr/>
        </p:nvSpPr>
        <p:spPr>
          <a:xfrm>
            <a:off x="5943600" y="499262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 bank-app has a secret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680960" y="5056632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 txBox="1"/>
          <p:nvPr/>
        </p:nvSpPr>
        <p:spPr>
          <a:xfrm>
            <a:off x="7955280" y="499262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ajay &amp; akash can log in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669280" y="5568696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 txBox="1"/>
          <p:nvPr/>
        </p:nvSpPr>
        <p:spPr>
          <a:xfrm>
            <a:off x="5943600" y="550468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ajay is in retail-customers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7680960" y="5568696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 txBox="1"/>
          <p:nvPr/>
        </p:nvSpPr>
        <p:spPr>
          <a:xfrm>
            <a:off x="7955280" y="550468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Token request returns 200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669280" y="6080760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 txBox="1"/>
          <p:nvPr/>
        </p:nvSpPr>
        <p:spPr>
          <a:xfrm>
            <a:off x="5943600" y="601675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ajay’s token has customer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680960" y="6080760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 txBox="1"/>
          <p:nvPr/>
        </p:nvSpPr>
        <p:spPr>
          <a:xfrm>
            <a:off x="7955280" y="601675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 err="1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akash’s</a:t>
            </a: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token does not</a:t>
            </a:r>
            <a:endParaRPr lang="en-US" sz="1000" dirty="0"/>
          </a:p>
        </p:txBody>
      </p:sp>
      <p:sp>
        <p:nvSpPr>
          <p:cNvPr id="55" name="Text 53"/>
          <p:cNvSpPr txBox="1"/>
          <p:nvPr/>
        </p:nvSpPr>
        <p:spPr>
          <a:xfrm>
            <a:off x="374904" y="64465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start-dev</a:t>
            </a: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and admin/admin are for your laptop only — see slide 19.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74904" y="475488"/>
            <a:ext cx="930859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18. Common mistakes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374904" y="1234440"/>
            <a:ext cx="930859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Most beginner problems come from mixing up “who are you?” with “what may you do?” — or expecting Keycloak to do the API’s job.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74904" y="2057400"/>
            <a:ext cx="292608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9525">
            <a:solidFill>
              <a:srgbClr val="E1E1E1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0" descr="icons/warn-D1343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228600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03504" y="28346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App users in the master realm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03504" y="329184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your own realm; keep master for admins.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538728" y="2057400"/>
            <a:ext cx="292608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9525">
            <a:solidFill>
              <a:srgbClr val="E1E1E1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9" name="Image 1" descr="icons/layer-D2D2D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7328" y="2286000"/>
            <a:ext cx="457200" cy="457200"/>
          </a:xfrm>
          <a:prstGeom prst="rect">
            <a:avLst/>
          </a:prstGeom>
        </p:spPr>
      </p:pic>
      <p:pic>
        <p:nvPicPr>
          <p:cNvPr id="10" name="Image 2" descr="icons/times-0078D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41648" y="2560320"/>
            <a:ext cx="228600" cy="2286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3767328" y="28346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Confusing realm and client</a:t>
            </a:r>
            <a:endParaRPr lang="en-US" sz="1300" dirty="0"/>
          </a:p>
        </p:txBody>
      </p:sp>
      <p:sp>
        <p:nvSpPr>
          <p:cNvPr id="12" name="Text 7"/>
          <p:cNvSpPr txBox="1"/>
          <p:nvPr/>
        </p:nvSpPr>
        <p:spPr>
          <a:xfrm>
            <a:off x="3767328" y="329184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Realm = the space. Client = one app inside it.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6702552" y="2057400"/>
            <a:ext cx="292608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9525">
            <a:solidFill>
              <a:srgbClr val="E1E1E1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4" name="Image 3" descr="icons/exchange-D2D2D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31152" y="2286000"/>
            <a:ext cx="457200" cy="457200"/>
          </a:xfrm>
          <a:prstGeom prst="rect">
            <a:avLst/>
          </a:prstGeom>
        </p:spPr>
      </p:pic>
      <p:pic>
        <p:nvPicPr>
          <p:cNvPr id="15" name="Image 4" descr="icons/times-0078D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5472" y="2560320"/>
            <a:ext cx="228600" cy="228600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6931152" y="28346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Treating OAuth 2.0 as login</a:t>
            </a:r>
            <a:endParaRPr lang="en-US" sz="1300" dirty="0"/>
          </a:p>
        </p:txBody>
      </p:sp>
      <p:sp>
        <p:nvSpPr>
          <p:cNvPr id="17" name="Text 10"/>
          <p:cNvSpPr txBox="1"/>
          <p:nvPr/>
        </p:nvSpPr>
        <p:spPr>
          <a:xfrm>
            <a:off x="6931152" y="329184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Identity comes from OIDC and the ID token.</a:t>
            </a:r>
            <a:endParaRPr lang="en-US" sz="1100" dirty="0"/>
          </a:p>
        </p:txBody>
      </p:sp>
      <p:sp>
        <p:nvSpPr>
          <p:cNvPr id="18" name="Shape 11"/>
          <p:cNvSpPr/>
          <p:nvPr/>
        </p:nvSpPr>
        <p:spPr>
          <a:xfrm>
            <a:off x="374904" y="4206240"/>
            <a:ext cx="292608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9525">
            <a:solidFill>
              <a:srgbClr val="E1E1E1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9" name="Image 5" descr="icons/users-D2D2D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3504" y="4434840"/>
            <a:ext cx="457200" cy="457200"/>
          </a:xfrm>
          <a:prstGeom prst="rect">
            <a:avLst/>
          </a:prstGeom>
        </p:spPr>
      </p:pic>
      <p:pic>
        <p:nvPicPr>
          <p:cNvPr id="20" name="Image 6" descr="icons/times-0078D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" y="4709160"/>
            <a:ext cx="228600" cy="228600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603504" y="49834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Expecting group names in the token</a:t>
            </a:r>
            <a:endParaRPr lang="en-US" sz="1300" dirty="0"/>
          </a:p>
        </p:txBody>
      </p:sp>
      <p:sp>
        <p:nvSpPr>
          <p:cNvPr id="22" name="Text 13"/>
          <p:cNvSpPr txBox="1"/>
          <p:nvPr/>
        </p:nvSpPr>
        <p:spPr>
          <a:xfrm>
            <a:off x="603504" y="544068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Group roles are included; group names need a Group Membership mapper.</a:t>
            </a:r>
            <a:endParaRPr lang="en-US" sz="1100" dirty="0"/>
          </a:p>
        </p:txBody>
      </p:sp>
      <p:sp>
        <p:nvSpPr>
          <p:cNvPr id="23" name="Shape 14"/>
          <p:cNvSpPr/>
          <p:nvPr/>
        </p:nvSpPr>
        <p:spPr>
          <a:xfrm>
            <a:off x="3538728" y="4206240"/>
            <a:ext cx="292608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9525">
            <a:solidFill>
              <a:srgbClr val="E1E1E1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4" name="Image 7" descr="icons/key-D2D2D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67328" y="4434840"/>
            <a:ext cx="457200" cy="457200"/>
          </a:xfrm>
          <a:prstGeom prst="rect">
            <a:avLst/>
          </a:prstGeom>
        </p:spPr>
      </p:pic>
      <p:pic>
        <p:nvPicPr>
          <p:cNvPr id="25" name="Image 8" descr="icons/times-0078D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41648" y="4709160"/>
            <a:ext cx="228600" cy="228600"/>
          </a:xfrm>
          <a:prstGeom prst="rect">
            <a:avLst/>
          </a:prstGeom>
        </p:spPr>
      </p:pic>
      <p:sp>
        <p:nvSpPr>
          <p:cNvPr id="26" name="Text 15"/>
          <p:cNvSpPr txBox="1"/>
          <p:nvPr/>
        </p:nvSpPr>
        <p:spPr>
          <a:xfrm>
            <a:off x="3767328" y="49834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Direct access grants in production</a:t>
            </a:r>
            <a:endParaRPr lang="en-US" sz="1300" dirty="0"/>
          </a:p>
        </p:txBody>
      </p:sp>
      <p:sp>
        <p:nvSpPr>
          <p:cNvPr id="27" name="Text 16"/>
          <p:cNvSpPr txBox="1"/>
          <p:nvPr/>
        </p:nvSpPr>
        <p:spPr>
          <a:xfrm>
            <a:off x="3767328" y="544068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only. Real apps use Authorization Code + PKCE.</a:t>
            </a:r>
            <a:endParaRPr lang="en-US" sz="1100" dirty="0"/>
          </a:p>
        </p:txBody>
      </p:sp>
      <p:sp>
        <p:nvSpPr>
          <p:cNvPr id="28" name="Shape 17"/>
          <p:cNvSpPr/>
          <p:nvPr/>
        </p:nvSpPr>
        <p:spPr>
          <a:xfrm>
            <a:off x="6702552" y="4206240"/>
            <a:ext cx="292608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9525">
            <a:solidFill>
              <a:srgbClr val="E1E1E1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9" name="Image 9" descr="icons/server-D2D2D2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31152" y="4434840"/>
            <a:ext cx="457200" cy="457200"/>
          </a:xfrm>
          <a:prstGeom prst="rect">
            <a:avLst/>
          </a:prstGeom>
        </p:spPr>
      </p:pic>
      <p:pic>
        <p:nvPicPr>
          <p:cNvPr id="30" name="Image 10" descr="icons/times-0078D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5472" y="4709160"/>
            <a:ext cx="228600" cy="228600"/>
          </a:xfrm>
          <a:prstGeom prst="rect">
            <a:avLst/>
          </a:prstGeom>
        </p:spPr>
      </p:pic>
      <p:sp>
        <p:nvSpPr>
          <p:cNvPr id="31" name="Text 18"/>
          <p:cNvSpPr txBox="1"/>
          <p:nvPr/>
        </p:nvSpPr>
        <p:spPr>
          <a:xfrm>
            <a:off x="6931152" y="49834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“Keycloak protects my API”</a:t>
            </a:r>
            <a:endParaRPr lang="en-US" sz="1300" dirty="0"/>
          </a:p>
        </p:txBody>
      </p:sp>
      <p:sp>
        <p:nvSpPr>
          <p:cNvPr id="32" name="Text 19"/>
          <p:cNvSpPr txBox="1"/>
          <p:nvPr/>
        </p:nvSpPr>
        <p:spPr>
          <a:xfrm>
            <a:off x="6931152" y="544068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if the API validates the token — Post 03.</a:t>
            </a:r>
            <a:endParaRPr lang="en-US" sz="1100" dirty="0"/>
          </a:p>
        </p:txBody>
      </p:sp>
      <p:sp>
        <p:nvSpPr>
          <p:cNvPr id="33" name="Text 20"/>
          <p:cNvSpPr txBox="1"/>
          <p:nvPr/>
        </p:nvSpPr>
        <p:spPr>
          <a:xfrm>
            <a:off x="374904" y="6400800"/>
            <a:ext cx="9308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 yourself: </a:t>
            </a: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akash can log in</a:t>
            </a: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(authentication OK) but </a:t>
            </a: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has no customer role</a:t>
            </a: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(authorization denied). Both are correct.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74904" y="475488"/>
            <a:ext cx="930859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19. From local demo to production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374904" y="1234440"/>
            <a:ext cx="930859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concepts stay the same as systems grow. What changes is how Keycloak is run and which flows apps use.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74904" y="2057400"/>
            <a:ext cx="438912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E1E1E1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57784" y="5394960"/>
            <a:ext cx="2103120" cy="420624"/>
          </a:xfrm>
          <a:prstGeom prst="roundRect">
            <a:avLst>
              <a:gd name="adj" fmla="val 13043"/>
            </a:avLst>
          </a:prstGeom>
          <a:solidFill>
            <a:srgbClr val="0078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630936" y="5394960"/>
            <a:ext cx="19568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 demo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752344" y="5394960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this post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58952" y="4828032"/>
            <a:ext cx="2103120" cy="420624"/>
          </a:xfrm>
          <a:prstGeom prst="roundRect">
            <a:avLst>
              <a:gd name="adj" fmla="val 13043"/>
            </a:avLst>
          </a:prstGeom>
          <a:solidFill>
            <a:srgbClr val="F3F3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832104" y="4828032"/>
            <a:ext cx="19568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Single API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953512" y="4828032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 03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60120" y="4261104"/>
            <a:ext cx="2103120" cy="420624"/>
          </a:xfrm>
          <a:prstGeom prst="roundRect">
            <a:avLst>
              <a:gd name="adj" fmla="val 13043"/>
            </a:avLst>
          </a:prstGeom>
          <a:solidFill>
            <a:srgbClr val="F3F3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1033272" y="4261104"/>
            <a:ext cx="19568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Multiple APIs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154680" y="4261104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later topic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161288" y="3694176"/>
            <a:ext cx="2103120" cy="420624"/>
          </a:xfrm>
          <a:prstGeom prst="roundRect">
            <a:avLst>
              <a:gd name="adj" fmla="val 13043"/>
            </a:avLst>
          </a:prstGeom>
          <a:solidFill>
            <a:srgbClr val="F3F3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1234440" y="3694176"/>
            <a:ext cx="19568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Microservices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355848" y="3694176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later topic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362456" y="3127248"/>
            <a:ext cx="2103120" cy="420624"/>
          </a:xfrm>
          <a:prstGeom prst="roundRect">
            <a:avLst>
              <a:gd name="adj" fmla="val 13043"/>
            </a:avLst>
          </a:prstGeom>
          <a:solidFill>
            <a:srgbClr val="F3F3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1435608" y="3127248"/>
            <a:ext cx="19568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gateway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557016" y="3127248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later topic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563624" y="2560320"/>
            <a:ext cx="2103120" cy="420624"/>
          </a:xfrm>
          <a:prstGeom prst="roundRect">
            <a:avLst>
              <a:gd name="adj" fmla="val 13043"/>
            </a:avLst>
          </a:prstGeom>
          <a:solidFill>
            <a:srgbClr val="F3F3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1636776" y="2560320"/>
            <a:ext cx="19568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 IAM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3758184" y="2560320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later topic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40680" y="2057400"/>
            <a:ext cx="4242816" cy="4023360"/>
          </a:xfrm>
          <a:prstGeom prst="roundRect">
            <a:avLst>
              <a:gd name="adj" fmla="val 1818"/>
            </a:avLst>
          </a:prstGeom>
          <a:solidFill>
            <a:srgbClr val="F3F3F3"/>
          </a:solidFill>
          <a:ln/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 txBox="1"/>
          <p:nvPr/>
        </p:nvSpPr>
        <p:spPr>
          <a:xfrm>
            <a:off x="5669280" y="2194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Local demo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635240" y="2194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Production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669280" y="2569464"/>
            <a:ext cx="3785616" cy="914"/>
          </a:xfrm>
          <a:prstGeom prst="line">
            <a:avLst/>
          </a:prstGeom>
          <a:noFill/>
          <a:ln w="9525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 txBox="1"/>
          <p:nvPr/>
        </p:nvSpPr>
        <p:spPr>
          <a:xfrm>
            <a:off x="5669280" y="2606040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start-dev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7635240" y="2606040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start with hostname + TLS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669280" y="3118104"/>
            <a:ext cx="3785616" cy="914"/>
          </a:xfrm>
          <a:prstGeom prst="line">
            <a:avLst/>
          </a:prstGeom>
          <a:noFill/>
          <a:ln w="9525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 txBox="1"/>
          <p:nvPr/>
        </p:nvSpPr>
        <p:spPr>
          <a:xfrm>
            <a:off x="5669280" y="3154680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Built-in dev database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7635240" y="3154680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PostgreSQL or other supported DB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669280" y="3666744"/>
            <a:ext cx="3785616" cy="914"/>
          </a:xfrm>
          <a:prstGeom prst="line">
            <a:avLst/>
          </a:prstGeom>
          <a:noFill/>
          <a:ln w="9525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 txBox="1"/>
          <p:nvPr/>
        </p:nvSpPr>
        <p:spPr>
          <a:xfrm>
            <a:off x="5669280" y="3703320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/ admin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7635240" y="3703320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Strong, temporary bootstrap admin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669280" y="4215384"/>
            <a:ext cx="3785616" cy="914"/>
          </a:xfrm>
          <a:prstGeom prst="line">
            <a:avLst/>
          </a:prstGeom>
          <a:noFill/>
          <a:ln w="9525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 txBox="1"/>
          <p:nvPr/>
        </p:nvSpPr>
        <p:spPr>
          <a:xfrm>
            <a:off x="5669280" y="4251960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Direct access grants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7635240" y="4251960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Authorization Code + PKCE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669280" y="4764024"/>
            <a:ext cx="3785616" cy="914"/>
          </a:xfrm>
          <a:prstGeom prst="line">
            <a:avLst/>
          </a:prstGeom>
          <a:noFill/>
          <a:ln w="9525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 txBox="1"/>
          <p:nvPr/>
        </p:nvSpPr>
        <p:spPr>
          <a:xfrm>
            <a:off x="5669280" y="4800600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http://localhost:8080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7635240" y="4800600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HTTPS behind a proxy / LB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669280" y="5312664"/>
            <a:ext cx="3785616" cy="914"/>
          </a:xfrm>
          <a:prstGeom prst="line">
            <a:avLst/>
          </a:prstGeom>
          <a:noFill/>
          <a:ln w="9525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 txBox="1"/>
          <p:nvPr/>
        </p:nvSpPr>
        <p:spPr>
          <a:xfrm>
            <a:off x="5669280" y="5349240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 console setup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7635240" y="5349240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Realm export / config as code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374904" y="626364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rung is a later post. This post stays on the first one.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5440680" y="6263640"/>
            <a:ext cx="42428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Realms, clients, users, roles and groups </a:t>
            </a: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 not change</a:t>
            </a: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between the two columns.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74904" y="475488"/>
            <a:ext cx="930859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20. Key takeaways</a:t>
            </a:r>
            <a:endParaRPr lang="en-US" sz="2400" dirty="0"/>
          </a:p>
        </p:txBody>
      </p:sp>
      <p:pic>
        <p:nvPicPr>
          <p:cNvPr id="3" name="Image 0" descr="icons/check-0078D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444752"/>
            <a:ext cx="274320" cy="2743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68680" y="137160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Keycloak is a separate IAM server</a:t>
            </a: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apps delegate login to it and trust its signed tokens.</a:t>
            </a:r>
            <a:endParaRPr lang="en-US" sz="1400" dirty="0"/>
          </a:p>
        </p:txBody>
      </p:sp>
      <p:pic>
        <p:nvPicPr>
          <p:cNvPr id="5" name="Image 1" descr="icons/check-0078D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313432"/>
            <a:ext cx="274320" cy="2743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868680" y="224028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Realm → client → user → role → group</a:t>
            </a: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is the whole model you built today in bank-demo.</a:t>
            </a:r>
            <a:endParaRPr lang="en-US" sz="1400" dirty="0"/>
          </a:p>
        </p:txBody>
      </p:sp>
      <p:pic>
        <p:nvPicPr>
          <p:cNvPr id="7" name="Image 2" descr="icons/check-0078D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182112"/>
            <a:ext cx="274320" cy="27432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868680" y="310896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Authentication ≠ authorization.</a:t>
            </a: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akash logs in fine; he just lacks the customer role.</a:t>
            </a:r>
            <a:endParaRPr lang="en-US" sz="1400" dirty="0"/>
          </a:p>
        </p:txBody>
      </p:sp>
      <p:pic>
        <p:nvPicPr>
          <p:cNvPr id="9" name="Image 3" descr="icons/check-0078D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4050792"/>
            <a:ext cx="274320" cy="27432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868680" y="397764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OAuth 2.0 gives access; OIDC adds identity</a:t>
            </a: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the ID token is the OIDC part.</a:t>
            </a:r>
            <a:endParaRPr lang="en-US" sz="1400" dirty="0"/>
          </a:p>
        </p:txBody>
      </p:sp>
      <p:sp>
        <p:nvSpPr>
          <p:cNvPr id="11" name="Shape 5"/>
          <p:cNvSpPr/>
          <p:nvPr/>
        </p:nvSpPr>
        <p:spPr>
          <a:xfrm>
            <a:off x="5760720" y="1371600"/>
            <a:ext cx="3922776" cy="4480560"/>
          </a:xfrm>
          <a:prstGeom prst="rect">
            <a:avLst/>
          </a:prstGeom>
          <a:solidFill>
            <a:srgbClr val="FFFFFF"/>
          </a:solidFill>
          <a:ln w="9525">
            <a:solidFill>
              <a:srgbClr val="E1E1E1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6"/>
          <p:cNvSpPr txBox="1"/>
          <p:nvPr/>
        </p:nvSpPr>
        <p:spPr>
          <a:xfrm>
            <a:off x="5989320" y="1508760"/>
            <a:ext cx="3465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Where this fits in the series</a:t>
            </a:r>
            <a:endParaRPr lang="en-US" sz="1100" dirty="0"/>
          </a:p>
        </p:txBody>
      </p:sp>
      <p:sp>
        <p:nvSpPr>
          <p:cNvPr id="13" name="Shape 7"/>
          <p:cNvSpPr/>
          <p:nvPr/>
        </p:nvSpPr>
        <p:spPr>
          <a:xfrm>
            <a:off x="5989320" y="1965960"/>
            <a:ext cx="3465576" cy="868680"/>
          </a:xfrm>
          <a:prstGeom prst="roundRect">
            <a:avLst>
              <a:gd name="adj" fmla="val 6316"/>
            </a:avLst>
          </a:prstGeom>
          <a:solidFill>
            <a:srgbClr val="F3F3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8"/>
          <p:cNvSpPr txBox="1"/>
          <p:nvPr/>
        </p:nvSpPr>
        <p:spPr>
          <a:xfrm>
            <a:off x="6172200" y="1965960"/>
            <a:ext cx="30998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 01</a:t>
            </a:r>
            <a:endParaRPr lang="en-US" sz="10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Why IAM matters</a:t>
            </a:r>
            <a:endParaRPr lang="en-US" sz="1000" dirty="0"/>
          </a:p>
        </p:txBody>
      </p:sp>
      <p:sp>
        <p:nvSpPr>
          <p:cNvPr id="15" name="Shape 9"/>
          <p:cNvSpPr/>
          <p:nvPr/>
        </p:nvSpPr>
        <p:spPr>
          <a:xfrm>
            <a:off x="7722108" y="2852928"/>
            <a:ext cx="914" cy="329184"/>
          </a:xfrm>
          <a:prstGeom prst="line">
            <a:avLst/>
          </a:prstGeom>
          <a:noFill/>
          <a:ln w="19050">
            <a:solidFill>
              <a:srgbClr val="0078D4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0"/>
          <p:cNvSpPr/>
          <p:nvPr/>
        </p:nvSpPr>
        <p:spPr>
          <a:xfrm>
            <a:off x="5989320" y="3200400"/>
            <a:ext cx="3465576" cy="868680"/>
          </a:xfrm>
          <a:prstGeom prst="roundRect">
            <a:avLst>
              <a:gd name="adj" fmla="val 6316"/>
            </a:avLst>
          </a:prstGeom>
          <a:solidFill>
            <a:srgbClr val="0078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1"/>
          <p:cNvSpPr txBox="1"/>
          <p:nvPr/>
        </p:nvSpPr>
        <p:spPr>
          <a:xfrm>
            <a:off x="6172200" y="3200400"/>
            <a:ext cx="30998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 02</a:t>
            </a:r>
            <a:endParaRPr lang="en-US" sz="10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is Keycloak?  (you are here)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7722108" y="4087368"/>
            <a:ext cx="914" cy="329184"/>
          </a:xfrm>
          <a:prstGeom prst="line">
            <a:avLst/>
          </a:prstGeom>
          <a:noFill/>
          <a:ln w="19050">
            <a:solidFill>
              <a:srgbClr val="0078D4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3"/>
          <p:cNvSpPr/>
          <p:nvPr/>
        </p:nvSpPr>
        <p:spPr>
          <a:xfrm>
            <a:off x="5989320" y="4434840"/>
            <a:ext cx="3465576" cy="868680"/>
          </a:xfrm>
          <a:prstGeom prst="roundRect">
            <a:avLst>
              <a:gd name="adj" fmla="val 6316"/>
            </a:avLst>
          </a:prstGeom>
          <a:solidFill>
            <a:srgbClr val="F3F3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4"/>
          <p:cNvSpPr txBox="1"/>
          <p:nvPr/>
        </p:nvSpPr>
        <p:spPr>
          <a:xfrm>
            <a:off x="6172200" y="4434840"/>
            <a:ext cx="30998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 03</a:t>
            </a:r>
            <a:endParaRPr lang="en-US" sz="10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Secure a Spring Boot REST API</a:t>
            </a:r>
            <a:endParaRPr lang="en-US" sz="1000" dirty="0"/>
          </a:p>
        </p:txBody>
      </p:sp>
      <p:pic>
        <p:nvPicPr>
          <p:cNvPr id="21" name="Image 4" descr="icons/github-0000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4983480"/>
            <a:ext cx="365760" cy="36576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868680" y="489204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Repository: </a:t>
            </a:r>
            <a:r>
              <a:rPr lang="en-US" sz="120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[REPO URL — add before publishing]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Topic folder: </a:t>
            </a: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01-keycloak-basics</a:t>
            </a:r>
            <a:endParaRPr lang="en-US" sz="1200" dirty="0"/>
          </a:p>
        </p:txBody>
      </p:sp>
      <p:sp>
        <p:nvSpPr>
          <p:cNvPr id="23" name="Text 16"/>
          <p:cNvSpPr txBox="1"/>
          <p:nvPr/>
        </p:nvSpPr>
        <p:spPr>
          <a:xfrm>
            <a:off x="374904" y="5897880"/>
            <a:ext cx="9308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Presentation → Concept → Keycloak configuration → Working code → Hands-on demo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0" y="6592824"/>
            <a:ext cx="10058400" cy="1179576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18"/>
          <p:cNvSpPr txBox="1"/>
          <p:nvPr/>
        </p:nvSpPr>
        <p:spPr>
          <a:xfrm>
            <a:off x="374904" y="6702552"/>
            <a:ext cx="91897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 the code: [REPO URL]/01-keycloak-basics   ·   Next: Post 03 — secure a Spring Boot API</a:t>
            </a:r>
            <a:endParaRPr lang="en-US" sz="13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Sources: Keycloak Server Administration Guide — keycloak.org/docs/latest/server_admin</a:t>
            </a:r>
            <a:endParaRPr lang="en-US" sz="13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Keycloak Getting Started (Docker) — keycloak.org/getting-started/getting-started-docker  ·  Keycloak 26.7 release line</a:t>
            </a:r>
            <a:endParaRPr lang="en-US" sz="13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OpenID Connect Core 1.0 — openid.net/specs/openid-connect-core-1_0.html  ·  OAuth 2.0, RFC 6749 — datatracker.ietf.org/doc/html/rfc6749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10329</TotalTime>
  <Words>3360</Words>
  <Application>Microsoft Office PowerPoint</Application>
  <PresentationFormat>Custom</PresentationFormat>
  <Paragraphs>394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Consolas</vt:lpstr>
      <vt:lpstr>Segoe UI</vt:lpstr>
      <vt:lpstr>Segoe UI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Post 02 - What Is Keycloak?</dc:title>
  <dc:subject>PptxGenJS Presentation</dc:subject>
  <dc:creator>Ajay Shinde</dc:creator>
  <cp:lastModifiedBy>Ajay Shinde</cp:lastModifiedBy>
  <cp:revision>2</cp:revision>
  <dcterms:created xsi:type="dcterms:W3CDTF">2026-09-26T10:46:00Z</dcterms:created>
  <dcterms:modified xsi:type="dcterms:W3CDTF">2026-10-03T14:56:39Z</dcterms:modified>
</cp:coreProperties>
</file>