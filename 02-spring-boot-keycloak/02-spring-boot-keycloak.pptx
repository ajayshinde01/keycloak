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6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7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02 ended with a token from Keycloak. This post closes the loop: the Spring Boot API validates that token and makes an access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34564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329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IAM + KEYCLOAK + SPRING BOOT · POST 3 OF 20 · TOPIC 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1323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kern="0" spc="-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 a Spring Boot</a:t>
            </a:r>
            <a:endParaRPr lang="en-US" sz="4000" dirty="0"/>
          </a:p>
          <a:p>
            <a:pPr marL="0" indent="0">
              <a:buNone/>
            </a:pPr>
            <a:r>
              <a:rPr lang="en-US" sz="4000" kern="0" spc="-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with Keycloak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212848"/>
            <a:ext cx="6318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real vertical slice: Keycloak issues a signed JWT, Spring Boot validates it and answers 200, 401 or 403. Every result in this deck was run locally with Postman.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86600" y="457200"/>
            <a:ext cx="2514600" cy="2514600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</p:sp>
      <p:pic>
        <p:nvPicPr>
          <p:cNvPr id="7" name="Image 0" descr="/tmp/claude-0/-home-claude/5e9dc6c2-2abb-5b08-bd81-79447bd3712e/scratchpad/deck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097280"/>
            <a:ext cx="1234440" cy="12344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0040" y="3685032"/>
            <a:ext cx="5522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Where Post 02 stopped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447141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 02</a:t>
            </a:r>
            <a:endParaRPr lang="en-US" sz="1100" dirty="0"/>
          </a:p>
        </p:txBody>
      </p:sp>
      <p:pic>
        <p:nvPicPr>
          <p:cNvPr id="10" name="Image 1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64024"/>
            <a:ext cx="438912" cy="438912"/>
          </a:xfrm>
          <a:prstGeom prst="rect">
            <a:avLst/>
          </a:prstGeom>
        </p:spPr>
      </p:pic>
      <p:pic>
        <p:nvPicPr>
          <p:cNvPr id="11" name="Image 2" descr="/tmp/claude-0/-home-claude/5e9dc6c2-2abb-5b08-bd81-79447bd3712e/scratchpad/deck/icons/ticke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8737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07592" y="4489704"/>
            <a:ext cx="4297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already issues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access tokens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ajay and admin in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realm.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74320" y="543153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GAP</a:t>
            </a:r>
            <a:endParaRPr lang="en-US" sz="1100" dirty="0"/>
          </a:p>
        </p:txBody>
      </p:sp>
      <p:pic>
        <p:nvPicPr>
          <p:cNvPr id="14" name="Image 3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24144"/>
            <a:ext cx="438912" cy="438912"/>
          </a:xfrm>
          <a:prstGeom prst="rect">
            <a:avLst/>
          </a:prstGeom>
        </p:spPr>
      </p:pic>
      <p:pic>
        <p:nvPicPr>
          <p:cNvPr id="15" name="Image 4" descr="/tmp/claude-0/-home-claude/5e9dc6c2-2abb-5b08-bd81-79447bd3712e/scratchpad/deck/icons/questio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83387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07592" y="5449824"/>
            <a:ext cx="4297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API with no security setup cannot tell a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 from a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expired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one.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274320" y="63916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 03</a:t>
            </a:r>
            <a:endParaRPr lang="en-US" sz="1100" dirty="0"/>
          </a:p>
        </p:txBody>
      </p:sp>
      <p:pic>
        <p:nvPicPr>
          <p:cNvPr id="18" name="Image 5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684264"/>
            <a:ext cx="438912" cy="438912"/>
          </a:xfrm>
          <a:prstGeom prst="rect">
            <a:avLst/>
          </a:prstGeom>
        </p:spPr>
      </p:pic>
      <p:pic>
        <p:nvPicPr>
          <p:cNvPr id="19" name="Image 6" descr="/tmp/claude-0/-home-claude/5e9dc6c2-2abb-5b08-bd81-79447bd3712e/scratchpad/deck/icons/shield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6793992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307592" y="6409944"/>
            <a:ext cx="4297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API a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Server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valid token, no access. Roles decide what you can do.</a:t>
            </a:r>
            <a:endParaRPr lang="en-US" sz="1400" dirty="0"/>
          </a:p>
        </p:txBody>
      </p:sp>
      <p:sp>
        <p:nvSpPr>
          <p:cNvPr id="21" name="Shape 12"/>
          <p:cNvSpPr/>
          <p:nvPr/>
        </p:nvSpPr>
        <p:spPr>
          <a:xfrm>
            <a:off x="5824728" y="4526280"/>
            <a:ext cx="3776472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6053328" y="480060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6126480" y="480060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Postman / curl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8001000" y="4800600"/>
            <a:ext cx="137160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8074152" y="480060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demo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7013448" y="6217920"/>
            <a:ext cx="1417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7086600" y="621792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Account API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7424928" y="5029200"/>
            <a:ext cx="576072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0"/>
          <p:cNvSpPr/>
          <p:nvPr/>
        </p:nvSpPr>
        <p:spPr>
          <a:xfrm flipH="1">
            <a:off x="7424928" y="5276088"/>
            <a:ext cx="576072" cy="91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30" name="Text 21"/>
          <p:cNvSpPr txBox="1"/>
          <p:nvPr/>
        </p:nvSpPr>
        <p:spPr>
          <a:xfrm>
            <a:off x="7397496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6739128" y="5486400"/>
            <a:ext cx="548640" cy="7315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23"/>
          <p:cNvSpPr txBox="1"/>
          <p:nvPr/>
        </p:nvSpPr>
        <p:spPr>
          <a:xfrm>
            <a:off x="5870448" y="5760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token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8567928" y="6336792"/>
            <a:ext cx="438912" cy="438912"/>
          </a:xfrm>
          <a:prstGeom prst="ellipse">
            <a:avLst/>
          </a:prstGeom>
          <a:solidFill>
            <a:srgbClr val="CFE4F7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567928" y="6336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8156448" y="6812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Valid? Whose? Allowed?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What we will learn — and build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concepts, one working example. Each concept is shown on the same API, the same realm and the same two users.</a:t>
            </a:r>
            <a:endParaRPr lang="en-US" sz="1400" dirty="0"/>
          </a:p>
        </p:txBody>
      </p:sp>
      <p:pic>
        <p:nvPicPr>
          <p:cNvPr id="4" name="Image 0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0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Server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accepts tokens, not passwords</a:t>
            </a:r>
            <a:endParaRPr lang="en-US" sz="1400" dirty="0"/>
          </a:p>
        </p:txBody>
      </p:sp>
      <p:pic>
        <p:nvPicPr>
          <p:cNvPr id="6" name="Image 1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06624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60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 URI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property that points Spring at the realm</a:t>
            </a:r>
            <a:endParaRPr lang="en-US" sz="1400" dirty="0"/>
          </a:p>
        </p:txBody>
      </p:sp>
      <p:pic>
        <p:nvPicPr>
          <p:cNvPr id="8" name="Image 2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101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2296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validation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signature, issuer and timestamps on every call</a:t>
            </a:r>
            <a:endParaRPr lang="en-US" sz="1400" dirty="0"/>
          </a:p>
        </p:txBody>
      </p:sp>
      <p:pic>
        <p:nvPicPr>
          <p:cNvPr id="10" name="Image 3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13632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2960" y="3867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endpoints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rules plus </a:t>
            </a:r>
            <a:r>
              <a:rPr lang="en-US" sz="12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endParaRPr lang="en-US" sz="1400" dirty="0"/>
          </a:p>
        </p:txBody>
      </p:sp>
      <p:pic>
        <p:nvPicPr>
          <p:cNvPr id="12" name="Image 4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17136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22960" y="44714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vs 403 vs 200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answers, three different meanings</a:t>
            </a:r>
            <a:endParaRPr lang="en-US" sz="1400" dirty="0"/>
          </a:p>
        </p:txBody>
      </p:sp>
      <p:pic>
        <p:nvPicPr>
          <p:cNvPr id="14" name="Image 5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120640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22960" y="5074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expiry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Spring knows a token is too old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5120640" y="2011680"/>
            <a:ext cx="4572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5120640" y="2011680"/>
            <a:ext cx="45720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0"/>
          <p:cNvSpPr txBox="1"/>
          <p:nvPr/>
        </p:nvSpPr>
        <p:spPr>
          <a:xfrm>
            <a:off x="530352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working example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349240" y="2670048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49240" y="2670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Realm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6217920" y="267004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CFE4F7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6217920" y="2670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7699248" y="2633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 …:8080/realms/demo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349240" y="320040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5349240" y="3200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217920" y="320040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3F3F3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6217920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spring-boot-api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7699248" y="316382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· direct access grants (demo only)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5349240" y="3730752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5349240" y="3730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17920" y="373075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3F3F3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6217920" y="3730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ajay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7699248" y="36941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 USER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349240" y="4261104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5349240" y="4261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17920" y="4261104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3F3F3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6217920" y="4261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699248" y="42245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 USER, ADMIN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349240" y="4791456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5349240" y="4791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217920" y="4791456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3F3F3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6217920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699248" y="4754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3.5.16 · Java 21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5349240" y="5321808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5349240" y="53218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IdP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217920" y="53218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3F3F3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6217920" y="5321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7699248" y="52852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26.7.4 (start-dev, Docker)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5120640" y="6089904"/>
            <a:ext cx="4572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created by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scripts/provision-users.sh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(or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.ps1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against a running Keycloak, so the setup is repeatable.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374904" y="6089904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Realm, client, users and roles were explained in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02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Here we only use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The vertical slice — end to 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authenticates the user and signs the token. Spring Boot never sees a password; it only checks the token and the roles inside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057400"/>
            <a:ext cx="544982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31720"/>
            <a:ext cx="1737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33172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Postman / curl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or admin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187452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0752" y="233172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 :8080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560320"/>
            <a:ext cx="128016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2377440" y="2834640"/>
            <a:ext cx="1280160" cy="91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2221992"/>
            <a:ext cx="237744" cy="23774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80360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4892040" cy="2880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Spring Boot API :8081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08760" y="3017520"/>
            <a:ext cx="914" cy="77724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27632" y="3081528"/>
            <a:ext cx="237744" cy="23774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27632" y="3081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7947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37947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Bearer token filter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Authorization header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4251960"/>
            <a:ext cx="914" cy="14630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" y="3904488"/>
            <a:ext cx="237744" cy="23774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398264"/>
            <a:ext cx="2377440" cy="457200"/>
          </a:xfrm>
          <a:prstGeom prst="rect">
            <a:avLst/>
          </a:prstGeom>
          <a:solidFill>
            <a:srgbClr val="CFE4F7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43982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JwtDecoder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· iss · exp / nbf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4855464"/>
            <a:ext cx="914" cy="14630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" y="4507992"/>
            <a:ext cx="237744" cy="23774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507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5001768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500176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 converter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realm_access.roles → ROLE_*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120" y="5458968"/>
            <a:ext cx="914" cy="14630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5800" y="5111496"/>
            <a:ext cx="237744" cy="23774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5111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5605272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" y="560527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@PreAuthorize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hasRole / hasAnyRole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" y="5715000"/>
            <a:ext cx="237744" cy="23774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5800" y="5715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4251960"/>
            <a:ext cx="41148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49040" y="409651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749040" y="40965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49040" y="4096512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97680" y="4069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/ invalid / expired token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91840" y="5458968"/>
            <a:ext cx="41148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749040" y="530352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749040" y="53035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749040" y="5303520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297680" y="5276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token, missing role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91840" y="6062472"/>
            <a:ext cx="411480" cy="91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749040" y="5907024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749040" y="59070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200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297680" y="58795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runs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 flipH="1">
            <a:off x="3291840" y="3017520"/>
            <a:ext cx="1280160" cy="1618488"/>
          </a:xfrm>
          <a:prstGeom prst="line">
            <a:avLst/>
          </a:prstGeom>
          <a:noFill/>
          <a:ln w="12700">
            <a:solidFill>
              <a:srgbClr val="0078D4"/>
            </a:solidFill>
            <a:prstDash val="dash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160520" y="3081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JWKS (public keys)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053328" y="2057400"/>
            <a:ext cx="3611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Get a token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/realms/demo/protocol/openid-connect/token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ajay's credentials (password grant, demo only).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Call the API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&lt;access_token&gt;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Read the token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header on a protected URL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Validate the JWT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from Keycloak's JWKS, then signature,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Any failure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Map roles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roles become Spring authorities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ROLE_USER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Decide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missing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Role present → controller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Resource Server — the API trusts tokens, not passwords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OAuth 2.0 terms Keycloak is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server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issues tokens; our API is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server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accepts them. One starter and one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turn it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03504" y="21214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pom.xml  +  SecurityConfig.java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68880"/>
            <a:ext cx="4434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spring-boot-starter-oauth2-resource-server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@EnableMethodSecurity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SecurityFilterChain securityFilterChain(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HttpSecurity http)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http.csrf(csrf -&gt; csrf.disable())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.authorizeHttpRequests(auth -&gt; auth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.requestMatchers(</a:t>
            </a: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"/actuator/health"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</a:t>
            </a: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"/api/public"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.permitAll()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.anyRequest().authenticated()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.oauth2ResourceServer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(oauth -&gt; oauth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.jwt(jwt -&gt; jwt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.jwtAuthenticationConverter(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keycloakJwtAuthenticationConverter())));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http.build();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74904" y="64465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oauth2ResourceServer().jwt()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Spring read a Bearer JWT on every request. Everything not listed as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permitAll()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needs a valid token.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2011680"/>
            <a:ext cx="4160520" cy="2095594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0" descr="05-client-authentication-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011680"/>
            <a:ext cx="4160520" cy="209559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32120" y="4335874"/>
            <a:ext cx="4160520" cy="2430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 side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→ spring-boot-api → Capability config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Client authentication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(public client),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grants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so Postman can use the password grant.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holds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client secret and no passwords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only needs to know which issuer to trust (next slide).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Issuer URI — one property points Spring at the realm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 is the realm's identity: Keycloak URL +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/realms/&lt;realm&gt;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Spring uses it to discover the realm's keys and to check every token's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claim.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4480560" cy="1874520"/>
          </a:xfrm>
          <a:prstGeom prst="roundRect">
            <a:avLst>
              <a:gd name="adj" fmla="val 3902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03504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src/main/resources/application.yml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688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oauth2: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resourceserver: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jwt: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issuer-uri: </a:t>
            </a:r>
            <a:r>
              <a:rPr lang="en-US" sz="1000" b="1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http://localhost:8080/realms/demo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" y="4114800"/>
            <a:ext cx="3290593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0" descr="01-realm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4114800"/>
            <a:ext cx="3290593" cy="1783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74904" y="60807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realms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realm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one in the URL. A typo in the realm name means every token fails the issuer check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74920" y="2011680"/>
            <a:ext cx="4617720" cy="2234639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02-oidc-endpo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011680"/>
            <a:ext cx="4617720" cy="22346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4474919"/>
            <a:ext cx="4617720" cy="2337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Spring does with it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request that carries a JWT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Spring calls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/realms/demo/.well-known/openid-configuration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reads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jwks_uri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from then on requires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equal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is not coupled to Keycloak at startup, but the issuer string must match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scheme, host, port and realm.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JWT validation — what Spring checks on every call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happens locally inside the API with Keycloak's public key. Any failed check stops the request with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controller code runs.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057400"/>
            <a:ext cx="51663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457200" cy="457200"/>
          </a:xfrm>
          <a:prstGeom prst="rect">
            <a:avLst/>
          </a:prstGeom>
        </p:spPr>
      </p:pic>
      <p:pic>
        <p:nvPicPr>
          <p:cNvPr id="6" name="Image 1" descr="/tmp/claude-0/-home-claude/5e9dc6c2-2abb-5b08-bd81-79447bd3712e/scratchpad/deck/icons/key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4003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Bearer token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611880" y="2514600"/>
            <a:ext cx="365760" cy="914"/>
          </a:xfrm>
          <a:prstGeom prst="line">
            <a:avLst/>
          </a:prstGeom>
          <a:noFill/>
          <a:ln w="12700">
            <a:solidFill>
              <a:srgbClr val="505050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4023360" y="235000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023360" y="23500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023360" y="2350008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90288" y="2267712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on a protected URL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22960" y="2761488"/>
            <a:ext cx="914" cy="210312"/>
          </a:xfrm>
          <a:prstGeom prst="line">
            <a:avLst/>
          </a:prstGeom>
          <a:noFill/>
          <a:ln w="12700">
            <a:solidFill>
              <a:srgbClr val="D2D2D2"/>
            </a:solidFill>
            <a:prstDash val="solid"/>
            <a:tailEnd type="triangle"/>
          </a:ln>
        </p:spPr>
      </p:sp>
      <p:pic>
        <p:nvPicPr>
          <p:cNvPr id="14" name="Image 2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90088"/>
            <a:ext cx="457200" cy="457200"/>
          </a:xfrm>
          <a:prstGeom prst="rect">
            <a:avLst/>
          </a:prstGeom>
        </p:spPr>
      </p:pic>
      <p:pic>
        <p:nvPicPr>
          <p:cNvPr id="15" name="Image 3" descr="/tmp/claude-0/-home-claude/5e9dc6c2-2abb-5b08-bd81-79447bd3712e/scratchpad/deck/icons/search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10438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0083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key by kid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611880" y="3218688"/>
            <a:ext cx="365760" cy="914"/>
          </a:xfrm>
          <a:prstGeom prst="line">
            <a:avLst/>
          </a:prstGeom>
          <a:noFill/>
          <a:ln w="12700">
            <a:solidFill>
              <a:srgbClr val="505050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4023360" y="3054096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023360" y="30540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023360" y="3054096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590288" y="2971800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JWKS from jwks_uri, cached 5 min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822960" y="3465576"/>
            <a:ext cx="914" cy="210312"/>
          </a:xfrm>
          <a:prstGeom prst="line">
            <a:avLst/>
          </a:prstGeom>
          <a:noFill/>
          <a:ln w="12700">
            <a:solidFill>
              <a:srgbClr val="D2D2D2"/>
            </a:solidFill>
            <a:prstDash val="solid"/>
            <a:tailEnd type="triangle"/>
          </a:ln>
        </p:spPr>
      </p:sp>
      <p:pic>
        <p:nvPicPr>
          <p:cNvPr id="23" name="Image 4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94176"/>
            <a:ext cx="457200" cy="457200"/>
          </a:xfrm>
          <a:prstGeom prst="rect">
            <a:avLst/>
          </a:prstGeom>
        </p:spPr>
      </p:pic>
      <p:pic>
        <p:nvPicPr>
          <p:cNvPr id="24" name="Image 5" descr="/tmp/claude-0/-home-claude/5e9dc6c2-2abb-5b08-bd81-79447bd3712e/scratchpad/deck/icons/signatur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808476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88720" y="37124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Verify RS256 signature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611880" y="3922776"/>
            <a:ext cx="365760" cy="914"/>
          </a:xfrm>
          <a:prstGeom prst="line">
            <a:avLst/>
          </a:prstGeom>
          <a:noFill/>
          <a:ln w="12700">
            <a:solidFill>
              <a:srgbClr val="505050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4023360" y="3758184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4023360" y="3758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023360" y="3758184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90288" y="3675888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changed or forged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822960" y="4169664"/>
            <a:ext cx="914" cy="210312"/>
          </a:xfrm>
          <a:prstGeom prst="line">
            <a:avLst/>
          </a:prstGeom>
          <a:noFill/>
          <a:ln w="12700">
            <a:solidFill>
              <a:srgbClr val="D2D2D2"/>
            </a:solidFill>
            <a:prstDash val="solid"/>
            <a:tailEnd type="triangle"/>
          </a:ln>
        </p:spPr>
      </p:sp>
      <p:pic>
        <p:nvPicPr>
          <p:cNvPr id="32" name="Image 6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98264"/>
            <a:ext cx="457200" cy="457200"/>
          </a:xfrm>
          <a:prstGeom prst="rect">
            <a:avLst/>
          </a:prstGeom>
        </p:spPr>
      </p:pic>
      <p:pic>
        <p:nvPicPr>
          <p:cNvPr id="33" name="Image 7" descr="/tmp/claude-0/-home-claude/5e9dc6c2-2abb-5b08-bd81-79447bd3712e/scratchpad/deck/icons/badg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4512564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88720" y="4416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 iss = issuer-uri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3611880" y="4626864"/>
            <a:ext cx="365760" cy="914"/>
          </a:xfrm>
          <a:prstGeom prst="line">
            <a:avLst/>
          </a:prstGeom>
          <a:noFill/>
          <a:ln w="12700">
            <a:solidFill>
              <a:srgbClr val="505050"/>
            </a:solidFill>
            <a:prstDash val="solid"/>
            <a:tailEnd type="triangle"/>
          </a:ln>
        </p:spPr>
      </p:sp>
      <p:sp>
        <p:nvSpPr>
          <p:cNvPr id="36" name="Shape 26"/>
          <p:cNvSpPr/>
          <p:nvPr/>
        </p:nvSpPr>
        <p:spPr>
          <a:xfrm>
            <a:off x="4023360" y="446227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4023360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023360" y="4462272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4590288" y="4379976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realm or host</a:t>
            </a:r>
            <a:endParaRPr lang="en-US" sz="800" dirty="0"/>
          </a:p>
        </p:txBody>
      </p:sp>
      <p:sp>
        <p:nvSpPr>
          <p:cNvPr id="40" name="Shape 30"/>
          <p:cNvSpPr/>
          <p:nvPr/>
        </p:nvSpPr>
        <p:spPr>
          <a:xfrm>
            <a:off x="822960" y="4873752"/>
            <a:ext cx="914" cy="210312"/>
          </a:xfrm>
          <a:prstGeom prst="line">
            <a:avLst/>
          </a:prstGeom>
          <a:noFill/>
          <a:ln w="12700">
            <a:solidFill>
              <a:srgbClr val="D2D2D2"/>
            </a:solidFill>
            <a:prstDash val="solid"/>
            <a:tailEnd type="triangle"/>
          </a:ln>
        </p:spPr>
      </p:sp>
      <p:pic>
        <p:nvPicPr>
          <p:cNvPr id="41" name="Image 8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102352"/>
            <a:ext cx="457200" cy="457200"/>
          </a:xfrm>
          <a:prstGeom prst="rect">
            <a:avLst/>
          </a:prstGeom>
        </p:spPr>
      </p:pic>
      <p:pic>
        <p:nvPicPr>
          <p:cNvPr id="42" name="Image 9" descr="/tmp/claude-0/-home-claude/5e9dc6c2-2abb-5b08-bd81-79447bd3712e/scratchpad/deck/icons/hourglass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" y="5216652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188720" y="51206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 exp / nbf (60 s skew)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3611880" y="5330952"/>
            <a:ext cx="365760" cy="914"/>
          </a:xfrm>
          <a:prstGeom prst="line">
            <a:avLst/>
          </a:prstGeom>
          <a:noFill/>
          <a:ln w="12700">
            <a:solidFill>
              <a:srgbClr val="505050"/>
            </a:solidFill>
            <a:prstDash val="solid"/>
            <a:tailEnd type="triangle"/>
          </a:ln>
        </p:spPr>
      </p:sp>
      <p:sp>
        <p:nvSpPr>
          <p:cNvPr id="45" name="Shape 33"/>
          <p:cNvSpPr/>
          <p:nvPr/>
        </p:nvSpPr>
        <p:spPr>
          <a:xfrm>
            <a:off x="4023360" y="516636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46" name="Text 34"/>
          <p:cNvSpPr txBox="1"/>
          <p:nvPr/>
        </p:nvSpPr>
        <p:spPr>
          <a:xfrm>
            <a:off x="4023360" y="5166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4023360" y="5166360"/>
            <a:ext cx="502920" cy="310896"/>
          </a:xfrm>
          <a:prstGeom prst="roundRect">
            <a:avLst>
              <a:gd name="adj" fmla="val 17647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4590288" y="5084064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expired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822960" y="5577840"/>
            <a:ext cx="914" cy="210312"/>
          </a:xfrm>
          <a:prstGeom prst="line">
            <a:avLst/>
          </a:prstGeom>
          <a:noFill/>
          <a:ln w="12700">
            <a:solidFill>
              <a:srgbClr val="D2D2D2"/>
            </a:solidFill>
            <a:prstDash val="solid"/>
            <a:tailEnd type="triangle"/>
          </a:ln>
        </p:spPr>
      </p:sp>
      <p:pic>
        <p:nvPicPr>
          <p:cNvPr id="50" name="Image 10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806440"/>
            <a:ext cx="457200" cy="457200"/>
          </a:xfrm>
          <a:prstGeom prst="rect">
            <a:avLst/>
          </a:prstGeom>
        </p:spPr>
      </p:pic>
      <p:pic>
        <p:nvPicPr>
          <p:cNvPr id="51" name="Image 11" descr="/tmp/claude-0/-home-claude/5e9dc6c2-2abb-5b08-bd81-79447bd3712e/scratchpad/deck/icons/tag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" y="5920740"/>
            <a:ext cx="228600" cy="228600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1188720" y="58247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the Authentication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3611880" y="6035040"/>
            <a:ext cx="365760" cy="91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54" name="Shape 40"/>
          <p:cNvSpPr/>
          <p:nvPr/>
        </p:nvSpPr>
        <p:spPr>
          <a:xfrm>
            <a:off x="4023360" y="58704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/>
        </p:spPr>
      </p:sp>
      <p:sp>
        <p:nvSpPr>
          <p:cNvPr id="55" name="Text 41"/>
          <p:cNvSpPr txBox="1"/>
          <p:nvPr/>
        </p:nvSpPr>
        <p:spPr>
          <a:xfrm>
            <a:off x="4023360" y="58704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@PreAuthorize</a:t>
            </a:r>
            <a:endParaRPr lang="en-US" sz="1000" dirty="0"/>
          </a:p>
        </p:txBody>
      </p:sp>
      <p:sp>
        <p:nvSpPr>
          <p:cNvPr id="56" name="Shape 42"/>
          <p:cNvSpPr/>
          <p:nvPr/>
        </p:nvSpPr>
        <p:spPr>
          <a:xfrm>
            <a:off x="5760720" y="2057400"/>
            <a:ext cx="3931920" cy="994279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7" name="Image 12" descr="03-keys-t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2057400"/>
            <a:ext cx="3931920" cy="994279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5760720" y="3280279"/>
            <a:ext cx="3931920" cy="330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 UI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settings → Keys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active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RS256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key (Use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Its Kid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7UP71Cjrk…U0XX4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same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found in our tokens' header.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matters</a:t>
            </a:r>
            <a:endParaRPr lang="en-US" sz="1200" dirty="0"/>
          </a:p>
          <a:p>
            <a:pPr marL="0" indent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Keycloak has the private key. If one byte of the token changes, the signature check fails.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checked by default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Our tokens carry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"aud": "account"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Spring checks it only if you set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jwt.audiences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(covered in a later topic).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Inside the token — the claims the API reads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admin access token decoded on jwt.io. Each claim on the right has a job in the request you just saw.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3540767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13-jwt.io-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011680"/>
            <a:ext cx="3540767" cy="4526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4904" y="6675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Decoded payload of the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 (local demo token, already expired).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51960" y="2011680"/>
            <a:ext cx="543153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2176272"/>
          <a:ext cx="5157216" cy="36576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Claim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Value in this token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Used for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http://localhost:8080/realms/demo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equal issuer-uri → else 401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1791629009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expiry check → 401 when past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1791628709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issued at; exp − iat = 300 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preferred_username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principal name (our converter)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realm_access.roles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ADMIN, USER, 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mapped to ROLE_ADMIN, ROLE_USER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spring-boot-api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that asked for the token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account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validated by default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389120" y="598932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(not shown):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"alg": "RS256"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"kid": "7UP71Cjrk…U0XX4"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key from slide 6.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From Keycloak roles to Spring authorities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puts realm roles in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realm_access.roles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Spring only maps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default (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SCOPE_profile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SCOPE_email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so a small converter turns roles into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ROLE_*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4526280" cy="1379963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06-ajay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011680"/>
            <a:ext cx="4526280" cy="13799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4904" y="3501371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→ ajay → Role mapping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realm role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76906" y="2011680"/>
            <a:ext cx="430659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1" descr="06-admin-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906" y="2011680"/>
            <a:ext cx="4306590" cy="1463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76906" y="3584448"/>
            <a:ext cx="4306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→ admin → Role mapping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4904" y="406908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03504" y="41788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SecurityConfig.keycloakJwtAuthenticationConverter()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03504" y="4526280"/>
            <a:ext cx="5577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realm_access.roles + resource_access.spring-boot-api.roles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Stream.concat(extractRealmRoles(jwt).stream(),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extractClientRoles(jwt).stream())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.map(role -&gt; </a:t>
            </a: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SimpleGrantedAuthority(</a:t>
            </a:r>
            <a:r>
              <a:rPr lang="en-US" sz="1000" b="1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"ROLE_"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role))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.toList();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JwtAuthenticationToken(jwt, authorities,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jwt.getClaimAsString(</a:t>
            </a: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"preferred_username"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/api/me with ajay's token returns: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{"username":"ajay","authorities":[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"ROLE_offline_access","ROLE_uma_authorization",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"ROLE_default-roles-demo",</a:t>
            </a:r>
            <a:r>
              <a:rPr lang="en-US" sz="10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"ROLE_USER"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411480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the ROLE_ prefix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hasRole('ADMIN')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looks for the authority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Without this converter even admin gets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 roles too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under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resource_access.spring-boot-api.roles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are mapped the same way. This demo only uses realm roles.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Protected endpoints — the rules in code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layers: the filter chain decides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must be authenticated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each method decides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role is required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4343400" cy="3840480"/>
          </a:xfrm>
          <a:prstGeom prst="roundRect">
            <a:avLst>
              <a:gd name="adj" fmla="val 1905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03504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SecureController.java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68880"/>
            <a:ext cx="38862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("/api/public")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permitAll() in SecurityConfig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("/api/me")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valid token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("/api/accounts")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("hasAnyRole('USER', 'ADMIN')")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("/api/accounts")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("hasRole('ADMIN')")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("/api/accounts/{id}")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r>
              <a:rPr lang="en-US" sz="10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("hasRole('ADMIN')")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74904" y="608990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works because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@EnableMethodSecurity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2011680"/>
            <a:ext cx="470001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08" y="2194560"/>
          <a:ext cx="4480560" cy="3291840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Endpoint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Rule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No token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ajay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admin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/api/public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/api/accounts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or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/api/accounts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 /api/accounts/{id}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7"/>
          <p:cNvSpPr txBox="1"/>
          <p:nvPr/>
        </p:nvSpPr>
        <p:spPr>
          <a:xfrm>
            <a:off x="4983480" y="6089904"/>
            <a:ext cx="4700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results from the project README; the highlighted cases are proven with Postman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401 vs 403 vs 200 — three different answers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status code tells you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layer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said no. Same API, same Postman collection, three requests.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74904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 Unauthorized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" y="2011680"/>
            <a:ext cx="1600200" cy="347472"/>
          </a:xfrm>
          <a:prstGeom prst="roundRect">
            <a:avLst>
              <a:gd name="adj" fmla="val 15789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/api/me — no token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" y="2816352"/>
            <a:ext cx="2926080" cy="1848051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0" descr="07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816352"/>
            <a:ext cx="2926080" cy="18480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4904" y="4846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does not know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 are. The filter rejects the call; no controller code runs.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9584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9584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403 Forbidden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29584" y="2011680"/>
            <a:ext cx="1600200" cy="347472"/>
          </a:xfrm>
          <a:prstGeom prst="roundRect">
            <a:avLst>
              <a:gd name="adj" fmla="val 15789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9584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/api/accounts — ajay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29584" y="2816352"/>
            <a:ext cx="2926080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1" descr="10-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816352"/>
            <a:ext cx="2926080" cy="12923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29584" y="4846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is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ajay is known, but he has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the method needs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684264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078D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684264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200 OK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684264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/api/accounts — admin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684264" y="2816352"/>
            <a:ext cx="2926080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2" name="Image 2" descr="11-t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816352"/>
            <a:ext cx="2926080" cy="149961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84264" y="4846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token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{"message":"ADMIN can create accounts"}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74904" y="5897880"/>
            <a:ext cx="9308592" cy="777240"/>
          </a:xfrm>
          <a:prstGeom prst="rect">
            <a:avLst/>
          </a:prstGeom>
          <a:solidFill>
            <a:srgbClr val="CFE4F7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594360" y="589788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authentication failed (missing, invalid or expired token) → fix the token.   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authenticated but not allowed → fix the role.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Token expiry — how the API knows a token is too old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writes the deadline into the token as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API compares it with its own clock, with no call to Keycloak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3931920" cy="1562193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04-token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011680"/>
            <a:ext cx="3931920" cy="15621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4904" y="3683601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settings → Tokens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Access Token Lifespan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minutes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4904" y="4168233"/>
            <a:ext cx="3931920" cy="1787236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1" descr="08-access-token-expires-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4168233"/>
            <a:ext cx="3931920" cy="17872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4904" y="606519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response: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"expires_in": 300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seconds.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24315" y="2011680"/>
            <a:ext cx="4559181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2" descr="12-expired-tok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315" y="2011680"/>
            <a:ext cx="4559181" cy="2514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24315" y="4636008"/>
            <a:ext cx="45591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request after 5 minutes: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WWW-Authenticate: Bearer error="invalid_token"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…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"Jwt expired at 2026-10-10T10:40:18Z"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124315" y="5394960"/>
            <a:ext cx="455918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535795" y="5961888"/>
            <a:ext cx="3736221" cy="0"/>
          </a:xfrm>
          <a:prstGeom prst="line">
            <a:avLst/>
          </a:prstGeom>
          <a:noFill/>
          <a:ln w="38100">
            <a:solidFill>
              <a:srgbClr val="D2D2D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535795" y="5961888"/>
            <a:ext cx="2054922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62643" y="5888736"/>
            <a:ext cx="146304" cy="14630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444355" y="5577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iat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444355" y="6071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1791628709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517564" y="5888736"/>
            <a:ext cx="146304" cy="14630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13476" y="5577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 = iat + 300 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813476" y="6071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1791629009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198864" y="5888736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17536" y="5577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+60 s skew → 401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307195" y="6345936"/>
            <a:ext cx="419342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 from the admin token on slide 7. A new token without a new login needs refresh tokens (later topic).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Hands-on — reproduce it in 10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runs on your machine: Docker for Keycloak, Java 21 + Maven for the API, Postman or curl for the calls.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665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74904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26.7.4 on :8080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" y="25237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4904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./scripts/provision-users.sh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</a:t>
            </a:r>
            <a:r>
              <a:rPr lang="en-US" sz="10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.ps1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" y="29809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926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realm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Admin Console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" y="34381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83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on :8081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" y="38953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4904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40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without a token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200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" y="43525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4904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297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without a token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401 · slide 10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" y="48097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904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754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 token for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en-US" sz="10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expires_in: 300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slide 11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" y="52669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4904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12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/api/accounts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ajay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200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4904" y="57241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74904" y="5724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669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/api/accounts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ajay, then admin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403, 200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4904" y="618134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4904" y="6181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6126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5 min, repeat any call  </a:t>
            </a: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401 "Jwt expired" · slide 11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201168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80644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7 — token for ajay (README)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806440" y="24688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"http://localhost:8080/realms/demo/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protocol/openid-connect/token"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"Content-Type: application/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x-www-form-urlencoded"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</a:t>
            </a:r>
            <a:r>
              <a:rPr lang="en-US" sz="9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"client_id=spring-boot-api"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</a:t>
            </a:r>
            <a:r>
              <a:rPr lang="en-US" sz="9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"grant_type=password"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</a:t>
            </a:r>
            <a:r>
              <a:rPr lang="en-US" sz="9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"username=ajay"</a:t>
            </a:r>
            <a:r>
              <a:rPr lang="en-US" sz="9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</a:t>
            </a:r>
            <a:r>
              <a:rPr lang="en-US" sz="95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"password=ajay123"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77840" y="4206240"/>
            <a:ext cx="41148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76072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Verification checklist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4700016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07608" y="4645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starts on :8080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26680" y="4700016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73568" y="4645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demo provisioned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60720" y="50840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07608" y="5029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starts on :8081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26680" y="50840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73568" y="5029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token → 401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60720" y="546811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07608" y="5413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token → GET 200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26680" y="546811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73568" y="5413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→ POST 403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5852160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07608" y="57972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→ POST 200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726680" y="5852160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73568" y="57972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Expired token → 401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74904" y="6629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Postman: import 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Spring-boot-auth-demo.postman_collection.json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paste a </a:t>
            </a: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 into each request's Bearer field.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Common mistakes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problems in this step show up as an unexpected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code tells you where to look.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11680"/>
            <a:ext cx="2926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194560"/>
            <a:ext cx="457200" cy="457200"/>
          </a:xfrm>
          <a:prstGeom prst="rect">
            <a:avLst/>
          </a:prstGeom>
        </p:spPr>
      </p:pic>
      <p:pic>
        <p:nvPicPr>
          <p:cNvPr id="6" name="Image 1" descr="/tmp/claude-0/-home-claude/5e9dc6c2-2abb-5b08-bd81-79447bd3712e/scratchpad/deck/icons/bad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30886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24712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Issuer mismatch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642616" y="2258568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642616" y="225856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42616" y="2258568"/>
            <a:ext cx="475488" cy="292608"/>
          </a:xfrm>
          <a:prstGeom prst="roundRect">
            <a:avLst>
              <a:gd name="adj" fmla="val 18750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57784" y="2788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fetched from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another realm, so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≠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issuer-uri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Use exactly the same URL everywhere.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529584" y="2011680"/>
            <a:ext cx="2926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Image 2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2194560"/>
            <a:ext cx="457200" cy="457200"/>
          </a:xfrm>
          <a:prstGeom prst="rect">
            <a:avLst/>
          </a:prstGeom>
        </p:spPr>
      </p:pic>
      <p:pic>
        <p:nvPicPr>
          <p:cNvPr id="14" name="Image 3" descr="/tmp/claude-0/-home-claude/5e9dc6c2-2abb-5b08-bd81-79447bd3712e/scratchpad/deck/icons/tag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764" y="230886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79392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 never mapped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797296" y="2258568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5797296" y="225856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403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797296" y="2258568"/>
            <a:ext cx="475488" cy="292608"/>
          </a:xfrm>
          <a:prstGeom prst="roundRect">
            <a:avLst>
              <a:gd name="adj" fmla="val 18750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712464" y="2788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the converter Spring only sees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SCOPE_*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even admin is forbidden.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684264" y="2011680"/>
            <a:ext cx="2926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4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194560"/>
            <a:ext cx="457200" cy="457200"/>
          </a:xfrm>
          <a:prstGeom prst="rect">
            <a:avLst/>
          </a:prstGeom>
        </p:spPr>
      </p:pic>
      <p:pic>
        <p:nvPicPr>
          <p:cNvPr id="22" name="Image 5" descr="/tmp/claude-0/-home-claude/5e9dc6c2-2abb-5b08-bd81-79447bd3712e/scratchpad/deck/icons/questio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444" y="230886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34072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Missing ROLE_ prefix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8951976" y="2258568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8951976" y="225856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403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8951976" y="2258568"/>
            <a:ext cx="475488" cy="292608"/>
          </a:xfrm>
          <a:prstGeom prst="roundRect">
            <a:avLst>
              <a:gd name="adj" fmla="val 18750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867144" y="2788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hasRole('ADMIN')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looks for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ROLE_ADMIN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Prefix in the converter, not in the annotation.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374904" y="4343400"/>
            <a:ext cx="2926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9" name="Image 6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526280"/>
            <a:ext cx="457200" cy="457200"/>
          </a:xfrm>
          <a:prstGeom prst="rect">
            <a:avLst/>
          </a:prstGeom>
        </p:spPr>
      </p:pic>
      <p:pic>
        <p:nvPicPr>
          <p:cNvPr id="30" name="Image 7" descr="/tmp/claude-0/-home-claude/5e9dc6c2-2abb-5b08-bd81-79447bd3712e/scratchpad/deck/icons/hourglas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464058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124712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Reusing an old token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2642616" y="4590288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33" name="Text 23"/>
          <p:cNvSpPr txBox="1"/>
          <p:nvPr/>
        </p:nvSpPr>
        <p:spPr>
          <a:xfrm>
            <a:off x="2642616" y="459028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401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2642616" y="4590288"/>
            <a:ext cx="475488" cy="292608"/>
          </a:xfrm>
          <a:prstGeom prst="roundRect">
            <a:avLst>
              <a:gd name="adj" fmla="val 18750"/>
            </a:avLst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557784" y="5120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live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minutes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Read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request a new one, rather than raising the lifespan.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3529584" y="4343400"/>
            <a:ext cx="2926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7" name="Image 8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4526280"/>
            <a:ext cx="457200" cy="457200"/>
          </a:xfrm>
          <a:prstGeom prst="rect">
            <a:avLst/>
          </a:prstGeom>
        </p:spPr>
      </p:pic>
      <p:pic>
        <p:nvPicPr>
          <p:cNvPr id="38" name="Image 9" descr="/tmp/claude-0/-home-claude/5e9dc6c2-2abb-5b08-bd81-79447bd3712e/scratchpad/deck/icons/exchang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6764" y="4640580"/>
            <a:ext cx="228600" cy="2286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279392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Assuming aud is checked</a:t>
            </a:r>
            <a:endParaRPr lang="en-US" sz="1300" dirty="0"/>
          </a:p>
        </p:txBody>
      </p:sp>
      <p:sp>
        <p:nvSpPr>
          <p:cNvPr id="40" name="Text 28"/>
          <p:cNvSpPr txBox="1"/>
          <p:nvPr/>
        </p:nvSpPr>
        <p:spPr>
          <a:xfrm>
            <a:off x="3712464" y="5120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token has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aud: "account"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Add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jwt.audiences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when many APIs share a realm (later topic).</a:t>
            </a:r>
            <a:endParaRPr lang="en-US" sz="1200" dirty="0"/>
          </a:p>
        </p:txBody>
      </p:sp>
      <p:sp>
        <p:nvSpPr>
          <p:cNvPr id="41" name="Shape 29"/>
          <p:cNvSpPr/>
          <p:nvPr/>
        </p:nvSpPr>
        <p:spPr>
          <a:xfrm>
            <a:off x="6684264" y="4343400"/>
            <a:ext cx="2926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42" name="Image 10" descr="/tmp/claude-0/-home-claude/5e9dc6c2-2abb-5b08-bd81-79447bd3712e/scratchpad/deck/icons/circle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4526280"/>
            <a:ext cx="457200" cy="457200"/>
          </a:xfrm>
          <a:prstGeom prst="rect">
            <a:avLst/>
          </a:prstGeom>
        </p:spPr>
      </p:pic>
      <p:pic>
        <p:nvPicPr>
          <p:cNvPr id="43" name="Image 11" descr="/tmp/claude-0/-home-claude/5e9dc6c2-2abb-5b08-bd81-79447bd3712e/scratchpad/deck/icons/warn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444" y="4640580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7434072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Password grant in production</a:t>
            </a:r>
            <a:endParaRPr lang="en-US" sz="1300" dirty="0"/>
          </a:p>
        </p:txBody>
      </p:sp>
      <p:sp>
        <p:nvSpPr>
          <p:cNvPr id="45" name="Text 31"/>
          <p:cNvSpPr txBox="1"/>
          <p:nvPr/>
        </p:nvSpPr>
        <p:spPr>
          <a:xfrm>
            <a:off x="6867144" y="5120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here only to demo with curl. Real apps use Authorization Code + PKCE (later topic).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Key takeaways</a:t>
            </a:r>
            <a:endParaRPr lang="en-US" sz="2400" dirty="0"/>
          </a:p>
        </p:txBody>
      </p:sp>
      <p:pic>
        <p:nvPicPr>
          <p:cNvPr id="3" name="Image 0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is a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Server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it validates Keycloak's JWT and never handles passwords.</a:t>
            </a:r>
            <a:endParaRPr lang="en-US" sz="1400" dirty="0"/>
          </a:p>
        </p:txBody>
      </p:sp>
      <p:pic>
        <p:nvPicPr>
          <p:cNvPr id="5" name="Image 1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317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22860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issuer-uri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single link to Keycloak: keys come from its JWKS and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must match it.</a:t>
            </a:r>
            <a:endParaRPr lang="en-US" sz="1400" dirty="0"/>
          </a:p>
        </p:txBody>
      </p:sp>
      <p:pic>
        <p:nvPicPr>
          <p:cNvPr id="7" name="Image 2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0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" y="3246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fix the token (missing, forged, wrong issuer, expired).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fix the role.</a:t>
            </a:r>
            <a:endParaRPr lang="en-US" sz="1400" dirty="0"/>
          </a:p>
        </p:txBody>
      </p:sp>
      <p:pic>
        <p:nvPicPr>
          <p:cNvPr id="9" name="Image 3" descr="/tmp/claude-0/-home-claude/5e9dc6c2-2abb-5b08-bd81-79447bd3712e/scratchpad/deck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519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" y="42062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Expiry is read from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inside the token. Here tokens live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minutes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with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clock skew.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5349240" y="1325880"/>
            <a:ext cx="4334256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6"/>
          <p:cNvSpPr txBox="1"/>
          <p:nvPr/>
        </p:nvSpPr>
        <p:spPr>
          <a:xfrm>
            <a:off x="5532120" y="1417320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local demo to production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28800"/>
          <a:ext cx="4059936" cy="332841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 this demo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 a real system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http://localhost:8080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 hostname of the IdP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start-dev, in-container data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 mode + database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 grant via curl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 Code + PKCE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not checked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audiences set per API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re-login every 5 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refresh tokens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API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 services, gateway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5532120" y="55321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the right column is covered in a later topic.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0" y="6592824"/>
            <a:ext cx="10058400" cy="1179576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16" name="Image 4" descr="/tmp/claude-0/-home-claude/5e9dc6c2-2abb-5b08-bd81-79447bd3712e/scratchpad/deck/icons/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6729984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49808" y="6711696"/>
            <a:ext cx="8961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code: github.com/ajayshinde01/keycloak/tree/main/02-spring-boot-keycloak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it: README.md in that folder · Postman collection included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 Reference, OAuth 2.0 Resource Server JWT: docs.spring.io/spring-security/reference/servlet/oauth2/resource-server/jwt.html · RFC 6750 §3.1 Bearer token errors · RFC 7519 JWT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26 Server Administration Guide: keycloak.org/docs/latest/server_admin · Screenshots and tokens: local demo run, 10 Oct 2026 (Keycloak 26.7.4, Spring Boot 3.5.16)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2717</Words>
  <Application>Microsoft Office PowerPoint</Application>
  <PresentationFormat>Custom</PresentationFormat>
  <Paragraphs>382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a Spring Boot REST API with Keycloak</dc:title>
  <dc:subject>IAM + Keycloak + Spring Boot series, Topic 03</dc:subject>
  <dc:creator>Ajay Shinde</dc:creator>
  <cp:lastModifiedBy>Ajay Shinde</cp:lastModifiedBy>
  <cp:revision>2</cp:revision>
  <dcterms:created xsi:type="dcterms:W3CDTF">2026-10-10T10:57:18Z</dcterms:created>
  <dcterms:modified xsi:type="dcterms:W3CDTF">2026-10-11T04:26:12Z</dcterms:modified>
</cp:coreProperties>
</file>