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75" r:id="rId16"/>
    <p:sldId id="269" r:id="rId17"/>
    <p:sldId id="270" r:id="rId18"/>
    <p:sldId id="271" r:id="rId19"/>
    <p:sldId id="272" r:id="rId20"/>
    <p:sldId id="273" r:id="rId21"/>
  </p:sld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92" d="100"/>
          <a:sy n="92" d="100"/>
        </p:scale>
        <p:origin x="18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5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about the problem only. The three services are the same banking services used across the series (Account, Payment, Customer, Notification). No stat is quoted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names (bank-demo, bank-app, customer, retail-customers, ajay, akash) are the planned values for the local build. If you rename anything while building in Keycloak, update the deck to match before publishing.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definition short. SAML 2.0 is listed as a supported standard but is not covered in this series post. Capabilities map: tokens and roles are demonstrated on slides 11-12.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(JWKS / public key verification) is only introduced here; implementation belongs to Post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labels are from the Keycloak 26.x admin console (Manage / Configure sections). Confirm against your local version when capturing 00-admin-console.png.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01-realm-create.png: Create realm form with bank-demo typed in, before clicking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02-client-capability.png on step 2 (Capability config). Also capture 03-client-credentials.png: bank-app &gt; Credentials tab showing (blurred) client secret. Direct access grants is enabled only so the demo can call the token endpoint with curl; real apps use Authorization Code + PKCE.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04-user-create.png (Create user form for ajay) and optionally 05-user-credentials.png (Set password dialog, Temporary off). Do not show real passwords.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06-realm-role.png: Realm roles list after creating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07-group-role-mapping.png (group Role mapping tab) and 08-user-groups.png (ajay &gt; Groups tab showing retail-customers).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running locally: paste the real (truncated) response into the second card and capture 09-token-response.png if you want a terminal screenshot. The 300-second value is Keycloak's default access token lifespan; confirm in Realm settings &gt;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6422-A38A-65E4-9088-6DFFB154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44062-5A8D-4089-1BEF-7633B12F5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C27E4-5002-983B-219A-E061E2194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Your curl, with the closing quote fixed and scope=openid added. The response card is from your real run, which was sent WITHOUT scope=openid — slide 15 compares both. Re-run with scope=openid and, if you like, capture 09-token-response.png.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177B-4F48-1193-0F57-71E408614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47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Claims are from your real token (signature/other claims omitted). aud "account" and resource_access.account come from Keycloak's built-in account client via default roles — not something you configured. Capture 10-evaluate-ajay.png and 11-evaluate-akash.png from Clients &gt; bank-app &gt; Client scopes &gt; Evaluate &gt; Generated access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Confirmed by Ajay's run: without scope=openid the response had no id_token ("scope": "email profile"). Slide 15 shows both. Optional screenshot 12-openid-configuration.png: the discovery JSON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is shown dashed because it is implemented in Post 03. RS256 is the realm default signature algorithm; confirm under Realm settings &gt; Tokens and Realm settings &gt;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tag 26.7 matches the current Keycloak release line as of Sept 2026 (26.7.x). Pin the exact tag you actually used when building locally. KC_BOOTSTRAP_ADMIN_* is the 26.x variable name (older KEYCLOAK_ADMIN is deprecated).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Mistakes limited to this topic. Group Membership mapper is configured via Client scopes; covered in a later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items are named, not explained — each gets its own post later in the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[REPO URL] before publishing. Topic folder name 01-keycloak-basics assumed from the earlier Post 02 README plan — confirm it matches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34564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2004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IAM + KEYCLOAK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49808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</a:t>
            </a:r>
            <a:endParaRPr lang="en-US" sz="4800" dirty="0"/>
          </a:p>
          <a:p>
            <a:pPr marL="0" indent="0">
              <a:buNone/>
            </a:pPr>
            <a:r>
              <a:rPr lang="en-US" sz="48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Keycloak?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21284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Realms, clients, users, roles and groups — and how authentication, authorization, OAuth 2.0 and OpenID Connect fit together, using one banking example you can rebuild locally.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411480"/>
            <a:ext cx="2651760" cy="265176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269480" y="731520"/>
            <a:ext cx="2011680" cy="2011680"/>
          </a:xfrm>
          <a:prstGeom prst="ellipse">
            <a:avLst/>
          </a:prstGeom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lo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18872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0040" y="3685032"/>
            <a:ext cx="5522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problem before Keycloak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447141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LOGIN</a:t>
            </a:r>
            <a:endParaRPr lang="en-US" sz="1100" dirty="0"/>
          </a:p>
        </p:txBody>
      </p:sp>
      <p:pic>
        <p:nvPicPr>
          <p:cNvPr id="11" name="Image 1" descr="icons/desktop-D2D2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64024"/>
            <a:ext cx="411480" cy="411480"/>
          </a:xfrm>
          <a:prstGeom prst="rect">
            <a:avLst/>
          </a:prstGeom>
        </p:spPr>
      </p:pic>
      <p:pic>
        <p:nvPicPr>
          <p:cNvPr id="12" name="Image 2" descr="icons/key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010912"/>
            <a:ext cx="205740" cy="2057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07592" y="447141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Account, Payment and Customer services each build their own login form and password storage.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74320" y="543153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</a:t>
            </a:r>
            <a:endParaRPr lang="en-US" sz="1100" dirty="0"/>
          </a:p>
        </p:txBody>
      </p:sp>
      <p:pic>
        <p:nvPicPr>
          <p:cNvPr id="15" name="Image 3" descr="icons/users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724144"/>
            <a:ext cx="411480" cy="411480"/>
          </a:xfrm>
          <a:prstGeom prst="rect">
            <a:avLst/>
          </a:prstGeom>
        </p:spPr>
      </p:pic>
      <p:pic>
        <p:nvPicPr>
          <p:cNvPr id="16" name="Image 4" descr="icons/tag-0078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971032"/>
            <a:ext cx="205740" cy="2057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07592" y="543153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keeps its own role rules, so “who may see a balance?” gets three different answers.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274320" y="63916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SESSIONS</a:t>
            </a:r>
            <a:endParaRPr lang="en-US" sz="1100" dirty="0"/>
          </a:p>
        </p:txBody>
      </p:sp>
      <p:pic>
        <p:nvPicPr>
          <p:cNvPr id="19" name="Image 5" descr="icons/server-D2D2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684264"/>
            <a:ext cx="411480" cy="411480"/>
          </a:xfrm>
          <a:prstGeom prst="rect">
            <a:avLst/>
          </a:prstGeom>
        </p:spPr>
      </p:pic>
      <p:pic>
        <p:nvPicPr>
          <p:cNvPr id="20" name="Image 6" descr="icons/clock-0078D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6931152"/>
            <a:ext cx="205740" cy="20574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07592" y="639165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Sessions, tokens and logout are re-implemented per service and drift apart over time.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5824728" y="4526280"/>
            <a:ext cx="3776472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4"/>
          <p:cNvSpPr txBox="1"/>
          <p:nvPr/>
        </p:nvSpPr>
        <p:spPr>
          <a:xfrm>
            <a:off x="6007608" y="463600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Before: every service owns identity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007608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6"/>
          <p:cNvSpPr txBox="1"/>
          <p:nvPr/>
        </p:nvSpPr>
        <p:spPr>
          <a:xfrm>
            <a:off x="6080760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6007608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 txBox="1"/>
          <p:nvPr/>
        </p:nvSpPr>
        <p:spPr>
          <a:xfrm>
            <a:off x="6080760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6007608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0"/>
          <p:cNvSpPr txBox="1"/>
          <p:nvPr/>
        </p:nvSpPr>
        <p:spPr>
          <a:xfrm>
            <a:off x="6080760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007608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 txBox="1"/>
          <p:nvPr/>
        </p:nvSpPr>
        <p:spPr>
          <a:xfrm>
            <a:off x="6080760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007608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 txBox="1"/>
          <p:nvPr/>
        </p:nvSpPr>
        <p:spPr>
          <a:xfrm>
            <a:off x="6080760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7168896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 txBox="1"/>
          <p:nvPr/>
        </p:nvSpPr>
        <p:spPr>
          <a:xfrm>
            <a:off x="7242048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7168896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 txBox="1"/>
          <p:nvPr/>
        </p:nvSpPr>
        <p:spPr>
          <a:xfrm>
            <a:off x="7242048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168896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0"/>
          <p:cNvSpPr txBox="1"/>
          <p:nvPr/>
        </p:nvSpPr>
        <p:spPr>
          <a:xfrm>
            <a:off x="7242048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7168896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 txBox="1"/>
          <p:nvPr/>
        </p:nvSpPr>
        <p:spPr>
          <a:xfrm>
            <a:off x="7242048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7168896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 txBox="1"/>
          <p:nvPr/>
        </p:nvSpPr>
        <p:spPr>
          <a:xfrm>
            <a:off x="7242048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330184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6"/>
          <p:cNvSpPr txBox="1"/>
          <p:nvPr/>
        </p:nvSpPr>
        <p:spPr>
          <a:xfrm>
            <a:off x="8403336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330184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 txBox="1"/>
          <p:nvPr/>
        </p:nvSpPr>
        <p:spPr>
          <a:xfrm>
            <a:off x="8403336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8330184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0"/>
          <p:cNvSpPr txBox="1"/>
          <p:nvPr/>
        </p:nvSpPr>
        <p:spPr>
          <a:xfrm>
            <a:off x="8403336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8330184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2"/>
          <p:cNvSpPr txBox="1"/>
          <p:nvPr/>
        </p:nvSpPr>
        <p:spPr>
          <a:xfrm>
            <a:off x="8403336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8330184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4"/>
          <p:cNvSpPr txBox="1"/>
          <p:nvPr/>
        </p:nvSpPr>
        <p:spPr>
          <a:xfrm>
            <a:off x="8403336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007608" y="678484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logins · 3 password stores · 3 role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What we will learn — and build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concept in this post is shown on one small example you can reproduce on your own machine with a local Keycloak.</a:t>
            </a:r>
            <a:endParaRPr lang="en-US" sz="1400" dirty="0"/>
          </a:p>
        </p:txBody>
      </p:sp>
      <p:pic>
        <p:nvPicPr>
          <p:cNvPr id="4" name="Image 0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5798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Keycloak is and why teams use it</a:t>
            </a:r>
            <a:endParaRPr lang="en-US" sz="1400" dirty="0"/>
          </a:p>
        </p:txBody>
      </p:sp>
      <p:pic>
        <p:nvPicPr>
          <p:cNvPr id="6" name="Image 1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8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Realm, client, user, role and group</a:t>
            </a:r>
            <a:endParaRPr lang="en-US" sz="1400" dirty="0"/>
          </a:p>
        </p:txBody>
      </p:sp>
      <p:pic>
        <p:nvPicPr>
          <p:cNvPr id="8" name="Image 2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08960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054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vs authorization</a:t>
            </a:r>
            <a:endParaRPr lang="en-US" sz="1400" dirty="0"/>
          </a:p>
        </p:txBody>
      </p:sp>
      <p:pic>
        <p:nvPicPr>
          <p:cNvPr id="10" name="Image 3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8444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3529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vs OpenID Connect</a:t>
            </a:r>
            <a:endParaRPr lang="en-US" sz="1400" dirty="0"/>
          </a:p>
        </p:txBody>
      </p:sp>
      <p:pic>
        <p:nvPicPr>
          <p:cNvPr id="12" name="Image 4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59936"/>
            <a:ext cx="219456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40050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each concept lives in the Admin Console</a:t>
            </a:r>
            <a:endParaRPr lang="en-US" sz="1400" dirty="0"/>
          </a:p>
        </p:txBody>
      </p:sp>
      <p:pic>
        <p:nvPicPr>
          <p:cNvPr id="14" name="Image 5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35424"/>
            <a:ext cx="219456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77240" y="4480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Keycloak locally with Docker</a:t>
            </a:r>
            <a:endParaRPr lang="en-US" sz="1400" dirty="0"/>
          </a:p>
        </p:txBody>
      </p:sp>
      <p:pic>
        <p:nvPicPr>
          <p:cNvPr id="16" name="Image 6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10912"/>
            <a:ext cx="21945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77240" y="4956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 real token for a real user</a:t>
            </a:r>
            <a:endParaRPr lang="en-US" sz="1400" dirty="0"/>
          </a:p>
        </p:txBody>
      </p:sp>
      <p:pic>
        <p:nvPicPr>
          <p:cNvPr id="18" name="Image 7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0"/>
            <a:ext cx="219456" cy="219456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77240" y="5431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roles inside the token</a:t>
            </a:r>
            <a:endParaRPr lang="en-US" sz="1400" dirty="0"/>
          </a:p>
        </p:txBody>
      </p:sp>
      <p:sp>
        <p:nvSpPr>
          <p:cNvPr id="20" name="Shape 10"/>
          <p:cNvSpPr/>
          <p:nvPr/>
        </p:nvSpPr>
        <p:spPr>
          <a:xfrm>
            <a:off x="5440680" y="2057400"/>
            <a:ext cx="4242816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1"/>
          <p:cNvSpPr txBox="1"/>
          <p:nvPr/>
        </p:nvSpPr>
        <p:spPr>
          <a:xfrm>
            <a:off x="56692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working example</a:t>
            </a:r>
            <a:endParaRPr lang="en-US" sz="1100" dirty="0"/>
          </a:p>
        </p:txBody>
      </p:sp>
      <p:sp>
        <p:nvSpPr>
          <p:cNvPr id="22" name="Shape 12"/>
          <p:cNvSpPr/>
          <p:nvPr/>
        </p:nvSpPr>
        <p:spPr>
          <a:xfrm>
            <a:off x="5669280" y="2560320"/>
            <a:ext cx="3785616" cy="41148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/>
          <p:cNvSpPr txBox="1"/>
          <p:nvPr/>
        </p:nvSpPr>
        <p:spPr>
          <a:xfrm>
            <a:off x="5742432" y="256032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 ·  bank-demo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5897880" y="2971800"/>
            <a:ext cx="914" cy="2505456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5"/>
          <p:cNvSpPr/>
          <p:nvPr/>
        </p:nvSpPr>
        <p:spPr>
          <a:xfrm>
            <a:off x="5897880" y="3355848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6"/>
          <p:cNvSpPr/>
          <p:nvPr/>
        </p:nvSpPr>
        <p:spPr>
          <a:xfrm>
            <a:off x="6126480" y="3154680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7"/>
          <p:cNvSpPr txBox="1"/>
          <p:nvPr/>
        </p:nvSpPr>
        <p:spPr>
          <a:xfrm>
            <a:off x="6236208" y="31546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bank-app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requests tokens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5897880" y="3886200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6126480" y="3685032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0"/>
          <p:cNvSpPr txBox="1"/>
          <p:nvPr/>
        </p:nvSpPr>
        <p:spPr>
          <a:xfrm>
            <a:off x="6236208" y="368503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views own accounts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897880" y="4416552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2"/>
          <p:cNvSpPr/>
          <p:nvPr/>
        </p:nvSpPr>
        <p:spPr>
          <a:xfrm>
            <a:off x="6126480" y="4215384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3"/>
          <p:cNvSpPr txBox="1"/>
          <p:nvPr/>
        </p:nvSpPr>
        <p:spPr>
          <a:xfrm>
            <a:off x="6236208" y="421538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retail-customers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customer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897880" y="4946904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5"/>
          <p:cNvSpPr/>
          <p:nvPr/>
        </p:nvSpPr>
        <p:spPr>
          <a:xfrm>
            <a:off x="6126480" y="4745736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 txBox="1"/>
          <p:nvPr/>
        </p:nvSpPr>
        <p:spPr>
          <a:xfrm>
            <a:off x="6236208" y="474573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ajay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 retail-customers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897880" y="5477256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6126480" y="5276088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9"/>
          <p:cNvSpPr txBox="1"/>
          <p:nvPr/>
        </p:nvSpPr>
        <p:spPr>
          <a:xfrm>
            <a:off x="6236208" y="527608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akash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 group, no role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5440680" y="6199632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realm, one client, one role, one group, two users.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should be allowed;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should not.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What is Keycloak?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is an open-source Identity and Access Management (IAM) server. Applications hand login over to it and receive standard, signed tokens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signin-D2D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359152"/>
            <a:ext cx="457200" cy="457200"/>
          </a:xfrm>
          <a:prstGeom prst="rect">
            <a:avLst/>
          </a:prstGeom>
        </p:spPr>
      </p:pic>
      <p:pic>
        <p:nvPicPr>
          <p:cNvPr id="6" name="Image 1" descr="icons/key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63347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9576" y="2240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79576" y="2569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forms, passwords, MFA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91256" y="205740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icons/users-D2D2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2359152"/>
            <a:ext cx="457200" cy="457200"/>
          </a:xfrm>
          <a:prstGeom prst="rect">
            <a:avLst/>
          </a:prstGeom>
        </p:spPr>
      </p:pic>
      <p:pic>
        <p:nvPicPr>
          <p:cNvPr id="11" name="Image 3" descr="icons/id-0078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2633472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995928" y="2240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store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3995928" y="2569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groups, attributes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4904" y="338328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4" descr="icons/ticket-D2D2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3685032"/>
            <a:ext cx="457200" cy="457200"/>
          </a:xfrm>
          <a:prstGeom prst="rect">
            <a:avLst/>
          </a:prstGeom>
        </p:spPr>
      </p:pic>
      <p:pic>
        <p:nvPicPr>
          <p:cNvPr id="16" name="Image 5" descr="icons/check-0078D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3959352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79576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Tokens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1179576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JWT access &amp; ID tokens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191256" y="338328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6" descr="icons/desktop-D2D2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4136" y="3685032"/>
            <a:ext cx="457200" cy="457200"/>
          </a:xfrm>
          <a:prstGeom prst="rect">
            <a:avLst/>
          </a:prstGeom>
        </p:spPr>
      </p:pic>
      <p:pic>
        <p:nvPicPr>
          <p:cNvPr id="21" name="Image 7" descr="icons/exchange-0078D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456" y="3959352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3995928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3995928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once, use many apps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374904" y="470916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8" descr="icons/tag-D2D2D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84" y="5010912"/>
            <a:ext cx="457200" cy="457200"/>
          </a:xfrm>
          <a:prstGeom prst="rect">
            <a:avLst/>
          </a:prstGeom>
        </p:spPr>
      </p:pic>
      <p:pic>
        <p:nvPicPr>
          <p:cNvPr id="26" name="Image 9" descr="icons/shield-0078D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" y="5285232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179576" y="4892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data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1179576" y="5221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&amp; client roles in tokens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3191256" y="470916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10" descr="icons/globe-D2D2D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4136" y="5010912"/>
            <a:ext cx="457200" cy="457200"/>
          </a:xfrm>
          <a:prstGeom prst="rect">
            <a:avLst/>
          </a:prstGeom>
        </p:spPr>
      </p:pic>
      <p:pic>
        <p:nvPicPr>
          <p:cNvPr id="31" name="Image 11" descr="icons/code-0078D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8456" y="5285232"/>
            <a:ext cx="228600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3995928" y="4892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standards</a:t>
            </a:r>
            <a:endParaRPr lang="en-US" sz="1300" dirty="0"/>
          </a:p>
        </p:txBody>
      </p:sp>
      <p:sp>
        <p:nvSpPr>
          <p:cNvPr id="33" name="Text 19"/>
          <p:cNvSpPr txBox="1"/>
          <p:nvPr/>
        </p:nvSpPr>
        <p:spPr>
          <a:xfrm>
            <a:off x="3995928" y="5221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· OAuth 2.0 · SAML 2.0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one line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separate server that owns “who are you?” and issues tokens your apps can trust.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our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runs on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owns login for the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realm. The banking services never see a password.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is not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library inside your app. Your app still has to validate the token it receives.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License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License 2.0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High-level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sits beside your applications. The user logs in at Keycloak; the application only ever sees a token.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54864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user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364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 / curl)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23317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03320" y="23774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realm: bank-demo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17520" y="457200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s/server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8737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46177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/ API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account-service (Post 03)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 flipV="1">
            <a:off x="2011680" y="2788920"/>
            <a:ext cx="1005840" cy="64008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 flipH="1">
            <a:off x="2011680" y="3154680"/>
            <a:ext cx="100584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2011680" y="4114800"/>
            <a:ext cx="1005840" cy="9144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 flipV="1">
            <a:off x="4297680" y="3474720"/>
            <a:ext cx="914" cy="1097280"/>
          </a:xfrm>
          <a:prstGeom prst="line">
            <a:avLst/>
          </a:prstGeom>
          <a:noFill/>
          <a:ln w="15875">
            <a:solidFill>
              <a:srgbClr val="605E5C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2286000" y="269748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22860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331720" y="3520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23317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286000" y="461772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22860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34840" y="388620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443484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Login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sends credentials to Keycloak, never to the API.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Tokens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verifies him and returns signed tokens.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Call the API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sends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Verify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checks the token signature with Keycloak’s public keys, then decides.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74904" y="6199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post we stop at step 2 and inspect the token. The API side is built in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Where everything lives in the Admin Console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http://localhost:8080/admin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switch from the master realm to your own realm first. Every concept below lives inside that realm.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Highlighted items are the ones used in this post.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realm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(top-left) decides which realm you are editing.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Realm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dropdown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settings in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settings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(password in the Credentials tab)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(client roles: Clients › Roles)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(login flows)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preview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› bank-app › Client scopes › Evaluate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12ABF2-9266-09F7-DD52-A437D0FDE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59"/>
          <a:stretch>
            <a:fillRect/>
          </a:stretch>
        </p:blipFill>
        <p:spPr>
          <a:xfrm>
            <a:off x="365761" y="2057399"/>
            <a:ext cx="5558384" cy="37986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Realm — the isolated identity space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realm owns its own users, clients, roles, groups and login settings. Nothing is shared between realms.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choose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enter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click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Separates tenants or environments. The built-in master realm is only for administering Keycloak.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everything for our banking services.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issuer becomes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localhost:8080/realms/bank-demo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create application users in master.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6840B0-3206-5CBC-62CC-CCD712AB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2"/>
          <a:stretch>
            <a:fillRect/>
          </a:stretch>
        </p:blipFill>
        <p:spPr>
          <a:xfrm>
            <a:off x="447472" y="1755648"/>
            <a:ext cx="5466945" cy="3988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Client — an application Keycloak knows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 is an application or service that asks Keycloak to log users in or to issue tokens.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client  ·  Capability config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15768" y="391363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→ Create client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Step 1 sets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step 2 turns on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authentication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flows.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only issues tokens to registered apps — each has its own ID, secret and allowed flows.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bank-app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OpenID Connect, confidential, Direct access grants on so we can test with curl.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 secret appears under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bank-app › Credentials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= the space. Client = one app inside it.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D9C70FF-17DF-6733-5472-149CFB090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79091"/>
            <a:ext cx="5221224" cy="17558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62F3EB3-717F-521F-7405-6682983E1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1" y="3813268"/>
            <a:ext cx="5221224" cy="2110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User — an identity that can log 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is a person or account in the realm: a username, profile attributes and credentials Keycloak verifies.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34747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→ Add user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enter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details and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Create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tab→ Click Set password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Temporary off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password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for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stores and checks passwords, so the banking services never handle them.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each with a non-temporary password.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users can log in. Neither has any banking permission yet.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proves identity, not permission.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7F3DD5E-DC1E-F393-5B0D-BE2D8883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828194"/>
            <a:ext cx="5404104" cy="39889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Role — a named permission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role is a permission label such as customer. Keycloak puts a user’s roles into the access token.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 → Create role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name it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default-roles-bank-demo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composite is given to every user.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check roles instead of hard-coding usernames.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may view own accounts.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 exists but nobody has it yet. ajay gets it through a group on the next slide.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 are shared by all clients. Client roles belong to one app — covered in a later topic.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2619B6A-C320-BC29-8CA5-D548B239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38528"/>
            <a:ext cx="5529202" cy="30760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Group — hand out roles in bulk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group is a set of users who share the same roles and attributes.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→ Create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mapping → Assign role → customer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ajay via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› ajay › Groups → Join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roles once to the group instead of user by user.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retail-customers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role customer. ajay joins; akash does not.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Ajay’s effective roles include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akash do not.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grant permission; groups are how you assign them at scale.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56B7DA0-CA24-521E-FDD3-3A3367E7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755648"/>
            <a:ext cx="5394960" cy="1729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495EB81-F53B-7FF0-6F0D-97DA2128E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13675"/>
            <a:ext cx="5404104" cy="2457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Client authentication — the client secret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Refer below screenshot to get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client_secret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 for the client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bank-app 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660515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client_secret used for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used to authenticate the client(app) for which token is being issued.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Wrong client_secret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If client_secret is incorrect then we get HTTP 401 with </a:t>
            </a:r>
            <a:r>
              <a:rPr lang="en-IN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unauthorized_client 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— no token is issued.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43E348-52CE-BEE7-3D21-3AACDA9A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71931"/>
            <a:ext cx="5324921" cy="3877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062-57FF-B282-9E22-FA1F208E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91A552-07AD-77EA-7F2F-14206FC042CC}"/>
              </a:ext>
            </a:extLst>
          </p:cNvPr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Authentication — prove who you are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24CB7F-5AE9-0064-5B18-960F55C56DEF}"/>
              </a:ext>
            </a:extLst>
          </p:cNvPr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answers “who are you?”. Here ajay proves his identity to Keycloak and receives tokens from the realm’s token endpoint.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41C5FF-CFEB-6177-253A-C60CB6D74602}"/>
              </a:ext>
            </a:extLst>
          </p:cNvPr>
          <p:cNvSpPr/>
          <p:nvPr/>
        </p:nvSpPr>
        <p:spPr>
          <a:xfrm>
            <a:off x="374904" y="205740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6557D-991F-10EF-4736-BCA48CED366F}"/>
              </a:ext>
            </a:extLst>
          </p:cNvPr>
          <p:cNvSpPr txBox="1"/>
          <p:nvPr/>
        </p:nvSpPr>
        <p:spPr>
          <a:xfrm>
            <a:off x="603504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Request (bash / Git Bash — in PowerShell use curl.exe)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3DA1A3-2D0E-3799-3B46-50116088CD54}"/>
              </a:ext>
            </a:extLst>
          </p:cNvPr>
          <p:cNvSpPr txBox="1"/>
          <p:nvPr/>
        </p:nvSpPr>
        <p:spPr>
          <a:xfrm>
            <a:off x="603504" y="2532888"/>
            <a:ext cx="52578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0000"/>
                </a:solidFill>
                <a:latin typeface="Consolas"/>
              </a:rPr>
              <a:t>curl --location \</a:t>
            </a:r>
            <a:endParaRPr lang="en-US" sz="1100" dirty="0"/>
          </a:p>
          <a:p>
            <a:r>
              <a:rPr sz="900">
                <a:solidFill>
                  <a:srgbClr val="A31515"/>
                </a:solidFill>
                <a:latin typeface="Consolas"/>
              </a:rPr>
              <a:t>  'http://localhost:8080/realms/bank-demo/protocol/openid-connect/token'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--header </a:t>
            </a:r>
            <a:r>
              <a:rPr sz="900">
                <a:solidFill>
                  <a:srgbClr val="A31515"/>
                </a:solidFill>
                <a:latin typeface="Consolas"/>
              </a:rPr>
              <a:t>'Content-Type: application/x-www-form-urlencoded'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'client_id=bank-app'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'grant_type=password'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'username=ajay'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'password=&lt;ajay-password&gt;'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'client_secret=&lt;client-secret&gt;'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0078D4"/>
                </a:solidFill>
                <a:latin typeface="Consolas"/>
              </a:rPr>
              <a:t>'scope=openid'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4CAF66-9438-8F3B-F2E9-06B388C73F83}"/>
              </a:ext>
            </a:extLst>
          </p:cNvPr>
          <p:cNvSpPr/>
          <p:nvPr/>
        </p:nvSpPr>
        <p:spPr>
          <a:xfrm>
            <a:off x="374904" y="4315968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6C5A73-46DD-0768-DD1E-6354F9A69F1F}"/>
              </a:ext>
            </a:extLst>
          </p:cNvPr>
          <p:cNvSpPr txBox="1"/>
          <p:nvPr/>
        </p:nvSpPr>
        <p:spPr>
          <a:xfrm>
            <a:off x="603504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Your real response (tokens truncated) — id_token: see slide 15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9F8176-4A3F-601C-BAD4-51D3B2CEBF1D}"/>
              </a:ext>
            </a:extLst>
          </p:cNvPr>
          <p:cNvSpPr txBox="1"/>
          <p:nvPr/>
        </p:nvSpPr>
        <p:spPr>
          <a:xfrm>
            <a:off x="603504" y="4791456"/>
            <a:ext cx="51206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"eyJhbGciOiJSUzI1NiIs…",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          </a:t>
            </a:r>
            <a:r>
              <a:rPr sz="1000">
                <a:solidFill>
                  <a:srgbClr val="6A737D"/>
                </a:solidFill>
                <a:latin typeface="Consolas"/>
              </a:rPr>
              <a:t>// default 5 min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1800,  </a:t>
            </a:r>
            <a:r>
              <a:rPr sz="1000">
                <a:solidFill>
                  <a:srgbClr val="6A737D"/>
                </a:solidFill>
                <a:latin typeface="Consolas"/>
              </a:rPr>
              <a:t>// default 30 min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"eyJhbGciOiJIUzUxMiIs…",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"session_state"</a:t>
            </a:r>
            <a:r>
              <a:rPr sz="1000">
                <a:solidFill>
                  <a:srgbClr val="000000"/>
                </a:solidFill>
                <a:latin typeface="Consolas"/>
              </a:rPr>
              <a:t>: "TKklYjfn…",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072971-710C-8B2F-22BC-B40BF6F3C6FE}"/>
              </a:ext>
            </a:extLst>
          </p:cNvPr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0078D4"/>
                </a:solidFill>
                <a:latin typeface="Segoe UI Semibold"/>
              </a:rPr>
              <a:t>What Keycloak does</a:t>
            </a:r>
            <a:endParaRPr lang="en-US" sz="1300" dirty="0"/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Finds ajay in bank-demo, checks the client secret and his password, then issues tokens.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Wrong password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HTTP 401 with </a:t>
            </a:r>
            <a:r>
              <a:rPr sz="1200">
                <a:solidFill>
                  <a:srgbClr val="000000"/>
                </a:solidFill>
                <a:latin typeface="Consolas"/>
              </a:rPr>
              <a:t>invalid_grant</a:t>
            </a:r>
            <a:r>
              <a:rPr sz="1300">
                <a:solidFill>
                  <a:srgbClr val="000000"/>
                </a:solidFill>
                <a:latin typeface="Segoe UI"/>
              </a:rPr>
              <a:t> — no token is issued.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“Account is not fully set up”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Also </a:t>
            </a:r>
            <a:r>
              <a:rPr sz="1200">
                <a:solidFill>
                  <a:srgbClr val="000000"/>
                </a:solidFill>
                <a:latin typeface="Consolas"/>
              </a:rPr>
              <a:t>invalid_grant</a:t>
            </a:r>
            <a:r>
              <a:rPr sz="1300">
                <a:solidFill>
                  <a:srgbClr val="000000"/>
                </a:solidFill>
                <a:latin typeface="Segoe UI"/>
              </a:rPr>
              <a:t>: the user still has a required action or missing profile fields (email, first/last name). Complete them or clear Required user actions in Users › ajay.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E6E387-8F99-CACB-C982-CF7C2E0EC4F9}"/>
              </a:ext>
            </a:extLst>
          </p:cNvPr>
          <p:cNvSpPr txBox="1"/>
          <p:nvPr/>
        </p:nvSpPr>
        <p:spPr>
          <a:xfrm>
            <a:off x="374904" y="6583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for ajay, then for akash — both succeed. Authentication does not look at roles.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560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Authorization — decide what you may 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answers “what may you do?”. Keycloak puts ajay’s roles in his access token; the API reads them and decides.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67128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03504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ajay’s access token — from your run (excerpt)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532888"/>
            <a:ext cx="42976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"iss"</a:t>
            </a:r>
            <a:r>
              <a:rPr sz="1000">
                <a:solidFill>
                  <a:srgbClr val="000000"/>
                </a:solidFill>
                <a:latin typeface="Consolas"/>
              </a:rPr>
              <a:t>: "http://localhost:8080/realms/bank-demo",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"aud"</a:t>
            </a:r>
            <a:r>
              <a:rPr sz="1000">
                <a:solidFill>
                  <a:srgbClr val="000000"/>
                </a:solidFill>
                <a:latin typeface="Consolas"/>
              </a:rPr>
              <a:t>: "account",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"azp"</a:t>
            </a:r>
            <a:r>
              <a:rPr sz="1000">
                <a:solidFill>
                  <a:srgbClr val="000000"/>
                </a:solidFill>
                <a:latin typeface="Consolas"/>
              </a:rPr>
              <a:t>: "bank-app",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"preferred_username"</a:t>
            </a:r>
            <a:r>
              <a:rPr sz="1000">
                <a:solidFill>
                  <a:srgbClr val="000000"/>
                </a:solidFill>
                <a:latin typeface="Consolas"/>
              </a:rPr>
              <a:t>: "ajay",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"realm_access"</a:t>
            </a:r>
            <a:r>
              <a:rPr sz="1000">
                <a:solidFill>
                  <a:srgbClr val="000000"/>
                </a:solidFill>
                <a:latin typeface="Consolas"/>
              </a:rPr>
              <a:t>: { </a:t>
            </a:r>
            <a:r>
              <a:rPr sz="1000">
                <a:solidFill>
                  <a:srgbClr val="A31515"/>
                </a:solidFill>
                <a:latin typeface="Consolas"/>
              </a:rPr>
              <a:t>"roles"</a:t>
            </a:r>
            <a:r>
              <a:rPr sz="1000">
                <a:solidFill>
                  <a:srgbClr val="000000"/>
                </a:solidFill>
                <a:latin typeface="Consolas"/>
              </a:rPr>
              <a:t>: [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"offline_access", "default-roles-bank-demo",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"uma_authorization", </a:t>
            </a:r>
            <a:r>
              <a:rPr sz="1000">
                <a:solidFill>
                  <a:srgbClr val="0078D4"/>
                </a:solidFill>
                <a:latin typeface="Consolas"/>
              </a:rPr>
              <a:t>"customer"</a:t>
            </a:r>
            <a:r>
              <a:rPr sz="1000">
                <a:solidFill>
                  <a:srgbClr val="000000"/>
                </a:solidFill>
                <a:latin typeface="Consolas"/>
              </a:rPr>
              <a:t> ] },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"resource_access"</a:t>
            </a:r>
            <a:r>
              <a:rPr sz="1000">
                <a:solidFill>
                  <a:srgbClr val="000000"/>
                </a:solidFill>
                <a:latin typeface="Consolas"/>
              </a:rPr>
              <a:t>: { "account": { "roles": [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"manage-account", "manage-account-links",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"view-profile" ] } },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Shape 7"/>
          <p:cNvSpPr/>
          <p:nvPr/>
        </p:nvSpPr>
        <p:spPr>
          <a:xfrm>
            <a:off x="5440680" y="2057400"/>
            <a:ext cx="4242816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0" y="219456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 in the API (built in Post 03)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514600"/>
            <a:ext cx="3785616" cy="411480"/>
          </a:xfrm>
          <a:prstGeom prst="roundRect">
            <a:avLst>
              <a:gd name="adj" fmla="val 1333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742432" y="25146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/accounts  requires role  customer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291840"/>
            <a:ext cx="3785616" cy="1097280"/>
          </a:xfrm>
          <a:prstGeom prst="roundRect">
            <a:avLst>
              <a:gd name="adj" fmla="val 5000"/>
            </a:avLst>
          </a:prstGeom>
          <a:solidFill>
            <a:srgbClr val="CFE4F7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user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4747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ajay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include customer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3840480"/>
            <a:ext cx="32004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icons/check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4747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0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 OK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0" y="4617720"/>
            <a:ext cx="37856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icons/user-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8006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15000" y="5212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akash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4754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customer role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863840" y="5166360"/>
            <a:ext cx="32004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icons/times-D134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8006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29600" y="5120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34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 Forbidden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374904" y="6263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supplies the facts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(roles in a signed token).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makes the decision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OAuth 2.0 vs OpenID Connect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related but not the same. OAuth 2.0 is about access; OpenID Connect adds identity on top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4398264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key-D2D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86000"/>
            <a:ext cx="640080" cy="640080"/>
          </a:xfrm>
          <a:prstGeom prst="rect">
            <a:avLst/>
          </a:prstGeom>
        </p:spPr>
      </p:pic>
      <p:pic>
        <p:nvPicPr>
          <p:cNvPr id="6" name="Image 1" descr="icons/exchange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670048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72184" y="22402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OAuth 2.0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472184" y="265176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framework  ·  RFC 6749</a:t>
            </a:r>
            <a:endParaRPr lang="en-US" sz="1100" dirty="0"/>
          </a:p>
        </p:txBody>
      </p:sp>
      <p:pic>
        <p:nvPicPr>
          <p:cNvPr id="9" name="Image 2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41071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4984" y="33375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a client obtain an access token to call an API</a:t>
            </a:r>
            <a:endParaRPr lang="en-US" sz="1300" dirty="0"/>
          </a:p>
        </p:txBody>
      </p:sp>
      <p:pic>
        <p:nvPicPr>
          <p:cNvPr id="11" name="Image 3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1421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14984" y="394106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Scopes say what the client may access</a:t>
            </a:r>
            <a:endParaRPr lang="en-US" sz="1300" dirty="0"/>
          </a:p>
        </p:txBody>
      </p:sp>
      <p:pic>
        <p:nvPicPr>
          <p:cNvPr id="13" name="Image 4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6177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14984" y="4544568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 define who the user is</a:t>
            </a:r>
            <a:endParaRPr lang="en-US" sz="1300" dirty="0"/>
          </a:p>
        </p:txBody>
      </p:sp>
      <p:pic>
        <p:nvPicPr>
          <p:cNvPr id="15" name="Image 5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21224"/>
            <a:ext cx="182880" cy="1828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14984" y="5148072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our example: access_token from /token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440680" y="2057400"/>
            <a:ext cx="424281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6" descr="icons/id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286000"/>
            <a:ext cx="640080" cy="640080"/>
          </a:xfrm>
          <a:prstGeom prst="rect">
            <a:avLst/>
          </a:prstGeom>
        </p:spPr>
      </p:pic>
      <p:pic>
        <p:nvPicPr>
          <p:cNvPr id="19" name="Image 7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670048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537960" y="224028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OpenID Connect</a:t>
            </a:r>
            <a:endParaRPr lang="en-US" sz="2000" dirty="0"/>
          </a:p>
        </p:txBody>
      </p:sp>
      <p:sp>
        <p:nvSpPr>
          <p:cNvPr id="21" name="Text 11"/>
          <p:cNvSpPr txBox="1"/>
          <p:nvPr/>
        </p:nvSpPr>
        <p:spPr>
          <a:xfrm>
            <a:off x="6537960" y="265176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layer on OAuth 2.0  ·  OIDC Core</a:t>
            </a:r>
            <a:endParaRPr lang="en-US" sz="1100" dirty="0"/>
          </a:p>
        </p:txBody>
      </p:sp>
      <p:pic>
        <p:nvPicPr>
          <p:cNvPr id="22" name="Image 8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410712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080760" y="3337560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the ID token: who logged in, and when</a:t>
            </a:r>
            <a:endParaRPr lang="en-US" sz="1300" dirty="0"/>
          </a:p>
        </p:txBody>
      </p:sp>
      <p:pic>
        <p:nvPicPr>
          <p:cNvPr id="24" name="Image 9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01421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6080760" y="3941064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/userinfo and discovery metadata</a:t>
            </a:r>
            <a:endParaRPr lang="en-US" sz="1300" dirty="0"/>
          </a:p>
        </p:txBody>
      </p:sp>
      <p:pic>
        <p:nvPicPr>
          <p:cNvPr id="26" name="Image 10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617720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6080760" y="4544568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by scope=openid</a:t>
            </a:r>
            <a:endParaRPr lang="en-US" sz="1300" dirty="0"/>
          </a:p>
        </p:txBody>
      </p:sp>
      <p:pic>
        <p:nvPicPr>
          <p:cNvPr id="28" name="Image 11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221224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6080760" y="5148072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Segoe UI"/>
              </a:rPr>
              <a:t>In our example: id_token only when scope=openid is sent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374904" y="6144768"/>
            <a:ext cx="4398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on its own is not a login protocol. Using it to “log users in” is a common mistake.</a:t>
            </a:r>
            <a:endParaRPr lang="en-US" sz="1400" dirty="0"/>
          </a:p>
        </p:txBody>
      </p:sp>
      <p:sp>
        <p:nvSpPr>
          <p:cNvPr id="31" name="Text 17"/>
          <p:cNvSpPr txBox="1"/>
          <p:nvPr/>
        </p:nvSpPr>
        <p:spPr>
          <a:xfrm>
            <a:off x="5440680" y="6144768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Try: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/realms/bank-demo/.well-known/openid-configuration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lists every OIDC endpoint.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062-57FF-B282-9E22-FA1F208E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91A552-07AD-77EA-7F2F-14206FC042CC}"/>
              </a:ext>
            </a:extLst>
          </p:cNvPr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Same request — with and without openid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24CB7F-5AE9-0064-5B18-960F55C56DEF}"/>
              </a:ext>
            </a:extLst>
          </p:cNvPr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solidFill>
                  <a:srgbClr val="000000"/>
                </a:solidFill>
                <a:latin typeface="Segoe UI"/>
              </a:rPr>
              <a:t>OAuth 2.0 gives you the access token. Add one OIDC scope — openid — and Keycloak also returns an ID token.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41C5FF-CFEB-6177-253A-C60CB6D74602}"/>
              </a:ext>
            </a:extLst>
          </p:cNvPr>
          <p:cNvSpPr/>
          <p:nvPr/>
        </p:nvSpPr>
        <p:spPr>
          <a:xfrm>
            <a:off x="374904" y="205740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6557D-991F-10EF-4736-BCA48CED366F}"/>
              </a:ext>
            </a:extLst>
          </p:cNvPr>
          <p:cNvSpPr txBox="1"/>
          <p:nvPr/>
        </p:nvSpPr>
        <p:spPr>
          <a:xfrm>
            <a:off x="603504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Without scope=openid — your real response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3DA1A3-2D0E-3799-3B46-50116088CD54}"/>
              </a:ext>
            </a:extLst>
          </p:cNvPr>
          <p:cNvSpPr txBox="1"/>
          <p:nvPr/>
        </p:nvSpPr>
        <p:spPr>
          <a:xfrm>
            <a:off x="603504" y="2532888"/>
            <a:ext cx="51206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"eyJhbGciOiJSUzI1NiIs…",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"eyJhbGciOiJIUzUxMiIs…",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   </a:t>
            </a:r>
            <a:r>
              <a:rPr sz="1000">
                <a:solidFill>
                  <a:srgbClr val="6A737D"/>
                </a:solidFill>
                <a:latin typeface="Consolas"/>
              </a:rPr>
              <a:t>// no openid → no id_token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4CAF66-9438-8F3B-F2E9-06B388C73F83}"/>
              </a:ext>
            </a:extLst>
          </p:cNvPr>
          <p:cNvSpPr/>
          <p:nvPr/>
        </p:nvSpPr>
        <p:spPr>
          <a:xfrm>
            <a:off x="374904" y="4315968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6C5A73-46DD-0768-DD1E-6354F9A69F1F}"/>
              </a:ext>
            </a:extLst>
          </p:cNvPr>
          <p:cNvSpPr txBox="1"/>
          <p:nvPr/>
        </p:nvSpPr>
        <p:spPr>
          <a:xfrm>
            <a:off x="603504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With 'scope=openid' — expected; re-run to confirm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9F8176-4A3F-601C-BAD4-51D3B2CEBF1D}"/>
              </a:ext>
            </a:extLst>
          </p:cNvPr>
          <p:cNvSpPr txBox="1"/>
          <p:nvPr/>
        </p:nvSpPr>
        <p:spPr>
          <a:xfrm>
            <a:off x="603504" y="4791456"/>
            <a:ext cx="51206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0078D4"/>
                </a:solidFill>
                <a:latin typeface="Consolas"/>
              </a:rPr>
              <a:t>  "id_token"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          </a:t>
            </a:r>
            <a:r>
              <a:rPr sz="1000">
                <a:solidFill>
                  <a:srgbClr val="6A737D"/>
                </a:solidFill>
                <a:latin typeface="Consolas"/>
              </a:rPr>
              <a:t>// OIDC: who logged 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"openid 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072971-710C-8B2F-22BC-B40BF6F3C6FE}"/>
              </a:ext>
            </a:extLst>
          </p:cNvPr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0078D4"/>
                </a:solidFill>
                <a:latin typeface="Segoe UI Semibold"/>
              </a:rPr>
              <a:t>What changed</a:t>
            </a:r>
            <a:endParaRPr lang="en-US" sz="1300" dirty="0"/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One parameter: </a:t>
            </a:r>
            <a:r>
              <a:rPr sz="1200">
                <a:solidFill>
                  <a:srgbClr val="000000"/>
                </a:solidFill>
                <a:latin typeface="Consolas"/>
              </a:rPr>
              <a:t>scope=openid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access_token — OAuth 2.0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Sent to APIs. Carries roles in realm_access.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id_token — OpenID Connect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For the client app: who logged in. aud is bank-app. Never send it to an API.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Check it yourself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Decode both tokens and compare typ: Bearer vs ID.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E6E387-8F99-CACB-C982-CF7C2E0EC4F9}"/>
              </a:ext>
            </a:extLst>
          </p:cNvPr>
          <p:cNvSpPr txBox="1"/>
          <p:nvPr/>
        </p:nvSpPr>
        <p:spPr>
          <a:xfrm>
            <a:off x="374904" y="6583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sz="1400">
                <a:solidFill>
                  <a:srgbClr val="000000"/>
                </a:solidFill>
                <a:latin typeface="Segoe UI"/>
              </a:rPr>
              <a:t>Your first run said "scope": "email profile" — that is why no id_token came back.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5601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What happens inside Keycloak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one token request to an allow/deny decision — the full path for ajay.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539496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" y="235000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03504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2286000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152144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bank-app sends ajay’s credentials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client → Keycloak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642616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3504" y="292608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03504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4984" y="2862072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152144" y="286207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client secret, then ajay’s password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bank-demo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3218688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" y="350215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03504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4984" y="3438144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152144" y="34381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Resolve effective roles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retail-customers → customer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3794760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07822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03504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" y="4014216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152144" y="401421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claims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sub, preferred_username, realm_access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4370832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3504" y="465429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03504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4984" y="4590288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152144" y="45902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the JWT with the realm key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RS256 by default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4946904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3504" y="523036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03504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4984" y="5166360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152144" y="516636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Return access, refresh and ID tokens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Keycloak → client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5522976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3504" y="5806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03504" y="5806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4984" y="5742432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1152144" y="57424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verifies signature, checks role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Post 03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1–2. Only identity is checked here.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data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3–4. Group → role mapping is resolved when the token is built.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5. The API trusts the token because it can verify the signature with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/protocol/openid-connect/certs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 happens in your code, not in Keycloak.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Hands-on: build it in 10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below runs on your machine. Each step points to the slide that shows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8483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74904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57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Keycloak (command on the right)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" y="251460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74904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871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at localhost:8080/admin as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" y="294436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74904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 bank-demo  · slide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" y="337413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74904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346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client bank-app  · slide 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" y="380390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74904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776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users ajay and akash  · slide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" y="423367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74904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 role customer  · slide 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" y="4663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74904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6360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group retail-customers + map customer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" y="509320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74904" y="5093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065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ajay to retail-customers  · slide 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4904" y="552297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374904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4955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tokens with curl  · slide 12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4904" y="595274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374904" y="5952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925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ajay vs akash in Evaluate  · slide 13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2057400"/>
            <a:ext cx="4242816" cy="1828800"/>
          </a:xfrm>
          <a:prstGeom prst="roundRect">
            <a:avLst>
              <a:gd name="adj" fmla="val 432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5669280" y="2170037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Keycloak (dev mode)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2480933"/>
            <a:ext cx="3785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</a:t>
            </a: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KC_BOOTSTRAP_ADMIN_USERNAME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=admin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</a:t>
            </a: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KC_BOOTSTRAP_ADMIN_PASSWORD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=admin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quay.io/keycloak/keycloak:26.7 start-dev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977640"/>
            <a:ext cx="4242816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Verification checklist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454456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94360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starts on :8080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454456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795528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bank-demo exists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50566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943600" y="49926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bank-app has a secret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50566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7955280" y="49926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&amp; akash can log 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55686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5943600" y="5504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is in retail-customers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80960" y="55686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7955280" y="5504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request returns 200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60807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5943600" y="6016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ajay’s token has customer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80960" y="60807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7955280" y="6016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akash’s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 does not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74904" y="6446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start-dev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admin/admin are for your laptop only — see slide 19.</a:t>
            </a:r>
            <a:endParaRPr lang="en-US" sz="120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1CDE9437-4C31-1C17-4E92-47337410ABDF}"/>
              </a:ext>
            </a:extLst>
          </p:cNvPr>
          <p:cNvSpPr txBox="1"/>
          <p:nvPr/>
        </p:nvSpPr>
        <p:spPr>
          <a:xfrm>
            <a:off x="5581997" y="331012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rgbClr val="0078D4"/>
              </a:solidFill>
              <a:latin typeface="Segoe UI Semibold" pitchFamily="34" charset="0"/>
              <a:cs typeface="Segoe UI Semibold" pitchFamily="34" charset="-120"/>
            </a:endParaRPr>
          </a:p>
          <a:p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cs typeface="Segoe UI Semibold" pitchFamily="34" charset="-120"/>
              </a:rPr>
              <a:t>NOTE: </a:t>
            </a:r>
            <a:r>
              <a:rPr lang="en-IN" sz="1100" dirty="0"/>
              <a:t>Data disappears when the container is removed. To keep the realm, users and roles across restarts, use </a:t>
            </a:r>
            <a:r>
              <a:rPr lang="en-IN" sz="1100" b="1" dirty="0"/>
              <a:t>docker-</a:t>
            </a:r>
            <a:r>
              <a:rPr lang="en-IN" sz="1100" b="1" dirty="0" err="1"/>
              <a:t>compose.yml</a:t>
            </a:r>
            <a:r>
              <a:rPr lang="en-IN" sz="1100" dirty="0"/>
              <a:t> (Keycloak + PostgreSQL) from the repo folder </a:t>
            </a:r>
            <a:r>
              <a:rPr lang="en-IN" sz="1100" b="1" dirty="0"/>
              <a:t>01-keycloak-basics</a:t>
            </a:r>
            <a:r>
              <a:rPr lang="en-IN" sz="1100" dirty="0"/>
              <a:t>.</a:t>
            </a: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Common mistakes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beginner problems come from mixing up “who are you?” with “what may you do?” — or expecting Keycloak to do the API’s job.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warn-D13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 users in the master realm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your own realm; keep master for admins.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38728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ayer-D2D2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86000"/>
            <a:ext cx="457200" cy="457200"/>
          </a:xfrm>
          <a:prstGeom prst="rect">
            <a:avLst/>
          </a:prstGeom>
        </p:spPr>
      </p:pic>
      <p:pic>
        <p:nvPicPr>
          <p:cNvPr id="10" name="Image 2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25603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67328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Confusing realm and client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767328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= the space. Client = one app inside it.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702552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exchange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2286000"/>
            <a:ext cx="457200" cy="457200"/>
          </a:xfrm>
          <a:prstGeom prst="rect">
            <a:avLst/>
          </a:prstGeom>
        </p:spPr>
      </p:pic>
      <p:pic>
        <p:nvPicPr>
          <p:cNvPr id="15" name="Image 4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256032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931152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Treating OAuth 2.0 as login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6931152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comes from OIDC and the ID token.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374904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icons/users-D2D2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4434840"/>
            <a:ext cx="457200" cy="457200"/>
          </a:xfrm>
          <a:prstGeom prst="rect">
            <a:avLst/>
          </a:prstGeom>
        </p:spPr>
      </p:pic>
      <p:pic>
        <p:nvPicPr>
          <p:cNvPr id="20" name="Image 6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70916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03504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Expecting group names in the token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603504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roles are included; group names need a Group Membership mapper.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3538728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7" descr="icons/key-D2D2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4434840"/>
            <a:ext cx="457200" cy="457200"/>
          </a:xfrm>
          <a:prstGeom prst="rect">
            <a:avLst/>
          </a:prstGeom>
        </p:spPr>
      </p:pic>
      <p:pic>
        <p:nvPicPr>
          <p:cNvPr id="25" name="Image 8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4709160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767328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access grants in production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3767328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only. Real apps use Authorization Code + PKCE.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6702552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9" descr="icons/server-D2D2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4434840"/>
            <a:ext cx="457200" cy="457200"/>
          </a:xfrm>
          <a:prstGeom prst="rect">
            <a:avLst/>
          </a:prstGeom>
        </p:spPr>
      </p:pic>
      <p:pic>
        <p:nvPicPr>
          <p:cNvPr id="30" name="Image 10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4709160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931152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“Keycloak protects my API”</a:t>
            </a:r>
            <a:endParaRPr lang="en-US" sz="1300" dirty="0"/>
          </a:p>
        </p:txBody>
      </p:sp>
      <p:sp>
        <p:nvSpPr>
          <p:cNvPr id="32" name="Text 19"/>
          <p:cNvSpPr txBox="1"/>
          <p:nvPr/>
        </p:nvSpPr>
        <p:spPr>
          <a:xfrm>
            <a:off x="6931152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if the API validates the token — Post 03.</a:t>
            </a:r>
            <a:endParaRPr lang="en-US" sz="1100" dirty="0"/>
          </a:p>
        </p:txBody>
      </p:sp>
      <p:sp>
        <p:nvSpPr>
          <p:cNvPr id="33" name="Text 20"/>
          <p:cNvSpPr txBox="1"/>
          <p:nvPr/>
        </p:nvSpPr>
        <p:spPr>
          <a:xfrm>
            <a:off x="374904" y="6400800"/>
            <a:ext cx="9308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yourself: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 can log in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(authentication OK) but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no customer role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(authorization denied). Both are correct.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From local demo to production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concepts stay the same as systems grow. What changes is how Keycloak is run and which flows apps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43891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57784" y="539496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30936" y="539496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demo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52344" y="53949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post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4828032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32104" y="482803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API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48280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4261104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33272" y="4261104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APIs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261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61288" y="3694176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234440" y="369417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36941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62456" y="3127248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435608" y="3127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57016" y="3127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63624" y="256032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636776" y="256032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IAM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58184" y="2560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2057400"/>
            <a:ext cx="4242816" cy="4023360"/>
          </a:xfrm>
          <a:prstGeom prst="roundRect">
            <a:avLst>
              <a:gd name="adj" fmla="val 1818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692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demo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256946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669280" y="2606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start-dev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2606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hostname + TLS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11810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669280" y="31546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dev database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31546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 or other supported DB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66674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669280" y="37033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/ admin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37033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Strong, temporary bootstrap admin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421538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grants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Code + PKCE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476402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5669280" y="4800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http://localhost:8080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800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 behind a proxy / LB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531266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5349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console setup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5349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Realm export / config as code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74904" y="6263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rung is a later post. This post stays on the first one.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40680" y="6263640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Realms, clients, users, roles and groups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change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between the two columns.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Key takeaways</a:t>
            </a:r>
            <a:endParaRPr lang="en-US" sz="2400" dirty="0"/>
          </a:p>
        </p:txBody>
      </p:sp>
      <p:pic>
        <p:nvPicPr>
          <p:cNvPr id="3" name="Image 0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371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is a separate IAM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apps delegate login to it and trust its signed tokens.</a:t>
            </a:r>
            <a:endParaRPr lang="en-US" sz="1400" dirty="0"/>
          </a:p>
        </p:txBody>
      </p:sp>
      <p:pic>
        <p:nvPicPr>
          <p:cNvPr id="5" name="Image 1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13432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→ client → user → role →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whole model you built today in bank-demo.</a:t>
            </a:r>
            <a:endParaRPr lang="en-US" sz="1400" dirty="0"/>
          </a:p>
        </p:txBody>
      </p:sp>
      <p:pic>
        <p:nvPicPr>
          <p:cNvPr id="7" name="Image 2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≠ authorization.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akash logs in fine; he just lacks the customer role.</a:t>
            </a:r>
            <a:endParaRPr lang="en-US" sz="1400" dirty="0"/>
          </a:p>
        </p:txBody>
      </p:sp>
      <p:pic>
        <p:nvPicPr>
          <p:cNvPr id="9" name="Image 3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5079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" y="3977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gives access; OIDC adds identity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ID token is the OIDC part.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760720" y="1371600"/>
            <a:ext cx="3922776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5989320" y="150876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this fits in the series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989320" y="196596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6172200" y="196596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01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IAM matters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7722108" y="2852928"/>
            <a:ext cx="914" cy="32918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0"/>
          <p:cNvSpPr/>
          <p:nvPr/>
        </p:nvSpPr>
        <p:spPr>
          <a:xfrm>
            <a:off x="5989320" y="320040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6172200" y="320040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02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Keycloak?  (you are here)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722108" y="4087368"/>
            <a:ext cx="914" cy="32918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5989320" y="443484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 txBox="1"/>
          <p:nvPr/>
        </p:nvSpPr>
        <p:spPr>
          <a:xfrm>
            <a:off x="6172200" y="443484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a Spring Boot REST API</a:t>
            </a:r>
            <a:endParaRPr lang="en-US" sz="1000" dirty="0"/>
          </a:p>
        </p:txBody>
      </p:sp>
      <p:pic>
        <p:nvPicPr>
          <p:cNvPr id="21" name="Image 4" descr="icons/github-0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9834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6868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</a:t>
            </a:r>
            <a:r>
              <a:rPr lang="en-US" sz="12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https://github.com/ajayshinde01/keycloak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folder: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01-keycloak-basics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74904" y="5897880"/>
            <a:ext cx="9308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→ Concept → Keycloak configuration → Working code → Hands-on demo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0" y="6592824"/>
            <a:ext cx="10058400" cy="1179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 txBox="1"/>
          <p:nvPr/>
        </p:nvSpPr>
        <p:spPr>
          <a:xfrm>
            <a:off x="374904" y="6702552"/>
            <a:ext cx="9189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code: https://github.com/ajayshinde01/keycloak/tree/main/01-keycloak-basics   </a:t>
            </a:r>
          </a:p>
          <a:p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Post 03 — secure a Spring Boot API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Keycloak Server Administration Guide — keycloak.org/docs/latest/server_admin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Getting Started (Docker) — keycloak.org/getting-started/getting-started-docker  ·  Keycloak 26.7 release line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Connect Core 1.0 — openid.net/specs/openid-connect-core-1_0.html  ·  OAuth 2.0, RFC 6749 — datatracker.ietf.org/doc/html/rfc6749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10339</TotalTime>
  <Words>3771</Words>
  <Application>Microsoft Office PowerPoint</Application>
  <PresentationFormat>Custom</PresentationFormat>
  <Paragraphs>435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02 - What Is Keycloak?</dc:title>
  <dc:subject>PptxGenJS Presentation</dc:subject>
  <dc:creator>Ajay Shinde</dc:creator>
  <cp:lastModifiedBy>Ajay Shinde</cp:lastModifiedBy>
  <cp:revision>6</cp:revision>
  <dcterms:created xsi:type="dcterms:W3CDTF">2026-09-26T10:46:00Z</dcterms:created>
  <dcterms:modified xsi:type="dcterms:W3CDTF">2026-10-04T16:52:31Z</dcterms:modified>
</cp:coreProperties>
</file>